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y="11309350" cx="20104100"/>
  <p:notesSz cx="20104100" cy="11309350"/>
  <p:embeddedFontLst>
    <p:embeddedFont>
      <p:font typeface="Roboto Slab"/>
      <p:regular r:id="rId48"/>
      <p:bold r:id="rId49"/>
    </p:embeddedFont>
    <p:embeddedFont>
      <p:font typeface="Roboto"/>
      <p:regular r:id="rId50"/>
      <p:bold r:id="rId51"/>
      <p:italic r:id="rId52"/>
      <p:boldItalic r:id="rId53"/>
    </p:embeddedFont>
    <p:embeddedFont>
      <p:font typeface="Arial Black"/>
      <p:regular r:id="rId54"/>
    </p:embeddedFont>
    <p:embeddedFont>
      <p:font typeface="Roboto Mono"/>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GoogleSlidesCustomDataVersion2">
      <go:slidesCustomData xmlns:go="http://customooxmlschemas.google.com/" r:id="rId59" roundtripDataSignature="AMtx7mg++WkigSfvkVWyN5U2T4oCtUeUMA=="/>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2" name="AMIR NICOLAS AWAD ASTORGA"/>
  <p:cmAuthor clrIdx="1" id="1" initials="" lastIdx="1" name="MARTIN . DIAZ ESTRADA"/>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48" Type="http://schemas.openxmlformats.org/officeDocument/2006/relationships/font" Target="fonts/RobotoSlab-regular.fntdata"/><Relationship Id="rId47" Type="http://schemas.openxmlformats.org/officeDocument/2006/relationships/slide" Target="slides/slide41.xml"/><Relationship Id="rId49" Type="http://schemas.openxmlformats.org/officeDocument/2006/relationships/font" Target="fonts/RobotoSlab-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Roboto-bold.fntdata"/><Relationship Id="rId50" Type="http://schemas.openxmlformats.org/officeDocument/2006/relationships/font" Target="fonts/Roboto-regular.fntdata"/><Relationship Id="rId53" Type="http://schemas.openxmlformats.org/officeDocument/2006/relationships/font" Target="fonts/Roboto-boldItalic.fntdata"/><Relationship Id="rId52" Type="http://schemas.openxmlformats.org/officeDocument/2006/relationships/font" Target="fonts/Roboto-italic.fntdata"/><Relationship Id="rId11" Type="http://schemas.openxmlformats.org/officeDocument/2006/relationships/slide" Target="slides/slide5.xml"/><Relationship Id="rId55" Type="http://schemas.openxmlformats.org/officeDocument/2006/relationships/font" Target="fonts/RobotoMono-regular.fntdata"/><Relationship Id="rId10" Type="http://schemas.openxmlformats.org/officeDocument/2006/relationships/slide" Target="slides/slide4.xml"/><Relationship Id="rId54" Type="http://schemas.openxmlformats.org/officeDocument/2006/relationships/font" Target="fonts/ArialBlack-regular.fntdata"/><Relationship Id="rId13" Type="http://schemas.openxmlformats.org/officeDocument/2006/relationships/slide" Target="slides/slide7.xml"/><Relationship Id="rId57" Type="http://schemas.openxmlformats.org/officeDocument/2006/relationships/font" Target="fonts/RobotoMono-italic.fntdata"/><Relationship Id="rId12" Type="http://schemas.openxmlformats.org/officeDocument/2006/relationships/slide" Target="slides/slide6.xml"/><Relationship Id="rId56" Type="http://schemas.openxmlformats.org/officeDocument/2006/relationships/font" Target="fonts/RobotoMono-bold.fntdata"/><Relationship Id="rId15" Type="http://schemas.openxmlformats.org/officeDocument/2006/relationships/slide" Target="slides/slide9.xml"/><Relationship Id="rId59" Type="http://customschemas.google.com/relationships/presentationmetadata" Target="metadata"/><Relationship Id="rId14" Type="http://schemas.openxmlformats.org/officeDocument/2006/relationships/slide" Target="slides/slide8.xml"/><Relationship Id="rId58" Type="http://schemas.openxmlformats.org/officeDocument/2006/relationships/font" Target="fonts/RobotoMono-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11-13T01:37:13.312">
    <p:pos x="6000" y="0"/>
    <p:text>:v</p:text>
    <p:extLst>
      <p:ext uri="{C676402C-5697-4E1C-873F-D02D1690AC5C}">
        <p15:threadingInfo timeZoneBias="0"/>
      </p:ext>
      <p:ext uri="http://customooxmlschemas.google.com/">
        <go:slidesCustomData xmlns:go="http://customooxmlschemas.google.com/" commentPostId="AAABtrsp0aA"/>
      </p:ext>
    </p:extLst>
  </p:cm>
  <p:cm authorId="1" idx="1" dt="2025-11-12T02:11:53.670">
    <p:pos x="6000" y="0"/>
    <p:text>_Marked as resolved_</p:text>
    <p:extLst>
      <p:ext uri="{C676402C-5697-4E1C-873F-D02D1690AC5C}">
        <p15:threadingInfo timeZoneBias="0">
          <p15:parentCm authorId="0" idx="1"/>
        </p15:threadingInfo>
      </p:ext>
      <p:ext uri="http://customooxmlschemas.google.com/">
        <go:slidesCustomData xmlns:go="http://customooxmlschemas.google.com/" commentPostId="AAABtrsp0aE"/>
      </p:ext>
    </p:extLst>
  </p:cm>
  <p:cm authorId="0" idx="2" dt="2025-11-13T01:37:13.312">
    <p:pos x="6000" y="0"/>
    <p:text>_Re-opened_
ola</p:text>
    <p:extLst>
      <p:ext uri="{C676402C-5697-4E1C-873F-D02D1690AC5C}">
        <p15:threadingInfo timeZoneBias="0">
          <p15:parentCm authorId="0" idx="1"/>
        </p15:threadingInfo>
      </p:ext>
      <p:ext uri="http://customooxmlschemas.google.com/">
        <go:slidesCustomData xmlns:go="http://customooxmlschemas.google.com/" commentPostId="AAABv6fhB3k"/>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8712200" cy="56673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11387138" y="0"/>
            <a:ext cx="8712200" cy="56673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742613"/>
            <a:ext cx="8712200" cy="56673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11387138" y="10742613"/>
            <a:ext cx="8712200" cy="56673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s-CL" sz="1200" u="none" cap="none" strike="noStrike">
                <a:solidFill>
                  <a:srgbClr val="000000"/>
                </a:solidFill>
                <a:latin typeface="Arial"/>
                <a:ea typeface="Arial"/>
                <a:cs typeface="Arial"/>
                <a:sym typeface="Arial"/>
              </a:rPr>
              <a:t>‹#›</a:t>
            </a:fld>
            <a:endParaRPr b="0" i="0" sz="12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 name="Google Shape;72;p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p4: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4: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 name="Google Shape;112;p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 name="Google Shape;124;p7: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0" name="Google Shape;130;p8: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9: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5" name="Google Shape;145;p9: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0: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0: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5" name="Google Shape;165;p13: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4: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1: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1: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a5555b7c7b_2_2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5" name="Google Shape;205;g3a5555b7c7b_2_2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3a5555b7c7b_0_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g3a5555b7c7b_0_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7" name="Google Shape;217;g3a5555b7c7b_0_1: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a5555b7c7b_2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g3a5555b7c7b_2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a26a7b47d1_0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4" name="Google Shape;234;g3a26a7b47d1_0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5:notes"/>
          <p:cNvSpPr txBox="1"/>
          <p:nvPr>
            <p:ph idx="1" type="body"/>
          </p:nvPr>
        </p:nvSpPr>
        <p:spPr>
          <a:xfrm>
            <a:off x="2009775" y="5441950"/>
            <a:ext cx="16084550" cy="4454525"/>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15:notes"/>
          <p:cNvSpPr/>
          <p:nvPr>
            <p:ph idx="2" type="sldImg"/>
          </p:nvPr>
        </p:nvSpPr>
        <p:spPr>
          <a:xfrm>
            <a:off x="6659563" y="1414463"/>
            <a:ext cx="6784975" cy="38163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a2ea1eac06_1_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3a2ea1eac06_1_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8" name="Google Shape;248;g3a2ea1eac06_1_6: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90f15d3519_0_2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2" name="Google Shape;282;g390f15d3519_0_2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3" name="Google Shape;283;g390f15d3519_0_25: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a2ea1eac06_1_268: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g3a2ea1eac06_1_268: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2" name="Google Shape;292;g3a2ea1eac06_1_268: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993719c3f7_2_7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g3993719c3f7_2_72: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9" name="Google Shape;319;g3993719c3f7_2_72: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a2ea1eac06_0_5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9" name="Google Shape;369;g3a2ea1eac06_0_5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3993719c3f7_1_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6" name="Google Shape;436;g3993719c3f7_1_2: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7" name="Google Shape;437;g3993719c3f7_1_2: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g3a2ea1eac06_0_28: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g3a2ea1eac06_0_28: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3" name="Google Shape;463;g3a2ea1eac06_0_28: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992a4233df_1_2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8" name="Google Shape;488;g3992a4233df_1_2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992a4233df_1_1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3992a4233df_1_1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5" name="Google Shape;495;g3992a4233df_1_16: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3a5555b7c7b_3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4" name="Google Shape;504;g3a5555b7c7b_3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5" name="Google Shape;505;g3a5555b7c7b_3_0: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992a4233df_1_4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g3992a4233df_1_4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992a4233df_1_3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2" name="Google Shape;532;g3992a4233df_1_3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3" name="Google Shape;533;g3992a4233df_1_35: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992a4233df_1_4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g3992a4233df_1_4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a2ea1eac06_2_13: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3a2ea1eac06_2_13: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8" name="Google Shape;548;g3a2ea1eac06_2_13: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992a4233df_1_5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2" name="Google Shape;562;g3992a4233df_1_52: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3" name="Google Shape;563;g3992a4233df_1_52: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a5555b7c7b_2_51: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6" name="Google Shape;576;g3a5555b7c7b_2_51: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7" name="Google Shape;577;g3a5555b7c7b_2_51: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s-CL"/>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3a27d2987dc_0_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4" name="Google Shape;594;g3a27d2987dc_0_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g3a27d2987dc_0_5: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g3a27d2987dc_0_5: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g3a27d2987dc_0_5: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7" name="Shape 607"/>
        <p:cNvGrpSpPr/>
        <p:nvPr/>
      </p:nvGrpSpPr>
      <p:grpSpPr>
        <a:xfrm>
          <a:off x="0" y="0"/>
          <a:ext cx="0" cy="0"/>
          <a:chOff x="0" y="0"/>
          <a:chExt cx="0" cy="0"/>
        </a:xfrm>
      </p:grpSpPr>
      <p:sp>
        <p:nvSpPr>
          <p:cNvPr id="608" name="Google Shape;608;g3992a4233df_1_107: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9" name="Google Shape;609;g3992a4233df_1_107: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0" name="Google Shape;610;g3992a4233df_1_107: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992a4233df_1_94: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7" name="Google Shape;617;g3992a4233df_1_94: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8" name="Google Shape;618;g3992a4233df_1_94: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992a4233df_1_99: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6" name="Google Shape;626;g3992a4233df_1_99: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7" name="Google Shape;627;g3992a4233df_1_99: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a27d2987dc_0_12: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4" name="Google Shape;634;g3a27d2987dc_0_12: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5" name="Google Shape;635;g3a27d2987dc_0_12: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992a4233df_1_60: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2" name="Google Shape;642;g3992a4233df_1_60: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390f15d3519_1_6: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8" name="Google Shape;648;g390f15d3519_1_6: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s-CL" sz="1100">
                <a:latin typeface="Arial"/>
                <a:ea typeface="Arial"/>
                <a:cs typeface="Arial"/>
                <a:sym typeface="Arial"/>
              </a:rPr>
              <a:t>La modalidad Capstone nos impulsó a aplicar nuestro perfil full-stack en una </a:t>
            </a:r>
            <a:r>
              <a:rPr b="1" lang="es-CL" sz="1100">
                <a:latin typeface="Arial"/>
                <a:ea typeface="Arial"/>
                <a:cs typeface="Arial"/>
                <a:sym typeface="Arial"/>
              </a:rPr>
              <a:t>solución de ingeniería real</a:t>
            </a:r>
            <a:r>
              <a:rPr lang="es-CL" sz="1100">
                <a:latin typeface="Arial"/>
                <a:ea typeface="Arial"/>
                <a:cs typeface="Arial"/>
                <a:sym typeface="Arial"/>
              </a:rPr>
              <a:t>, proponiendo una </a:t>
            </a:r>
            <a:r>
              <a:rPr b="1" lang="es-CL" sz="1100">
                <a:latin typeface="Arial"/>
                <a:ea typeface="Arial"/>
                <a:cs typeface="Arial"/>
                <a:sym typeface="Arial"/>
              </a:rPr>
              <a:t>arquitectura híbrida</a:t>
            </a:r>
            <a:r>
              <a:rPr lang="es-CL" sz="1100">
                <a:latin typeface="Arial"/>
                <a:ea typeface="Arial"/>
                <a:cs typeface="Arial"/>
                <a:sym typeface="Arial"/>
              </a:rPr>
              <a:t> (WordPress + PHP Nativo) para priorizar la seguridad y el rendimiento. Superamos desafíos técnicos clave, como la validación dual del RUT (JS/PHP) y la protección contra Inyección SQL (Sentencias Preparadas). Este proyecto nos consolidó como desarrolladores full-stack, dándonos una madurez real sobre las ventajas de los sistemas desacoplados y la importancia de la UX/UI y la seguridad (SSL) como un estándar profesional. Para finalizar, solo resta forzar el HTTPS, iniciar el soporte post-implementación y entregar la documentación final.</a:t>
            </a:r>
            <a:endParaRPr/>
          </a:p>
        </p:txBody>
      </p:sp>
      <p:sp>
        <p:nvSpPr>
          <p:cNvPr id="649" name="Google Shape;649;g390f15d3519_1_6:notes"/>
          <p:cNvSpPr txBox="1"/>
          <p:nvPr>
            <p:ph idx="12" type="sldNum"/>
          </p:nvPr>
        </p:nvSpPr>
        <p:spPr>
          <a:xfrm>
            <a:off x="11387138" y="10742613"/>
            <a:ext cx="8712300" cy="566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s-CL"/>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g3a2ea1eac06_3_9:notes"/>
          <p:cNvSpPr txBox="1"/>
          <p:nvPr>
            <p:ph idx="1" type="body"/>
          </p:nvPr>
        </p:nvSpPr>
        <p:spPr>
          <a:xfrm>
            <a:off x="2009775" y="5441950"/>
            <a:ext cx="16084500" cy="4454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3" name="Google Shape;673;g3a2ea1eac06_3_9:notes"/>
          <p:cNvSpPr/>
          <p:nvPr>
            <p:ph idx="2" type="sldImg"/>
          </p:nvPr>
        </p:nvSpPr>
        <p:spPr>
          <a:xfrm>
            <a:off x="6659563" y="1414463"/>
            <a:ext cx="6785100" cy="38163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3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jpg"/><Relationship Id="rId3" Type="http://schemas.openxmlformats.org/officeDocument/2006/relationships/image" Target="../media/image35.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 Id="rId3" Type="http://schemas.openxmlformats.org/officeDocument/2006/relationships/image" Target="../media/image28.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obj">
  <p:cSld name="OBJECT">
    <p:spTree>
      <p:nvGrpSpPr>
        <p:cNvPr id="15" name="Shape 15"/>
        <p:cNvGrpSpPr/>
        <p:nvPr/>
      </p:nvGrpSpPr>
      <p:grpSpPr>
        <a:xfrm>
          <a:off x="0" y="0"/>
          <a:ext cx="0" cy="0"/>
          <a:chOff x="0" y="0"/>
          <a:chExt cx="0" cy="0"/>
        </a:xfrm>
      </p:grpSpPr>
      <p:pic>
        <p:nvPicPr>
          <p:cNvPr id="16" name="Google Shape;16;p19"/>
          <p:cNvPicPr preferRelativeResize="0"/>
          <p:nvPr/>
        </p:nvPicPr>
        <p:blipFill rotWithShape="1">
          <a:blip r:embed="rId2">
            <a:alphaModFix/>
          </a:blip>
          <a:srcRect b="0" l="0" r="0" t="0"/>
          <a:stretch/>
        </p:blipFill>
        <p:spPr>
          <a:xfrm>
            <a:off x="0" y="396"/>
            <a:ext cx="20104810" cy="11308953"/>
          </a:xfrm>
          <a:prstGeom prst="rect">
            <a:avLst/>
          </a:prstGeom>
          <a:noFill/>
          <a:ln>
            <a:noFill/>
          </a:ln>
        </p:spPr>
      </p:pic>
      <p:sp>
        <p:nvSpPr>
          <p:cNvPr id="17" name="Google Shape;17;p19"/>
          <p:cNvSpPr txBox="1"/>
          <p:nvPr>
            <p:ph type="ctrTitle"/>
          </p:nvPr>
        </p:nvSpPr>
        <p:spPr>
          <a:xfrm>
            <a:off x="2838209" y="8700548"/>
            <a:ext cx="6781800" cy="5847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38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9"/>
          <p:cNvSpPr txBox="1"/>
          <p:nvPr>
            <p:ph idx="1" type="subTitle"/>
          </p:nvPr>
        </p:nvSpPr>
        <p:spPr>
          <a:xfrm>
            <a:off x="2838209" y="9612314"/>
            <a:ext cx="8712681" cy="369332"/>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2400">
                <a:solidFill>
                  <a:schemeClr val="lt1"/>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9"/>
          <p:cNvSpPr/>
          <p:nvPr/>
        </p:nvSpPr>
        <p:spPr>
          <a:xfrm>
            <a:off x="2838209" y="9464675"/>
            <a:ext cx="8841105" cy="0"/>
          </a:xfrm>
          <a:custGeom>
            <a:rect b="b" l="l" r="r" t="t"/>
            <a:pathLst>
              <a:path extrusionOk="0" h="120000" w="8841105">
                <a:moveTo>
                  <a:pt x="0" y="0"/>
                </a:moveTo>
                <a:lnTo>
                  <a:pt x="8840652" y="0"/>
                </a:lnTo>
              </a:path>
            </a:pathLst>
          </a:custGeom>
          <a:noFill/>
          <a:ln cap="flat" cmpd="sng" w="10450">
            <a:solidFill>
              <a:schemeClr val="lt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0" name="Shape 20"/>
        <p:cNvGrpSpPr/>
        <p:nvPr/>
      </p:nvGrpSpPr>
      <p:grpSpPr>
        <a:xfrm>
          <a:off x="0" y="0"/>
          <a:ext cx="0" cy="0"/>
          <a:chOff x="0" y="0"/>
          <a:chExt cx="0" cy="0"/>
        </a:xfrm>
      </p:grpSpPr>
      <p:pic>
        <p:nvPicPr>
          <p:cNvPr id="21" name="Google Shape;21;p20"/>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22" name="Google Shape;22;p20"/>
          <p:cNvSpPr txBox="1"/>
          <p:nvPr>
            <p:ph type="title"/>
          </p:nvPr>
        </p:nvSpPr>
        <p:spPr>
          <a:xfrm>
            <a:off x="6851650" y="7483475"/>
            <a:ext cx="9782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23" name="Shape 23"/>
        <p:cNvGrpSpPr/>
        <p:nvPr/>
      </p:nvGrpSpPr>
      <p:grpSpPr>
        <a:xfrm>
          <a:off x="0" y="0"/>
          <a:ext cx="0" cy="0"/>
          <a:chOff x="0" y="0"/>
          <a:chExt cx="0" cy="0"/>
        </a:xfrm>
      </p:grpSpPr>
      <p:pic>
        <p:nvPicPr>
          <p:cNvPr id="24" name="Google Shape;24;p21"/>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25" name="Google Shape;25;p21"/>
          <p:cNvSpPr txBox="1"/>
          <p:nvPr>
            <p:ph type="title"/>
          </p:nvPr>
        </p:nvSpPr>
        <p:spPr>
          <a:xfrm>
            <a:off x="4794250" y="6950075"/>
            <a:ext cx="9782022" cy="153888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26" name="Shape 26"/>
        <p:cNvGrpSpPr/>
        <p:nvPr/>
      </p:nvGrpSpPr>
      <p:grpSpPr>
        <a:xfrm>
          <a:off x="0" y="0"/>
          <a:ext cx="0" cy="0"/>
          <a:chOff x="0" y="0"/>
          <a:chExt cx="0" cy="0"/>
        </a:xfrm>
      </p:grpSpPr>
      <p:sp>
        <p:nvSpPr>
          <p:cNvPr id="27" name="Google Shape;27;p18"/>
          <p:cNvSpPr txBox="1"/>
          <p:nvPr>
            <p:ph type="title"/>
          </p:nvPr>
        </p:nvSpPr>
        <p:spPr>
          <a:xfrm>
            <a:off x="2432050" y="714594"/>
            <a:ext cx="16988263" cy="738664"/>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8"/>
          <p:cNvSpPr/>
          <p:nvPr/>
        </p:nvSpPr>
        <p:spPr>
          <a:xfrm>
            <a:off x="-6350"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 name="Google Shape;29;p18"/>
          <p:cNvSpPr/>
          <p:nvPr/>
        </p:nvSpPr>
        <p:spPr>
          <a:xfrm>
            <a:off x="16938421" y="10202309"/>
            <a:ext cx="1576070" cy="511175"/>
          </a:xfrm>
          <a:custGeom>
            <a:rect b="b" l="l" r="r" t="t"/>
            <a:pathLst>
              <a:path extrusionOk="0" h="511175" w="1576069">
                <a:moveTo>
                  <a:pt x="441172" y="241312"/>
                </a:moveTo>
                <a:lnTo>
                  <a:pt x="435267" y="179641"/>
                </a:lnTo>
                <a:lnTo>
                  <a:pt x="418414" y="127673"/>
                </a:lnTo>
                <a:lnTo>
                  <a:pt x="392747" y="86601"/>
                </a:lnTo>
                <a:lnTo>
                  <a:pt x="391845" y="85153"/>
                </a:lnTo>
                <a:lnTo>
                  <a:pt x="356819" y="51803"/>
                </a:lnTo>
                <a:lnTo>
                  <a:pt x="322008" y="30734"/>
                </a:lnTo>
                <a:lnTo>
                  <a:pt x="322008" y="245008"/>
                </a:lnTo>
                <a:lnTo>
                  <a:pt x="316534" y="299389"/>
                </a:lnTo>
                <a:lnTo>
                  <a:pt x="300723"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07" y="89408"/>
                </a:lnTo>
                <a:lnTo>
                  <a:pt x="132499" y="87985"/>
                </a:lnTo>
                <a:lnTo>
                  <a:pt x="146659" y="86982"/>
                </a:lnTo>
                <a:lnTo>
                  <a:pt x="163588" y="86601"/>
                </a:lnTo>
                <a:lnTo>
                  <a:pt x="209257" y="90881"/>
                </a:lnTo>
                <a:lnTo>
                  <a:pt x="248094" y="103809"/>
                </a:lnTo>
                <a:lnTo>
                  <a:pt x="279438"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59" y="484936"/>
                </a:lnTo>
                <a:lnTo>
                  <a:pt x="324205" y="466864"/>
                </a:lnTo>
                <a:lnTo>
                  <a:pt x="359016" y="443407"/>
                </a:lnTo>
                <a:lnTo>
                  <a:pt x="382054" y="419722"/>
                </a:lnTo>
                <a:lnTo>
                  <a:pt x="385749" y="415925"/>
                </a:lnTo>
                <a:lnTo>
                  <a:pt x="408393" y="382181"/>
                </a:lnTo>
                <a:lnTo>
                  <a:pt x="425894" y="341972"/>
                </a:lnTo>
                <a:lnTo>
                  <a:pt x="437172" y="295097"/>
                </a:lnTo>
                <a:lnTo>
                  <a:pt x="441172" y="241312"/>
                </a:lnTo>
                <a:close/>
              </a:path>
              <a:path extrusionOk="0" h="511175" w="1576069">
                <a:moveTo>
                  <a:pt x="827582" y="502602"/>
                </a:moveTo>
                <a:lnTo>
                  <a:pt x="826490" y="478307"/>
                </a:lnTo>
                <a:lnTo>
                  <a:pt x="825538" y="450888"/>
                </a:lnTo>
                <a:lnTo>
                  <a:pt x="824865" y="420268"/>
                </a:lnTo>
                <a:lnTo>
                  <a:pt x="824611" y="386397"/>
                </a:lnTo>
                <a:lnTo>
                  <a:pt x="824611" y="140639"/>
                </a:lnTo>
                <a:lnTo>
                  <a:pt x="712089" y="140639"/>
                </a:lnTo>
                <a:lnTo>
                  <a:pt x="712089" y="365671"/>
                </a:lnTo>
                <a:lnTo>
                  <a:pt x="710628"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69">
                <a:moveTo>
                  <a:pt x="1244155" y="318274"/>
                </a:moveTo>
                <a:lnTo>
                  <a:pt x="1238161" y="266484"/>
                </a:lnTo>
                <a:lnTo>
                  <a:pt x="1220876" y="221424"/>
                </a:lnTo>
                <a:lnTo>
                  <a:pt x="1193355" y="184315"/>
                </a:lnTo>
                <a:lnTo>
                  <a:pt x="1156639"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39" y="399072"/>
                </a:lnTo>
                <a:lnTo>
                  <a:pt x="986155" y="364807"/>
                </a:lnTo>
                <a:lnTo>
                  <a:pt x="981367" y="322008"/>
                </a:lnTo>
                <a:lnTo>
                  <a:pt x="985443" y="282206"/>
                </a:lnTo>
                <a:lnTo>
                  <a:pt x="998397" y="247332"/>
                </a:lnTo>
                <a:lnTo>
                  <a:pt x="1021346" y="222580"/>
                </a:lnTo>
                <a:lnTo>
                  <a:pt x="1055395" y="213169"/>
                </a:lnTo>
                <a:lnTo>
                  <a:pt x="1088174" y="222580"/>
                </a:lnTo>
                <a:lnTo>
                  <a:pt x="1110437"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395" y="199644"/>
                </a:lnTo>
                <a:lnTo>
                  <a:pt x="883894" y="235051"/>
                </a:lnTo>
                <a:lnTo>
                  <a:pt x="870508" y="276745"/>
                </a:lnTo>
                <a:lnTo>
                  <a:pt x="865911" y="324192"/>
                </a:lnTo>
                <a:lnTo>
                  <a:pt x="872426" y="378625"/>
                </a:lnTo>
                <a:lnTo>
                  <a:pt x="890930" y="424548"/>
                </a:lnTo>
                <a:lnTo>
                  <a:pt x="919835" y="461340"/>
                </a:lnTo>
                <a:lnTo>
                  <a:pt x="957567" y="488378"/>
                </a:lnTo>
                <a:lnTo>
                  <a:pt x="1002538" y="505066"/>
                </a:lnTo>
                <a:lnTo>
                  <a:pt x="1053160" y="510755"/>
                </a:lnTo>
                <a:lnTo>
                  <a:pt x="1053896"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69">
                <a:moveTo>
                  <a:pt x="1575854" y="146558"/>
                </a:moveTo>
                <a:lnTo>
                  <a:pt x="1556600" y="140614"/>
                </a:lnTo>
                <a:lnTo>
                  <a:pt x="1535125" y="136194"/>
                </a:lnTo>
                <a:lnTo>
                  <a:pt x="1512544" y="133451"/>
                </a:lnTo>
                <a:lnTo>
                  <a:pt x="1489964" y="132499"/>
                </a:lnTo>
                <a:lnTo>
                  <a:pt x="1436065"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82"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p18"/>
          <p:cNvSpPr/>
          <p:nvPr/>
        </p:nvSpPr>
        <p:spPr>
          <a:xfrm>
            <a:off x="18623540" y="10245307"/>
            <a:ext cx="378460" cy="469900"/>
          </a:xfrm>
          <a:custGeom>
            <a:rect b="b" l="l" r="r" t="t"/>
            <a:pathLst>
              <a:path extrusionOk="0" h="469900" w="378459">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31" name="Google Shape;31;p18"/>
          <p:cNvGrpSpPr/>
          <p:nvPr/>
        </p:nvGrpSpPr>
        <p:grpSpPr>
          <a:xfrm>
            <a:off x="19053919" y="10117702"/>
            <a:ext cx="427015" cy="597582"/>
            <a:chOff x="19053919" y="10117702"/>
            <a:chExt cx="427015" cy="597582"/>
          </a:xfrm>
        </p:grpSpPr>
        <p:sp>
          <p:nvSpPr>
            <p:cNvPr id="32" name="Google Shape;32;p18"/>
            <p:cNvSpPr/>
            <p:nvPr/>
          </p:nvSpPr>
          <p:spPr>
            <a:xfrm>
              <a:off x="19053919"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33" name="Google Shape;33;p18"/>
            <p:cNvPicPr preferRelativeResize="0"/>
            <p:nvPr/>
          </p:nvPicPr>
          <p:blipFill rotWithShape="1">
            <a:blip r:embed="rId2">
              <a:alphaModFix/>
            </a:blip>
            <a:srcRect b="0" l="0" r="0" t="0"/>
            <a:stretch/>
          </p:blipFill>
          <p:spPr>
            <a:xfrm>
              <a:off x="19368634" y="10117702"/>
              <a:ext cx="112300" cy="112268"/>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34" name="Shape 34"/>
        <p:cNvGrpSpPr/>
        <p:nvPr/>
      </p:nvGrpSpPr>
      <p:grpSpPr>
        <a:xfrm>
          <a:off x="0" y="0"/>
          <a:ext cx="0" cy="0"/>
          <a:chOff x="0" y="0"/>
          <a:chExt cx="0" cy="0"/>
        </a:xfrm>
      </p:grpSpPr>
      <p:pic>
        <p:nvPicPr>
          <p:cNvPr id="35" name="Google Shape;35;p22"/>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36" name="Google Shape;36;p22"/>
          <p:cNvPicPr preferRelativeResize="0"/>
          <p:nvPr/>
        </p:nvPicPr>
        <p:blipFill rotWithShape="1">
          <a:blip r:embed="rId3">
            <a:alphaModFix/>
          </a:blip>
          <a:srcRect b="0" l="0" r="0" t="0"/>
          <a:stretch/>
        </p:blipFill>
        <p:spPr>
          <a:xfrm>
            <a:off x="0" y="3340"/>
            <a:ext cx="20109342" cy="11305614"/>
          </a:xfrm>
          <a:prstGeom prst="rect">
            <a:avLst/>
          </a:prstGeom>
          <a:noFill/>
          <a:ln>
            <a:noFill/>
          </a:ln>
        </p:spPr>
      </p:pic>
      <p:sp>
        <p:nvSpPr>
          <p:cNvPr id="37" name="Google Shape;37;p22"/>
          <p:cNvSpPr/>
          <p:nvPr/>
        </p:nvSpPr>
        <p:spPr>
          <a:xfrm>
            <a:off x="755650" y="6264275"/>
            <a:ext cx="9892434" cy="2286000"/>
          </a:xfrm>
          <a:prstGeom prst="rect">
            <a:avLst/>
          </a:prstGeom>
          <a:solidFill>
            <a:schemeClr val="dk1">
              <a:alpha val="5803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38" name="Google Shape;38;p22"/>
          <p:cNvSpPr txBox="1"/>
          <p:nvPr>
            <p:ph type="title"/>
          </p:nvPr>
        </p:nvSpPr>
        <p:spPr>
          <a:xfrm>
            <a:off x="1184428" y="65914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9" name="Shape 39"/>
        <p:cNvGrpSpPr/>
        <p:nvPr/>
      </p:nvGrpSpPr>
      <p:grpSpPr>
        <a:xfrm>
          <a:off x="0" y="0"/>
          <a:ext cx="0" cy="0"/>
          <a:chOff x="0" y="0"/>
          <a:chExt cx="0" cy="0"/>
        </a:xfrm>
      </p:grpSpPr>
      <p:sp>
        <p:nvSpPr>
          <p:cNvPr id="40" name="Google Shape;40;p23"/>
          <p:cNvSpPr/>
          <p:nvPr/>
        </p:nvSpPr>
        <p:spPr>
          <a:xfrm>
            <a:off x="727227" y="10202309"/>
            <a:ext cx="1576070" cy="511175"/>
          </a:xfrm>
          <a:custGeom>
            <a:rect b="b" l="l" r="r" t="t"/>
            <a:pathLst>
              <a:path extrusionOk="0" h="511175" w="1576070">
                <a:moveTo>
                  <a:pt x="441172" y="241312"/>
                </a:moveTo>
                <a:lnTo>
                  <a:pt x="435267" y="179641"/>
                </a:lnTo>
                <a:lnTo>
                  <a:pt x="418414" y="127673"/>
                </a:lnTo>
                <a:lnTo>
                  <a:pt x="392747" y="86601"/>
                </a:lnTo>
                <a:lnTo>
                  <a:pt x="391845" y="85153"/>
                </a:lnTo>
                <a:lnTo>
                  <a:pt x="356819" y="51803"/>
                </a:lnTo>
                <a:lnTo>
                  <a:pt x="322008" y="30734"/>
                </a:lnTo>
                <a:lnTo>
                  <a:pt x="322008" y="245008"/>
                </a:lnTo>
                <a:lnTo>
                  <a:pt x="316547" y="299389"/>
                </a:lnTo>
                <a:lnTo>
                  <a:pt x="300736" y="343433"/>
                </a:lnTo>
                <a:lnTo>
                  <a:pt x="275463" y="377329"/>
                </a:lnTo>
                <a:lnTo>
                  <a:pt x="241617" y="401231"/>
                </a:lnTo>
                <a:lnTo>
                  <a:pt x="200088" y="415315"/>
                </a:lnTo>
                <a:lnTo>
                  <a:pt x="151752" y="419722"/>
                </a:lnTo>
                <a:lnTo>
                  <a:pt x="141351" y="419684"/>
                </a:lnTo>
                <a:lnTo>
                  <a:pt x="130746" y="419442"/>
                </a:lnTo>
                <a:lnTo>
                  <a:pt x="120827" y="418769"/>
                </a:lnTo>
                <a:lnTo>
                  <a:pt x="112496" y="417474"/>
                </a:lnTo>
                <a:lnTo>
                  <a:pt x="112496" y="91033"/>
                </a:lnTo>
                <a:lnTo>
                  <a:pt x="121119" y="89408"/>
                </a:lnTo>
                <a:lnTo>
                  <a:pt x="132499" y="87985"/>
                </a:lnTo>
                <a:lnTo>
                  <a:pt x="146659" y="86982"/>
                </a:lnTo>
                <a:lnTo>
                  <a:pt x="163601" y="86601"/>
                </a:lnTo>
                <a:lnTo>
                  <a:pt x="209257" y="90881"/>
                </a:lnTo>
                <a:lnTo>
                  <a:pt x="248094" y="103809"/>
                </a:lnTo>
                <a:lnTo>
                  <a:pt x="279450" y="125552"/>
                </a:lnTo>
                <a:lnTo>
                  <a:pt x="302653" y="156235"/>
                </a:lnTo>
                <a:lnTo>
                  <a:pt x="317055" y="196011"/>
                </a:lnTo>
                <a:lnTo>
                  <a:pt x="322008" y="245008"/>
                </a:lnTo>
                <a:lnTo>
                  <a:pt x="322008" y="30734"/>
                </a:lnTo>
                <a:lnTo>
                  <a:pt x="318211" y="28422"/>
                </a:lnTo>
                <a:lnTo>
                  <a:pt x="272313" y="12306"/>
                </a:lnTo>
                <a:lnTo>
                  <a:pt x="217411" y="2997"/>
                </a:lnTo>
                <a:lnTo>
                  <a:pt x="151752" y="0"/>
                </a:lnTo>
                <a:lnTo>
                  <a:pt x="110134" y="685"/>
                </a:lnTo>
                <a:lnTo>
                  <a:pt x="70319" y="2768"/>
                </a:lnTo>
                <a:lnTo>
                  <a:pt x="33286" y="6235"/>
                </a:lnTo>
                <a:lnTo>
                  <a:pt x="0" y="11099"/>
                </a:lnTo>
                <a:lnTo>
                  <a:pt x="0" y="500392"/>
                </a:lnTo>
                <a:lnTo>
                  <a:pt x="23342" y="503123"/>
                </a:lnTo>
                <a:lnTo>
                  <a:pt x="52374" y="505485"/>
                </a:lnTo>
                <a:lnTo>
                  <a:pt x="87236" y="507161"/>
                </a:lnTo>
                <a:lnTo>
                  <a:pt x="128054" y="507796"/>
                </a:lnTo>
                <a:lnTo>
                  <a:pt x="184556" y="505294"/>
                </a:lnTo>
                <a:lnTo>
                  <a:pt x="236435" y="497713"/>
                </a:lnTo>
                <a:lnTo>
                  <a:pt x="283171" y="484936"/>
                </a:lnTo>
                <a:lnTo>
                  <a:pt x="324205" y="466864"/>
                </a:lnTo>
                <a:lnTo>
                  <a:pt x="359029" y="443407"/>
                </a:lnTo>
                <a:lnTo>
                  <a:pt x="382054" y="419722"/>
                </a:lnTo>
                <a:lnTo>
                  <a:pt x="385749" y="415925"/>
                </a:lnTo>
                <a:lnTo>
                  <a:pt x="408393" y="382181"/>
                </a:lnTo>
                <a:lnTo>
                  <a:pt x="425894" y="341972"/>
                </a:lnTo>
                <a:lnTo>
                  <a:pt x="437172" y="295097"/>
                </a:lnTo>
                <a:lnTo>
                  <a:pt x="441172" y="241312"/>
                </a:lnTo>
                <a:close/>
              </a:path>
              <a:path extrusionOk="0" h="511175" w="1576070">
                <a:moveTo>
                  <a:pt x="827582" y="502602"/>
                </a:moveTo>
                <a:lnTo>
                  <a:pt x="826503" y="478307"/>
                </a:lnTo>
                <a:lnTo>
                  <a:pt x="825550" y="450888"/>
                </a:lnTo>
                <a:lnTo>
                  <a:pt x="824865" y="420268"/>
                </a:lnTo>
                <a:lnTo>
                  <a:pt x="824611" y="386397"/>
                </a:lnTo>
                <a:lnTo>
                  <a:pt x="824611" y="140639"/>
                </a:lnTo>
                <a:lnTo>
                  <a:pt x="712089" y="140639"/>
                </a:lnTo>
                <a:lnTo>
                  <a:pt x="712089" y="365671"/>
                </a:lnTo>
                <a:lnTo>
                  <a:pt x="710641" y="373811"/>
                </a:lnTo>
                <a:lnTo>
                  <a:pt x="688695" y="406768"/>
                </a:lnTo>
                <a:lnTo>
                  <a:pt x="651395" y="419722"/>
                </a:lnTo>
                <a:lnTo>
                  <a:pt x="625627" y="413918"/>
                </a:lnTo>
                <a:lnTo>
                  <a:pt x="607910" y="397230"/>
                </a:lnTo>
                <a:lnTo>
                  <a:pt x="597687" y="370674"/>
                </a:lnTo>
                <a:lnTo>
                  <a:pt x="594398" y="335330"/>
                </a:lnTo>
                <a:lnTo>
                  <a:pt x="594398" y="140639"/>
                </a:lnTo>
                <a:lnTo>
                  <a:pt x="481888" y="140639"/>
                </a:lnTo>
                <a:lnTo>
                  <a:pt x="481888" y="353072"/>
                </a:lnTo>
                <a:lnTo>
                  <a:pt x="488022" y="412394"/>
                </a:lnTo>
                <a:lnTo>
                  <a:pt x="505383" y="456869"/>
                </a:lnTo>
                <a:lnTo>
                  <a:pt x="532409" y="487451"/>
                </a:lnTo>
                <a:lnTo>
                  <a:pt x="567537" y="505091"/>
                </a:lnTo>
                <a:lnTo>
                  <a:pt x="609206" y="510768"/>
                </a:lnTo>
                <a:lnTo>
                  <a:pt x="652399" y="504634"/>
                </a:lnTo>
                <a:lnTo>
                  <a:pt x="684987" y="489483"/>
                </a:lnTo>
                <a:lnTo>
                  <a:pt x="707986" y="470154"/>
                </a:lnTo>
                <a:lnTo>
                  <a:pt x="722452" y="451535"/>
                </a:lnTo>
                <a:lnTo>
                  <a:pt x="724674" y="451535"/>
                </a:lnTo>
                <a:lnTo>
                  <a:pt x="729869" y="502602"/>
                </a:lnTo>
                <a:lnTo>
                  <a:pt x="827582" y="502602"/>
                </a:lnTo>
                <a:close/>
              </a:path>
              <a:path extrusionOk="0" h="511175" w="1576070">
                <a:moveTo>
                  <a:pt x="1244155" y="318274"/>
                </a:moveTo>
                <a:lnTo>
                  <a:pt x="1238161" y="266484"/>
                </a:lnTo>
                <a:lnTo>
                  <a:pt x="1220889" y="221424"/>
                </a:lnTo>
                <a:lnTo>
                  <a:pt x="1193355" y="184315"/>
                </a:lnTo>
                <a:lnTo>
                  <a:pt x="1156652" y="156324"/>
                </a:lnTo>
                <a:lnTo>
                  <a:pt x="1127175" y="144729"/>
                </a:lnTo>
                <a:lnTo>
                  <a:pt x="1127175" y="321259"/>
                </a:lnTo>
                <a:lnTo>
                  <a:pt x="1122210" y="365747"/>
                </a:lnTo>
                <a:lnTo>
                  <a:pt x="1107948" y="400088"/>
                </a:lnTo>
                <a:lnTo>
                  <a:pt x="1085354" y="422224"/>
                </a:lnTo>
                <a:lnTo>
                  <a:pt x="1055395" y="430072"/>
                </a:lnTo>
                <a:lnTo>
                  <a:pt x="1054658" y="430072"/>
                </a:lnTo>
                <a:lnTo>
                  <a:pt x="1023213" y="421817"/>
                </a:lnTo>
                <a:lnTo>
                  <a:pt x="1000252" y="399072"/>
                </a:lnTo>
                <a:lnTo>
                  <a:pt x="986155" y="364807"/>
                </a:lnTo>
                <a:lnTo>
                  <a:pt x="981367" y="322008"/>
                </a:lnTo>
                <a:lnTo>
                  <a:pt x="985443" y="282206"/>
                </a:lnTo>
                <a:lnTo>
                  <a:pt x="998397" y="247332"/>
                </a:lnTo>
                <a:lnTo>
                  <a:pt x="1021359" y="222580"/>
                </a:lnTo>
                <a:lnTo>
                  <a:pt x="1055395" y="213169"/>
                </a:lnTo>
                <a:lnTo>
                  <a:pt x="1088174" y="222580"/>
                </a:lnTo>
                <a:lnTo>
                  <a:pt x="1110449" y="247230"/>
                </a:lnTo>
                <a:lnTo>
                  <a:pt x="1123149" y="281889"/>
                </a:lnTo>
                <a:lnTo>
                  <a:pt x="1127175" y="321259"/>
                </a:lnTo>
                <a:lnTo>
                  <a:pt x="1127175" y="144729"/>
                </a:lnTo>
                <a:lnTo>
                  <a:pt x="1111783" y="138658"/>
                </a:lnTo>
                <a:lnTo>
                  <a:pt x="1059827" y="132511"/>
                </a:lnTo>
                <a:lnTo>
                  <a:pt x="1012253" y="136982"/>
                </a:lnTo>
                <a:lnTo>
                  <a:pt x="970229" y="150050"/>
                </a:lnTo>
                <a:lnTo>
                  <a:pt x="934402" y="171119"/>
                </a:lnTo>
                <a:lnTo>
                  <a:pt x="905408" y="199644"/>
                </a:lnTo>
                <a:lnTo>
                  <a:pt x="883894" y="235051"/>
                </a:lnTo>
                <a:lnTo>
                  <a:pt x="870508" y="276745"/>
                </a:lnTo>
                <a:lnTo>
                  <a:pt x="865911" y="324192"/>
                </a:lnTo>
                <a:lnTo>
                  <a:pt x="872426" y="378625"/>
                </a:lnTo>
                <a:lnTo>
                  <a:pt x="890930" y="424548"/>
                </a:lnTo>
                <a:lnTo>
                  <a:pt x="919848" y="461340"/>
                </a:lnTo>
                <a:lnTo>
                  <a:pt x="957580" y="488378"/>
                </a:lnTo>
                <a:lnTo>
                  <a:pt x="1002538" y="505066"/>
                </a:lnTo>
                <a:lnTo>
                  <a:pt x="1053160" y="510755"/>
                </a:lnTo>
                <a:lnTo>
                  <a:pt x="1053909" y="510755"/>
                </a:lnTo>
                <a:lnTo>
                  <a:pt x="1094740" y="507009"/>
                </a:lnTo>
                <a:lnTo>
                  <a:pt x="1133703" y="495655"/>
                </a:lnTo>
                <a:lnTo>
                  <a:pt x="1169187" y="476491"/>
                </a:lnTo>
                <a:lnTo>
                  <a:pt x="1199578" y="449364"/>
                </a:lnTo>
                <a:lnTo>
                  <a:pt x="1223276" y="414070"/>
                </a:lnTo>
                <a:lnTo>
                  <a:pt x="1238669" y="370433"/>
                </a:lnTo>
                <a:lnTo>
                  <a:pt x="1244155" y="318274"/>
                </a:lnTo>
                <a:close/>
              </a:path>
              <a:path extrusionOk="0" h="511175" w="1576070">
                <a:moveTo>
                  <a:pt x="1575854" y="146558"/>
                </a:moveTo>
                <a:lnTo>
                  <a:pt x="1556600" y="140614"/>
                </a:lnTo>
                <a:lnTo>
                  <a:pt x="1535125" y="136194"/>
                </a:lnTo>
                <a:lnTo>
                  <a:pt x="1512557" y="133451"/>
                </a:lnTo>
                <a:lnTo>
                  <a:pt x="1489964" y="132499"/>
                </a:lnTo>
                <a:lnTo>
                  <a:pt x="1436077" y="137604"/>
                </a:lnTo>
                <a:lnTo>
                  <a:pt x="1389964" y="152133"/>
                </a:lnTo>
                <a:lnTo>
                  <a:pt x="1351838" y="174917"/>
                </a:lnTo>
                <a:lnTo>
                  <a:pt x="1321866" y="204762"/>
                </a:lnTo>
                <a:lnTo>
                  <a:pt x="1300238" y="240499"/>
                </a:lnTo>
                <a:lnTo>
                  <a:pt x="1287132" y="280949"/>
                </a:lnTo>
                <a:lnTo>
                  <a:pt x="1282712" y="324942"/>
                </a:lnTo>
                <a:lnTo>
                  <a:pt x="1287195" y="371144"/>
                </a:lnTo>
                <a:lnTo>
                  <a:pt x="1300264" y="411645"/>
                </a:lnTo>
                <a:lnTo>
                  <a:pt x="1321346" y="445947"/>
                </a:lnTo>
                <a:lnTo>
                  <a:pt x="1349870" y="473532"/>
                </a:lnTo>
                <a:lnTo>
                  <a:pt x="1385277" y="493864"/>
                </a:lnTo>
                <a:lnTo>
                  <a:pt x="1426984" y="506450"/>
                </a:lnTo>
                <a:lnTo>
                  <a:pt x="1474431" y="510755"/>
                </a:lnTo>
                <a:lnTo>
                  <a:pt x="1505470" y="509460"/>
                </a:lnTo>
                <a:lnTo>
                  <a:pt x="1556994" y="500468"/>
                </a:lnTo>
                <a:lnTo>
                  <a:pt x="1561782" y="410832"/>
                </a:lnTo>
                <a:lnTo>
                  <a:pt x="1548282" y="415810"/>
                </a:lnTo>
                <a:lnTo>
                  <a:pt x="1533194" y="419531"/>
                </a:lnTo>
                <a:lnTo>
                  <a:pt x="1516278" y="421868"/>
                </a:lnTo>
                <a:lnTo>
                  <a:pt x="1497355" y="422681"/>
                </a:lnTo>
                <a:lnTo>
                  <a:pt x="1458760" y="416090"/>
                </a:lnTo>
                <a:lnTo>
                  <a:pt x="1427226" y="396582"/>
                </a:lnTo>
                <a:lnTo>
                  <a:pt x="1405966" y="364591"/>
                </a:lnTo>
                <a:lnTo>
                  <a:pt x="1398155" y="320522"/>
                </a:lnTo>
                <a:lnTo>
                  <a:pt x="1404683" y="279692"/>
                </a:lnTo>
                <a:lnTo>
                  <a:pt x="1424178" y="247599"/>
                </a:lnTo>
                <a:lnTo>
                  <a:pt x="1454924" y="226606"/>
                </a:lnTo>
                <a:lnTo>
                  <a:pt x="1495171" y="219087"/>
                </a:lnTo>
                <a:lnTo>
                  <a:pt x="1515630" y="219989"/>
                </a:lnTo>
                <a:lnTo>
                  <a:pt x="1532737" y="222427"/>
                </a:lnTo>
                <a:lnTo>
                  <a:pt x="1546796" y="225971"/>
                </a:lnTo>
                <a:lnTo>
                  <a:pt x="1558086" y="230212"/>
                </a:lnTo>
                <a:lnTo>
                  <a:pt x="1575854" y="146558"/>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 name="Google Shape;41;p23"/>
          <p:cNvSpPr/>
          <p:nvPr/>
        </p:nvSpPr>
        <p:spPr>
          <a:xfrm>
            <a:off x="2412348" y="10245307"/>
            <a:ext cx="378460" cy="469900"/>
          </a:xfrm>
          <a:custGeom>
            <a:rect b="b" l="l" r="r" t="t"/>
            <a:pathLst>
              <a:path extrusionOk="0" h="469900" w="378460">
                <a:moveTo>
                  <a:pt x="377967" y="0"/>
                </a:moveTo>
                <a:lnTo>
                  <a:pt x="273688" y="0"/>
                </a:lnTo>
                <a:lnTo>
                  <a:pt x="273688" y="266117"/>
                </a:lnTo>
                <a:lnTo>
                  <a:pt x="268116" y="319317"/>
                </a:lnTo>
                <a:lnTo>
                  <a:pt x="251744" y="356757"/>
                </a:lnTo>
                <a:lnTo>
                  <a:pt x="225083" y="378889"/>
                </a:lnTo>
                <a:lnTo>
                  <a:pt x="188643" y="386166"/>
                </a:lnTo>
                <a:lnTo>
                  <a:pt x="152992" y="378600"/>
                </a:lnTo>
                <a:lnTo>
                  <a:pt x="126738" y="355987"/>
                </a:lnTo>
                <a:lnTo>
                  <a:pt x="110518" y="318451"/>
                </a:lnTo>
                <a:lnTo>
                  <a:pt x="104970" y="266117"/>
                </a:lnTo>
                <a:lnTo>
                  <a:pt x="104970" y="0"/>
                </a:lnTo>
                <a:lnTo>
                  <a:pt x="0" y="0"/>
                </a:lnTo>
                <a:lnTo>
                  <a:pt x="0" y="257897"/>
                </a:lnTo>
                <a:lnTo>
                  <a:pt x="4140" y="316080"/>
                </a:lnTo>
                <a:lnTo>
                  <a:pt x="16320" y="364420"/>
                </a:lnTo>
                <a:lnTo>
                  <a:pt x="36180" y="403244"/>
                </a:lnTo>
                <a:lnTo>
                  <a:pt x="63360" y="432875"/>
                </a:lnTo>
                <a:lnTo>
                  <a:pt x="97498" y="453638"/>
                </a:lnTo>
                <a:lnTo>
                  <a:pt x="138234" y="465858"/>
                </a:lnTo>
                <a:lnTo>
                  <a:pt x="185209" y="469860"/>
                </a:lnTo>
                <a:lnTo>
                  <a:pt x="233897" y="465682"/>
                </a:lnTo>
                <a:lnTo>
                  <a:pt x="276216" y="453068"/>
                </a:lnTo>
                <a:lnTo>
                  <a:pt x="311756" y="431899"/>
                </a:lnTo>
                <a:lnTo>
                  <a:pt x="340111" y="402056"/>
                </a:lnTo>
                <a:lnTo>
                  <a:pt x="360870" y="363417"/>
                </a:lnTo>
                <a:lnTo>
                  <a:pt x="373625" y="315865"/>
                </a:lnTo>
                <a:lnTo>
                  <a:pt x="377967" y="259280"/>
                </a:lnTo>
                <a:lnTo>
                  <a:pt x="377967"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42" name="Google Shape;42;p23"/>
          <p:cNvGrpSpPr/>
          <p:nvPr/>
        </p:nvGrpSpPr>
        <p:grpSpPr>
          <a:xfrm>
            <a:off x="2842727" y="10117702"/>
            <a:ext cx="427015" cy="597582"/>
            <a:chOff x="2842727" y="10117702"/>
            <a:chExt cx="427015" cy="597582"/>
          </a:xfrm>
        </p:grpSpPr>
        <p:sp>
          <p:nvSpPr>
            <p:cNvPr id="43" name="Google Shape;43;p23"/>
            <p:cNvSpPr/>
            <p:nvPr/>
          </p:nvSpPr>
          <p:spPr>
            <a:xfrm>
              <a:off x="2842727" y="10237764"/>
              <a:ext cx="366395" cy="477520"/>
            </a:xfrm>
            <a:custGeom>
              <a:rect b="b" l="l" r="r" t="t"/>
              <a:pathLst>
                <a:path extrusionOk="0" h="477520" w="366394">
                  <a:moveTo>
                    <a:pt x="252421" y="0"/>
                  </a:moveTo>
                  <a:lnTo>
                    <a:pt x="206913" y="3226"/>
                  </a:lnTo>
                  <a:lnTo>
                    <a:pt x="164136" y="12810"/>
                  </a:lnTo>
                  <a:lnTo>
                    <a:pt x="124791" y="28603"/>
                  </a:lnTo>
                  <a:lnTo>
                    <a:pt x="89578" y="50459"/>
                  </a:lnTo>
                  <a:lnTo>
                    <a:pt x="59197" y="78232"/>
                  </a:lnTo>
                  <a:lnTo>
                    <a:pt x="34348" y="111776"/>
                  </a:lnTo>
                  <a:lnTo>
                    <a:pt x="15732" y="150943"/>
                  </a:lnTo>
                  <a:lnTo>
                    <a:pt x="4049" y="195587"/>
                  </a:lnTo>
                  <a:lnTo>
                    <a:pt x="0" y="245563"/>
                  </a:lnTo>
                  <a:lnTo>
                    <a:pt x="3849" y="293331"/>
                  </a:lnTo>
                  <a:lnTo>
                    <a:pt x="15359" y="337340"/>
                  </a:lnTo>
                  <a:lnTo>
                    <a:pt x="34475" y="376785"/>
                  </a:lnTo>
                  <a:lnTo>
                    <a:pt x="61138" y="410861"/>
                  </a:lnTo>
                  <a:lnTo>
                    <a:pt x="95292" y="438765"/>
                  </a:lnTo>
                  <a:lnTo>
                    <a:pt x="136882" y="459692"/>
                  </a:lnTo>
                  <a:lnTo>
                    <a:pt x="185849" y="472838"/>
                  </a:lnTo>
                  <a:lnTo>
                    <a:pt x="242139" y="477399"/>
                  </a:lnTo>
                  <a:lnTo>
                    <a:pt x="281711" y="475535"/>
                  </a:lnTo>
                  <a:lnTo>
                    <a:pt x="315367" y="470716"/>
                  </a:lnTo>
                  <a:lnTo>
                    <a:pt x="342072" y="464093"/>
                  </a:lnTo>
                  <a:lnTo>
                    <a:pt x="360795" y="456823"/>
                  </a:lnTo>
                  <a:lnTo>
                    <a:pt x="345036" y="375213"/>
                  </a:lnTo>
                  <a:lnTo>
                    <a:pt x="327174" y="381031"/>
                  </a:lnTo>
                  <a:lnTo>
                    <a:pt x="305583" y="385825"/>
                  </a:lnTo>
                  <a:lnTo>
                    <a:pt x="281936" y="389081"/>
                  </a:lnTo>
                  <a:lnTo>
                    <a:pt x="257908" y="390281"/>
                  </a:lnTo>
                  <a:lnTo>
                    <a:pt x="206680" y="383477"/>
                  </a:lnTo>
                  <a:lnTo>
                    <a:pt x="165463" y="363832"/>
                  </a:lnTo>
                  <a:lnTo>
                    <a:pt x="135046" y="332499"/>
                  </a:lnTo>
                  <a:lnTo>
                    <a:pt x="116217" y="290629"/>
                  </a:lnTo>
                  <a:lnTo>
                    <a:pt x="109766" y="239374"/>
                  </a:lnTo>
                  <a:lnTo>
                    <a:pt x="117134" y="183960"/>
                  </a:lnTo>
                  <a:lnTo>
                    <a:pt x="137767" y="141083"/>
                  </a:lnTo>
                  <a:lnTo>
                    <a:pt x="169464" y="110615"/>
                  </a:lnTo>
                  <a:lnTo>
                    <a:pt x="210018" y="92429"/>
                  </a:lnTo>
                  <a:lnTo>
                    <a:pt x="257227" y="86395"/>
                  </a:lnTo>
                  <a:lnTo>
                    <a:pt x="283580" y="87824"/>
                  </a:lnTo>
                  <a:lnTo>
                    <a:pt x="307041" y="91638"/>
                  </a:lnTo>
                  <a:lnTo>
                    <a:pt x="327548" y="97129"/>
                  </a:lnTo>
                  <a:lnTo>
                    <a:pt x="345036" y="103588"/>
                  </a:lnTo>
                  <a:lnTo>
                    <a:pt x="366302" y="20575"/>
                  </a:lnTo>
                  <a:lnTo>
                    <a:pt x="348314" y="13309"/>
                  </a:lnTo>
                  <a:lnTo>
                    <a:pt x="322736" y="6686"/>
                  </a:lnTo>
                  <a:lnTo>
                    <a:pt x="290470" y="1864"/>
                  </a:lnTo>
                  <a:lnTo>
                    <a:pt x="252421"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44" name="Google Shape;44;p23"/>
            <p:cNvPicPr preferRelativeResize="0"/>
            <p:nvPr/>
          </p:nvPicPr>
          <p:blipFill rotWithShape="1">
            <a:blip r:embed="rId2">
              <a:alphaModFix/>
            </a:blip>
            <a:srcRect b="0" l="0" r="0" t="0"/>
            <a:stretch/>
          </p:blipFill>
          <p:spPr>
            <a:xfrm>
              <a:off x="3157442" y="10117702"/>
              <a:ext cx="112300" cy="112268"/>
            </a:xfrm>
            <a:prstGeom prst="rect">
              <a:avLst/>
            </a:prstGeom>
            <a:noFill/>
            <a:ln>
              <a:noFill/>
            </a:ln>
          </p:spPr>
        </p:pic>
      </p:grpSp>
      <p:sp>
        <p:nvSpPr>
          <p:cNvPr id="45" name="Google Shape;45;p23"/>
          <p:cNvSpPr/>
          <p:nvPr/>
        </p:nvSpPr>
        <p:spPr>
          <a:xfrm>
            <a:off x="17840597" y="656116"/>
            <a:ext cx="2243455" cy="1060450"/>
          </a:xfrm>
          <a:custGeom>
            <a:rect b="b" l="l" r="r" t="t"/>
            <a:pathLst>
              <a:path extrusionOk="0" h="1060450" w="2243455">
                <a:moveTo>
                  <a:pt x="2243429" y="0"/>
                </a:moveTo>
                <a:lnTo>
                  <a:pt x="0" y="0"/>
                </a:lnTo>
                <a:lnTo>
                  <a:pt x="0" y="1059999"/>
                </a:lnTo>
                <a:lnTo>
                  <a:pt x="2243429" y="1059999"/>
                </a:lnTo>
                <a:lnTo>
                  <a:pt x="2243429" y="0"/>
                </a:lnTo>
                <a:close/>
              </a:path>
            </a:pathLst>
          </a:custGeom>
          <a:solidFill>
            <a:srgbClr val="257CE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 name="Google Shape;46;p23"/>
          <p:cNvSpPr txBox="1"/>
          <p:nvPr>
            <p:ph idx="1" type="body"/>
          </p:nvPr>
        </p:nvSpPr>
        <p:spPr>
          <a:xfrm>
            <a:off x="727227" y="755454"/>
            <a:ext cx="16792423" cy="738664"/>
          </a:xfrm>
          <a:prstGeom prst="rect">
            <a:avLst/>
          </a:prstGeom>
          <a:noFill/>
          <a:ln>
            <a:noFill/>
          </a:ln>
        </p:spPr>
        <p:txBody>
          <a:bodyPr anchorCtr="0" anchor="t" bIns="0" lIns="0" spcFirstLastPara="1" rIns="0" wrap="square" tIns="0">
            <a:spAutoFit/>
          </a:bodyPr>
          <a:lstStyle>
            <a:lvl1pPr indent="-228600" lvl="0" marL="457200" algn="r">
              <a:lnSpc>
                <a:spcPct val="100000"/>
              </a:lnSpc>
              <a:spcBef>
                <a:spcPts val="0"/>
              </a:spcBef>
              <a:spcAft>
                <a:spcPts val="0"/>
              </a:spcAft>
              <a:buSzPts val="1400"/>
              <a:buNone/>
              <a:defRPr b="1" sz="48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Diseño personalizado">
  <p:cSld name="5_Diseño personalizado">
    <p:spTree>
      <p:nvGrpSpPr>
        <p:cNvPr id="47" name="Shape 47"/>
        <p:cNvGrpSpPr/>
        <p:nvPr/>
      </p:nvGrpSpPr>
      <p:grpSpPr>
        <a:xfrm>
          <a:off x="0" y="0"/>
          <a:ext cx="0" cy="0"/>
          <a:chOff x="0" y="0"/>
          <a:chExt cx="0" cy="0"/>
        </a:xfrm>
      </p:grpSpPr>
      <p:pic>
        <p:nvPicPr>
          <p:cNvPr id="48" name="Google Shape;48;p24"/>
          <p:cNvPicPr preferRelativeResize="0"/>
          <p:nvPr/>
        </p:nvPicPr>
        <p:blipFill rotWithShape="1">
          <a:blip r:embed="rId2">
            <a:alphaModFix/>
          </a:blip>
          <a:srcRect b="0" l="0" r="0" t="0"/>
          <a:stretch/>
        </p:blipFill>
        <p:spPr>
          <a:xfrm>
            <a:off x="-1" y="3340"/>
            <a:ext cx="20110047" cy="11306010"/>
          </a:xfrm>
          <a:prstGeom prst="rect">
            <a:avLst/>
          </a:prstGeom>
          <a:noFill/>
          <a:ln>
            <a:noFill/>
          </a:ln>
        </p:spPr>
      </p:pic>
      <p:sp>
        <p:nvSpPr>
          <p:cNvPr id="49" name="Google Shape;49;p24"/>
          <p:cNvSpPr txBox="1"/>
          <p:nvPr>
            <p:ph type="title"/>
          </p:nvPr>
        </p:nvSpPr>
        <p:spPr>
          <a:xfrm>
            <a:off x="831850" y="7178675"/>
            <a:ext cx="9782022" cy="1538883"/>
          </a:xfrm>
          <a:prstGeom prst="rect">
            <a:avLst/>
          </a:prstGeom>
          <a:noFill/>
          <a:ln>
            <a:noFill/>
          </a:ln>
        </p:spPr>
        <p:txBody>
          <a:bodyPr anchorCtr="0" anchor="t" bIns="0" lIns="0" spcFirstLastPara="1" rIns="0" wrap="square" tIns="0">
            <a:spAutoFit/>
          </a:bodyPr>
          <a:lstStyle>
            <a:lvl1pPr lvl="0" algn="r">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Diseño personalizado">
  <p:cSld name="4_Diseño personalizado">
    <p:spTree>
      <p:nvGrpSpPr>
        <p:cNvPr id="50" name="Shape 50"/>
        <p:cNvGrpSpPr/>
        <p:nvPr/>
      </p:nvGrpSpPr>
      <p:grpSpPr>
        <a:xfrm>
          <a:off x="0" y="0"/>
          <a:ext cx="0" cy="0"/>
          <a:chOff x="0" y="0"/>
          <a:chExt cx="0" cy="0"/>
        </a:xfrm>
      </p:grpSpPr>
      <p:pic>
        <p:nvPicPr>
          <p:cNvPr id="51" name="Google Shape;51;p26"/>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52" name="Google Shape;52;p26"/>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53" name="Google Shape;53;p26"/>
          <p:cNvSpPr/>
          <p:nvPr/>
        </p:nvSpPr>
        <p:spPr>
          <a:xfrm>
            <a:off x="4413250" y="4206875"/>
            <a:ext cx="9892434" cy="2286000"/>
          </a:xfrm>
          <a:prstGeom prst="rect">
            <a:avLst/>
          </a:prstGeom>
          <a:solidFill>
            <a:schemeClr val="dk1">
              <a:alpha val="5803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4" name="Google Shape;54;p26"/>
          <p:cNvSpPr txBox="1"/>
          <p:nvPr>
            <p:ph type="title"/>
          </p:nvPr>
        </p:nvSpPr>
        <p:spPr>
          <a:xfrm>
            <a:off x="4842028" y="45340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Diseño personalizado">
  <p:cSld name="6_Diseño personalizado">
    <p:spTree>
      <p:nvGrpSpPr>
        <p:cNvPr id="55" name="Shape 55"/>
        <p:cNvGrpSpPr/>
        <p:nvPr/>
      </p:nvGrpSpPr>
      <p:grpSpPr>
        <a:xfrm>
          <a:off x="0" y="0"/>
          <a:ext cx="0" cy="0"/>
          <a:chOff x="0" y="0"/>
          <a:chExt cx="0" cy="0"/>
        </a:xfrm>
      </p:grpSpPr>
      <p:pic>
        <p:nvPicPr>
          <p:cNvPr id="56" name="Google Shape;56;p25"/>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57" name="Google Shape;57;p25"/>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58" name="Google Shape;58;p25"/>
          <p:cNvSpPr/>
          <p:nvPr/>
        </p:nvSpPr>
        <p:spPr>
          <a:xfrm>
            <a:off x="7232650" y="7880350"/>
            <a:ext cx="9892434" cy="2286000"/>
          </a:xfrm>
          <a:prstGeom prst="rect">
            <a:avLst/>
          </a:prstGeom>
          <a:solidFill>
            <a:schemeClr val="dk1">
              <a:alpha val="5803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59" name="Google Shape;59;p25"/>
          <p:cNvSpPr txBox="1"/>
          <p:nvPr>
            <p:ph type="title"/>
          </p:nvPr>
        </p:nvSpPr>
        <p:spPr>
          <a:xfrm>
            <a:off x="7661428" y="8207476"/>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wo Content">
  <p:cSld name="1_Two Content">
    <p:spTree>
      <p:nvGrpSpPr>
        <p:cNvPr id="60" name="Shape 60"/>
        <p:cNvGrpSpPr/>
        <p:nvPr/>
      </p:nvGrpSpPr>
      <p:grpSpPr>
        <a:xfrm>
          <a:off x="0" y="0"/>
          <a:ext cx="0" cy="0"/>
          <a:chOff x="0" y="0"/>
          <a:chExt cx="0" cy="0"/>
        </a:xfrm>
      </p:grpSpPr>
      <p:pic>
        <p:nvPicPr>
          <p:cNvPr id="61" name="Google Shape;61;p27"/>
          <p:cNvPicPr preferRelativeResize="0"/>
          <p:nvPr/>
        </p:nvPicPr>
        <p:blipFill rotWithShape="1">
          <a:blip r:embed="rId2">
            <a:alphaModFix/>
          </a:blip>
          <a:srcRect b="0" l="0" r="0" t="0"/>
          <a:stretch/>
        </p:blipFill>
        <p:spPr>
          <a:xfrm>
            <a:off x="0" y="396"/>
            <a:ext cx="20104810" cy="11308953"/>
          </a:xfrm>
          <a:prstGeom prst="rect">
            <a:avLst/>
          </a:prstGeom>
          <a:noFill/>
          <a:ln>
            <a:noFill/>
          </a:ln>
        </p:spPr>
      </p:pic>
      <p:pic>
        <p:nvPicPr>
          <p:cNvPr id="62" name="Google Shape;62;p27"/>
          <p:cNvPicPr preferRelativeResize="0"/>
          <p:nvPr/>
        </p:nvPicPr>
        <p:blipFill rotWithShape="1">
          <a:blip r:embed="rId3">
            <a:alphaModFix/>
          </a:blip>
          <a:srcRect b="0" l="0" r="0" t="0"/>
          <a:stretch/>
        </p:blipFill>
        <p:spPr>
          <a:xfrm>
            <a:off x="3362" y="0"/>
            <a:ext cx="20097375" cy="11309350"/>
          </a:xfrm>
          <a:prstGeom prst="rect">
            <a:avLst/>
          </a:prstGeom>
          <a:noFill/>
          <a:ln>
            <a:noFill/>
          </a:ln>
        </p:spPr>
      </p:pic>
      <p:sp>
        <p:nvSpPr>
          <p:cNvPr id="63" name="Google Shape;63;p27"/>
          <p:cNvSpPr/>
          <p:nvPr/>
        </p:nvSpPr>
        <p:spPr>
          <a:xfrm>
            <a:off x="7004050" y="7331075"/>
            <a:ext cx="9892434" cy="2286000"/>
          </a:xfrm>
          <a:prstGeom prst="rect">
            <a:avLst/>
          </a:prstGeom>
          <a:solidFill>
            <a:schemeClr val="dk1">
              <a:alpha val="58039"/>
            </a:scheme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64" name="Google Shape;64;p27"/>
          <p:cNvSpPr txBox="1"/>
          <p:nvPr>
            <p:ph type="title"/>
          </p:nvPr>
        </p:nvSpPr>
        <p:spPr>
          <a:xfrm>
            <a:off x="7432828" y="7658201"/>
            <a:ext cx="9020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solidFill>
                  <a:srgbClr val="257CE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Diseño personalizado">
  <p:cSld name="3_Diseño personalizado">
    <p:spTree>
      <p:nvGrpSpPr>
        <p:cNvPr id="65" name="Shape 65"/>
        <p:cNvGrpSpPr/>
        <p:nvPr/>
      </p:nvGrpSpPr>
      <p:grpSpPr>
        <a:xfrm>
          <a:off x="0" y="0"/>
          <a:ext cx="0" cy="0"/>
          <a:chOff x="0" y="0"/>
          <a:chExt cx="0" cy="0"/>
        </a:xfrm>
      </p:grpSpPr>
      <p:pic>
        <p:nvPicPr>
          <p:cNvPr id="66" name="Google Shape;66;p28"/>
          <p:cNvPicPr preferRelativeResize="0"/>
          <p:nvPr/>
        </p:nvPicPr>
        <p:blipFill rotWithShape="1">
          <a:blip r:embed="rId2">
            <a:alphaModFix/>
          </a:blip>
          <a:srcRect b="0" l="0" r="0" t="0"/>
          <a:stretch/>
        </p:blipFill>
        <p:spPr>
          <a:xfrm>
            <a:off x="3362" y="0"/>
            <a:ext cx="20097375" cy="11309350"/>
          </a:xfrm>
          <a:prstGeom prst="rect">
            <a:avLst/>
          </a:prstGeom>
          <a:noFill/>
          <a:ln>
            <a:noFill/>
          </a:ln>
        </p:spPr>
      </p:pic>
      <p:sp>
        <p:nvSpPr>
          <p:cNvPr id="67" name="Google Shape;67;p28"/>
          <p:cNvSpPr txBox="1"/>
          <p:nvPr>
            <p:ph type="title"/>
          </p:nvPr>
        </p:nvSpPr>
        <p:spPr>
          <a:xfrm>
            <a:off x="6623050" y="7026275"/>
            <a:ext cx="9782022" cy="1538883"/>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spTree>
      <p:nvGrpSpPr>
        <p:cNvPr id="68" name="Shape 68"/>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Only">
  <p:cSld name="3_Title Only">
    <p:spTree>
      <p:nvGrpSpPr>
        <p:cNvPr id="69" name="Shape 69"/>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12314421" y="714594"/>
            <a:ext cx="5259705" cy="915669"/>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5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7"/>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2" name="Google Shape;12;p17"/>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17"/>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17"/>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3.jpg"/><Relationship Id="rId4" Type="http://schemas.openxmlformats.org/officeDocument/2006/relationships/image" Target="../media/image40.png"/><Relationship Id="rId5" Type="http://schemas.openxmlformats.org/officeDocument/2006/relationships/image" Target="../media/image33.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6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19.png"/><Relationship Id="rId13" Type="http://schemas.openxmlformats.org/officeDocument/2006/relationships/image" Target="../media/image56.png"/><Relationship Id="rId12" Type="http://schemas.openxmlformats.org/officeDocument/2006/relationships/image" Target="../media/image26.png"/><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4.png"/><Relationship Id="rId9"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24.png"/><Relationship Id="rId7" Type="http://schemas.openxmlformats.org/officeDocument/2006/relationships/image" Target="../media/image20.png"/><Relationship Id="rId8"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8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 Id="rId5" Type="http://schemas.openxmlformats.org/officeDocument/2006/relationships/image" Target="../media/image41.png"/><Relationship Id="rId6" Type="http://schemas.openxmlformats.org/officeDocument/2006/relationships/image" Target="../media/image57.png"/><Relationship Id="rId7" Type="http://schemas.openxmlformats.org/officeDocument/2006/relationships/image" Target="../media/image37.png"/><Relationship Id="rId8" Type="http://schemas.openxmlformats.org/officeDocument/2006/relationships/image" Target="../media/image36.png"/></Relationships>
</file>

<file path=ppt/slides/_rels/slide20.xml.rels><?xml version="1.0" encoding="UTF-8" standalone="yes"?><Relationships xmlns="http://schemas.openxmlformats.org/package/2006/relationships"><Relationship Id="rId11" Type="http://schemas.openxmlformats.org/officeDocument/2006/relationships/image" Target="../media/image52.png"/><Relationship Id="rId10" Type="http://schemas.openxmlformats.org/officeDocument/2006/relationships/image" Target="../media/image49.png"/><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74.png"/><Relationship Id="rId4" Type="http://schemas.openxmlformats.org/officeDocument/2006/relationships/image" Target="../media/image47.png"/><Relationship Id="rId9" Type="http://schemas.openxmlformats.org/officeDocument/2006/relationships/image" Target="../media/image48.png"/><Relationship Id="rId5" Type="http://schemas.openxmlformats.org/officeDocument/2006/relationships/image" Target="../media/image42.png"/><Relationship Id="rId6" Type="http://schemas.openxmlformats.org/officeDocument/2006/relationships/image" Target="../media/image39.png"/><Relationship Id="rId7" Type="http://schemas.openxmlformats.org/officeDocument/2006/relationships/image" Target="../media/image46.png"/><Relationship Id="rId8" Type="http://schemas.openxmlformats.org/officeDocument/2006/relationships/image" Target="../media/image59.png"/></Relationships>
</file>

<file path=ppt/slides/_rels/slide21.xml.rels><?xml version="1.0" encoding="UTF-8" standalone="yes"?><Relationships xmlns="http://schemas.openxmlformats.org/package/2006/relationships"><Relationship Id="rId20" Type="http://schemas.openxmlformats.org/officeDocument/2006/relationships/image" Target="../media/image64.png"/><Relationship Id="rId11" Type="http://schemas.openxmlformats.org/officeDocument/2006/relationships/image" Target="../media/image78.png"/><Relationship Id="rId22" Type="http://schemas.openxmlformats.org/officeDocument/2006/relationships/image" Target="../media/image70.png"/><Relationship Id="rId10" Type="http://schemas.openxmlformats.org/officeDocument/2006/relationships/image" Target="../media/image54.png"/><Relationship Id="rId21" Type="http://schemas.openxmlformats.org/officeDocument/2006/relationships/image" Target="../media/image67.png"/><Relationship Id="rId13" Type="http://schemas.openxmlformats.org/officeDocument/2006/relationships/image" Target="../media/image72.png"/><Relationship Id="rId12" Type="http://schemas.openxmlformats.org/officeDocument/2006/relationships/image" Target="../media/image58.png"/><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3.png"/><Relationship Id="rId4" Type="http://schemas.openxmlformats.org/officeDocument/2006/relationships/image" Target="../media/image80.png"/><Relationship Id="rId9" Type="http://schemas.openxmlformats.org/officeDocument/2006/relationships/image" Target="../media/image76.png"/><Relationship Id="rId15" Type="http://schemas.openxmlformats.org/officeDocument/2006/relationships/image" Target="../media/image61.png"/><Relationship Id="rId14" Type="http://schemas.openxmlformats.org/officeDocument/2006/relationships/image" Target="../media/image63.png"/><Relationship Id="rId17" Type="http://schemas.openxmlformats.org/officeDocument/2006/relationships/image" Target="../media/image68.png"/><Relationship Id="rId16" Type="http://schemas.openxmlformats.org/officeDocument/2006/relationships/image" Target="../media/image84.png"/><Relationship Id="rId5" Type="http://schemas.openxmlformats.org/officeDocument/2006/relationships/image" Target="../media/image50.png"/><Relationship Id="rId19" Type="http://schemas.openxmlformats.org/officeDocument/2006/relationships/image" Target="../media/image66.png"/><Relationship Id="rId6" Type="http://schemas.openxmlformats.org/officeDocument/2006/relationships/image" Target="../media/image53.png"/><Relationship Id="rId18" Type="http://schemas.openxmlformats.org/officeDocument/2006/relationships/image" Target="../media/image91.png"/><Relationship Id="rId7" Type="http://schemas.openxmlformats.org/officeDocument/2006/relationships/image" Target="../media/image55.png"/><Relationship Id="rId8" Type="http://schemas.openxmlformats.org/officeDocument/2006/relationships/image" Target="../media/image5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image" Target="../media/image65.png"/><Relationship Id="rId4" Type="http://schemas.openxmlformats.org/officeDocument/2006/relationships/image" Target="../media/image99.jpg"/><Relationship Id="rId5" Type="http://schemas.openxmlformats.org/officeDocument/2006/relationships/image" Target="../media/image75.jpg"/><Relationship Id="rId6" Type="http://schemas.openxmlformats.org/officeDocument/2006/relationships/image" Target="../media/image71.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65.png"/><Relationship Id="rId4" Type="http://schemas.openxmlformats.org/officeDocument/2006/relationships/image" Target="../media/image77.jpg"/><Relationship Id="rId5" Type="http://schemas.openxmlformats.org/officeDocument/2006/relationships/image" Target="../media/image95.jpg"/><Relationship Id="rId6" Type="http://schemas.openxmlformats.org/officeDocument/2006/relationships/image" Target="../media/image104.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65.png"/><Relationship Id="rId4" Type="http://schemas.openxmlformats.org/officeDocument/2006/relationships/image" Target="../media/image85.png"/><Relationship Id="rId5" Type="http://schemas.openxmlformats.org/officeDocument/2006/relationships/image" Target="../media/image79.png"/><Relationship Id="rId6"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65.png"/><Relationship Id="rId4" Type="http://schemas.openxmlformats.org/officeDocument/2006/relationships/hyperlink" Target="https://drive.google.com/drive/u/2/folders/1wWumOuOrQ3ThGHDhK4IpxRZln_1zoFYC" TargetMode="External"/><Relationship Id="rId5" Type="http://schemas.openxmlformats.org/officeDocument/2006/relationships/image" Target="../media/image115.png"/><Relationship Id="rId6" Type="http://schemas.openxmlformats.org/officeDocument/2006/relationships/image" Target="../media/image102.png"/><Relationship Id="rId7" Type="http://schemas.openxmlformats.org/officeDocument/2006/relationships/hyperlink" Target="https://drive.google.com/drive/u/2/folders/1DFgRZ7CPcMEnwYdHWmFmvCou54Oe2syA" TargetMode="External"/><Relationship Id="rId8" Type="http://schemas.openxmlformats.org/officeDocument/2006/relationships/hyperlink" Target="https://drive.google.com/drive/u/2/folders/1F1T2SoVUn1VvKSCIAzpeA7xjXK6jp2TT"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comments" Target="../comments/comment1.xml"/><Relationship Id="rId4" Type="http://schemas.openxmlformats.org/officeDocument/2006/relationships/image" Target="../media/image65.png"/><Relationship Id="rId5" Type="http://schemas.openxmlformats.org/officeDocument/2006/relationships/image" Target="../media/image82.png"/><Relationship Id="rId6" Type="http://schemas.openxmlformats.org/officeDocument/2006/relationships/image" Target="../media/image8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65.png"/><Relationship Id="rId4" Type="http://schemas.openxmlformats.org/officeDocument/2006/relationships/image" Target="../media/image96.png"/><Relationship Id="rId5" Type="http://schemas.openxmlformats.org/officeDocument/2006/relationships/image" Target="../media/image86.png"/><Relationship Id="rId6" Type="http://schemas.openxmlformats.org/officeDocument/2006/relationships/image" Target="../media/image103.png"/><Relationship Id="rId7" Type="http://schemas.openxmlformats.org/officeDocument/2006/relationships/image" Target="../media/image90.png"/></Relationships>
</file>

<file path=ppt/slides/_rels/slide31.xml.rels><?xml version="1.0" encoding="UTF-8" standalone="yes"?><Relationships xmlns="http://schemas.openxmlformats.org/package/2006/relationships"><Relationship Id="rId10" Type="http://schemas.openxmlformats.org/officeDocument/2006/relationships/image" Target="../media/image92.png"/><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65.png"/><Relationship Id="rId4" Type="http://schemas.openxmlformats.org/officeDocument/2006/relationships/hyperlink" Target="https://form.tropezon.space" TargetMode="External"/><Relationship Id="rId9" Type="http://schemas.openxmlformats.org/officeDocument/2006/relationships/image" Target="../media/image88.png"/><Relationship Id="rId5" Type="http://schemas.openxmlformats.org/officeDocument/2006/relationships/image" Target="../media/image101.png"/><Relationship Id="rId6" Type="http://schemas.openxmlformats.org/officeDocument/2006/relationships/hyperlink" Target="https://tropezon.space/" TargetMode="External"/><Relationship Id="rId7" Type="http://schemas.openxmlformats.org/officeDocument/2006/relationships/image" Target="../media/image87.png"/><Relationship Id="rId8" Type="http://schemas.openxmlformats.org/officeDocument/2006/relationships/image" Target="../media/image8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2.xml"/><Relationship Id="rId3" Type="http://schemas.openxmlformats.org/officeDocument/2006/relationships/image" Target="../media/image65.png"/><Relationship Id="rId4" Type="http://schemas.openxmlformats.org/officeDocument/2006/relationships/image" Target="../media/image105.png"/><Relationship Id="rId5" Type="http://schemas.openxmlformats.org/officeDocument/2006/relationships/image" Target="../media/image113.png"/><Relationship Id="rId6" Type="http://schemas.openxmlformats.org/officeDocument/2006/relationships/image" Target="../media/image11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 Id="rId3" Type="http://schemas.openxmlformats.org/officeDocument/2006/relationships/image" Target="../media/image94.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 Id="rId3" Type="http://schemas.openxmlformats.org/officeDocument/2006/relationships/image" Target="../media/image9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 Id="rId3" Type="http://schemas.openxmlformats.org/officeDocument/2006/relationships/image" Target="../media/image9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 Id="rId3" Type="http://schemas.openxmlformats.org/officeDocument/2006/relationships/image" Target="../media/image10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 Id="rId3" Type="http://schemas.openxmlformats.org/officeDocument/2006/relationships/image" Target="../media/image98.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0.xml"/><Relationship Id="rId3" Type="http://schemas.openxmlformats.org/officeDocument/2006/relationships/image" Target="../media/image107.png"/><Relationship Id="rId4" Type="http://schemas.openxmlformats.org/officeDocument/2006/relationships/image" Target="../media/image119.png"/><Relationship Id="rId9" Type="http://schemas.openxmlformats.org/officeDocument/2006/relationships/image" Target="../media/image106.png"/><Relationship Id="rId5" Type="http://schemas.openxmlformats.org/officeDocument/2006/relationships/image" Target="../media/image117.png"/><Relationship Id="rId6" Type="http://schemas.openxmlformats.org/officeDocument/2006/relationships/image" Target="../media/image111.png"/><Relationship Id="rId7" Type="http://schemas.openxmlformats.org/officeDocument/2006/relationships/image" Target="../media/image109.png"/><Relationship Id="rId8" Type="http://schemas.openxmlformats.org/officeDocument/2006/relationships/image" Target="../media/image1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3"/>
          <p:cNvSpPr txBox="1"/>
          <p:nvPr>
            <p:ph type="ctrTitle"/>
          </p:nvPr>
        </p:nvSpPr>
        <p:spPr>
          <a:xfrm>
            <a:off x="3308349" y="8308775"/>
            <a:ext cx="87495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sz="4800"/>
              <a:t>Tropezón News</a:t>
            </a:r>
            <a:endParaRPr sz="4800"/>
          </a:p>
        </p:txBody>
      </p:sp>
      <p:sp>
        <p:nvSpPr>
          <p:cNvPr id="75" name="Google Shape;75;p3"/>
          <p:cNvSpPr txBox="1"/>
          <p:nvPr>
            <p:ph idx="1" type="subTitle"/>
          </p:nvPr>
        </p:nvSpPr>
        <p:spPr>
          <a:xfrm>
            <a:off x="3727450" y="9617075"/>
            <a:ext cx="7911300" cy="1477800"/>
          </a:xfrm>
          <a:prstGeom prst="rect">
            <a:avLst/>
          </a:prstGeom>
          <a:noFill/>
          <a:ln>
            <a:noFill/>
          </a:ln>
        </p:spPr>
        <p:txBody>
          <a:bodyPr anchorCtr="0" anchor="t" bIns="0" lIns="0" spcFirstLastPara="1" rIns="0" wrap="square" tIns="0">
            <a:spAutoFit/>
          </a:bodyPr>
          <a:lstStyle/>
          <a:p>
            <a:pPr indent="-342900" lvl="0" marL="342900" rtl="0" algn="l">
              <a:lnSpc>
                <a:spcPct val="100000"/>
              </a:lnSpc>
              <a:spcBef>
                <a:spcPts val="0"/>
              </a:spcBef>
              <a:spcAft>
                <a:spcPts val="0"/>
              </a:spcAft>
              <a:buClr>
                <a:schemeClr val="lt1"/>
              </a:buClr>
              <a:buSzPts val="2400"/>
              <a:buFont typeface="Arial"/>
              <a:buChar char="•"/>
            </a:pPr>
            <a:r>
              <a:rPr lang="es-CL"/>
              <a:t>Martin Diaz Estrada</a:t>
            </a:r>
            <a:endParaRPr/>
          </a:p>
          <a:p>
            <a:pPr indent="-342900" lvl="0" marL="342900" rtl="0" algn="l">
              <a:lnSpc>
                <a:spcPct val="100000"/>
              </a:lnSpc>
              <a:spcBef>
                <a:spcPts val="0"/>
              </a:spcBef>
              <a:spcAft>
                <a:spcPts val="0"/>
              </a:spcAft>
              <a:buClr>
                <a:schemeClr val="lt1"/>
              </a:buClr>
              <a:buSzPts val="2400"/>
              <a:buFont typeface="Arial"/>
              <a:buChar char="•"/>
            </a:pPr>
            <a:r>
              <a:rPr lang="es-CL"/>
              <a:t>Amir Awad</a:t>
            </a:r>
            <a:endParaRPr/>
          </a:p>
          <a:p>
            <a:pPr indent="-342900" lvl="0" marL="342900" rtl="0" algn="l">
              <a:lnSpc>
                <a:spcPct val="100000"/>
              </a:lnSpc>
              <a:spcBef>
                <a:spcPts val="0"/>
              </a:spcBef>
              <a:spcAft>
                <a:spcPts val="0"/>
              </a:spcAft>
              <a:buClr>
                <a:schemeClr val="lt1"/>
              </a:buClr>
              <a:buSzPts val="2400"/>
              <a:buFont typeface="Arial"/>
              <a:buChar char="•"/>
            </a:pPr>
            <a:r>
              <a:rPr lang="es-CL"/>
              <a:t>Gabriel Galvez</a:t>
            </a:r>
            <a:endParaRPr/>
          </a:p>
          <a:p>
            <a:pPr indent="-342900" lvl="0" marL="342900" rtl="0" algn="l">
              <a:lnSpc>
                <a:spcPct val="100000"/>
              </a:lnSpc>
              <a:spcBef>
                <a:spcPts val="0"/>
              </a:spcBef>
              <a:spcAft>
                <a:spcPts val="0"/>
              </a:spcAft>
              <a:buClr>
                <a:schemeClr val="lt1"/>
              </a:buClr>
              <a:buSzPts val="2400"/>
              <a:buFont typeface="Arial"/>
              <a:buChar char="•"/>
            </a:pPr>
            <a:r>
              <a:rPr lang="es-CL"/>
              <a:t>Jose Jimenez</a:t>
            </a:r>
            <a:r>
              <a:rPr b="1" lang="es-CL" sz="2400">
                <a:latin typeface="Arial"/>
                <a:ea typeface="Arial"/>
                <a:cs typeface="Arial"/>
                <a:sym typeface="Arial"/>
              </a:rPr>
              <a:t>				Maipú, </a:t>
            </a:r>
            <a:r>
              <a:rPr b="1" lang="es-CL"/>
              <a:t>18</a:t>
            </a:r>
            <a:r>
              <a:rPr b="1" lang="es-CL" sz="2400">
                <a:latin typeface="Arial"/>
                <a:ea typeface="Arial"/>
                <a:cs typeface="Arial"/>
                <a:sym typeface="Arial"/>
              </a:rPr>
              <a:t> Diciembre 202</a:t>
            </a:r>
            <a:r>
              <a:rPr b="1" lang="es-CL"/>
              <a:t>5</a:t>
            </a:r>
            <a:endParaRPr/>
          </a:p>
        </p:txBody>
      </p:sp>
      <p:sp>
        <p:nvSpPr>
          <p:cNvPr id="76" name="Google Shape;76;p3"/>
          <p:cNvSpPr/>
          <p:nvPr/>
        </p:nvSpPr>
        <p:spPr>
          <a:xfrm>
            <a:off x="14014450" y="3444875"/>
            <a:ext cx="4887877" cy="101566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lt1"/>
                </a:solidFill>
                <a:latin typeface="Arial Black"/>
                <a:ea typeface="Arial Black"/>
                <a:cs typeface="Arial Black"/>
                <a:sym typeface="Arial Black"/>
              </a:rPr>
              <a:t>CAPSTONE</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p:nvPr/>
        </p:nvSpPr>
        <p:spPr>
          <a:xfrm>
            <a:off x="9455125" y="344925"/>
            <a:ext cx="5357700" cy="1015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rgbClr val="000000"/>
                </a:solidFill>
                <a:latin typeface="Arial Black"/>
                <a:ea typeface="Arial Black"/>
                <a:cs typeface="Arial Black"/>
                <a:sym typeface="Arial Black"/>
              </a:rPr>
              <a:t>CONTENIDO</a:t>
            </a:r>
            <a:endParaRPr b="0" i="0" sz="1400" u="none" cap="none" strike="noStrike">
              <a:solidFill>
                <a:srgbClr val="000000"/>
              </a:solidFill>
              <a:latin typeface="Arial"/>
              <a:ea typeface="Arial"/>
              <a:cs typeface="Arial"/>
              <a:sym typeface="Arial"/>
            </a:endParaRPr>
          </a:p>
        </p:txBody>
      </p:sp>
      <p:sp>
        <p:nvSpPr>
          <p:cNvPr id="82" name="Google Shape;82;p4"/>
          <p:cNvSpPr txBox="1"/>
          <p:nvPr/>
        </p:nvSpPr>
        <p:spPr>
          <a:xfrm>
            <a:off x="9455125" y="164426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01</a:t>
            </a:r>
            <a:endParaRPr b="0" i="0" sz="1400" u="none" cap="none" strike="noStrike">
              <a:solidFill>
                <a:srgbClr val="000000"/>
              </a:solidFill>
              <a:latin typeface="Arial"/>
              <a:ea typeface="Arial"/>
              <a:cs typeface="Arial"/>
              <a:sym typeface="Arial"/>
            </a:endParaRPr>
          </a:p>
        </p:txBody>
      </p:sp>
      <p:sp>
        <p:nvSpPr>
          <p:cNvPr id="83" name="Google Shape;83;p4"/>
          <p:cNvSpPr txBox="1"/>
          <p:nvPr/>
        </p:nvSpPr>
        <p:spPr>
          <a:xfrm>
            <a:off x="9553737" y="3862102"/>
            <a:ext cx="4579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Contexto del Caso</a:t>
            </a:r>
            <a:endParaRPr b="0" i="0" sz="1400" u="none" cap="none" strike="noStrike">
              <a:solidFill>
                <a:srgbClr val="000000"/>
              </a:solidFill>
              <a:latin typeface="Arial"/>
              <a:ea typeface="Arial"/>
              <a:cs typeface="Arial"/>
              <a:sym typeface="Arial"/>
            </a:endParaRPr>
          </a:p>
        </p:txBody>
      </p:sp>
      <p:sp>
        <p:nvSpPr>
          <p:cNvPr id="84" name="Google Shape;84;p4"/>
          <p:cNvSpPr txBox="1"/>
          <p:nvPr/>
        </p:nvSpPr>
        <p:spPr>
          <a:xfrm>
            <a:off x="9553718" y="8991564"/>
            <a:ext cx="4728900" cy="507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1800"/>
              </a:spcBef>
              <a:spcAft>
                <a:spcPts val="400"/>
              </a:spcAft>
              <a:buClr>
                <a:schemeClr val="dk1"/>
              </a:buClr>
              <a:buSzPts val="1100"/>
              <a:buFont typeface="Arial"/>
              <a:buNone/>
            </a:pPr>
            <a:r>
              <a:rPr b="1" i="0" lang="es-CL" sz="3300" u="none" cap="none" strike="noStrike">
                <a:solidFill>
                  <a:schemeClr val="dk1"/>
                </a:solidFill>
                <a:latin typeface="Calibri"/>
                <a:ea typeface="Calibri"/>
                <a:cs typeface="Calibri"/>
                <a:sym typeface="Calibri"/>
              </a:rPr>
              <a:t>Alcance y Metodología</a:t>
            </a:r>
            <a:endParaRPr b="0" i="0" sz="100" u="none" cap="none" strike="noStrike">
              <a:solidFill>
                <a:schemeClr val="dk1"/>
              </a:solidFill>
              <a:latin typeface="Arial"/>
              <a:ea typeface="Arial"/>
              <a:cs typeface="Arial"/>
              <a:sym typeface="Arial"/>
            </a:endParaRPr>
          </a:p>
        </p:txBody>
      </p:sp>
      <p:sp>
        <p:nvSpPr>
          <p:cNvPr id="85" name="Google Shape;85;p4"/>
          <p:cNvSpPr txBox="1"/>
          <p:nvPr/>
        </p:nvSpPr>
        <p:spPr>
          <a:xfrm>
            <a:off x="9455125" y="3100102"/>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02</a:t>
            </a:r>
            <a:endParaRPr b="0" i="0" sz="1400" u="none" cap="none" strike="noStrike">
              <a:solidFill>
                <a:srgbClr val="000000"/>
              </a:solidFill>
              <a:latin typeface="Arial"/>
              <a:ea typeface="Arial"/>
              <a:cs typeface="Arial"/>
              <a:sym typeface="Arial"/>
            </a:endParaRPr>
          </a:p>
        </p:txBody>
      </p:sp>
      <p:sp>
        <p:nvSpPr>
          <p:cNvPr id="86" name="Google Shape;86;p4"/>
          <p:cNvSpPr txBox="1"/>
          <p:nvPr/>
        </p:nvSpPr>
        <p:spPr>
          <a:xfrm>
            <a:off x="9553724" y="655671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04</a:t>
            </a:r>
            <a:endParaRPr b="0" i="0" sz="1400" u="none" cap="none" strike="noStrike">
              <a:solidFill>
                <a:srgbClr val="000000"/>
              </a:solidFill>
              <a:latin typeface="Arial"/>
              <a:ea typeface="Arial"/>
              <a:cs typeface="Arial"/>
              <a:sym typeface="Arial"/>
            </a:endParaRPr>
          </a:p>
        </p:txBody>
      </p:sp>
      <p:sp>
        <p:nvSpPr>
          <p:cNvPr id="87" name="Google Shape;87;p4"/>
          <p:cNvSpPr txBox="1"/>
          <p:nvPr/>
        </p:nvSpPr>
        <p:spPr>
          <a:xfrm>
            <a:off x="9553737" y="5317931"/>
            <a:ext cx="41661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3000"/>
              <a:buFont typeface="Arial"/>
              <a:buNone/>
            </a:pPr>
            <a:r>
              <a:rPr b="1" i="0" lang="es-CL" sz="3000" u="none" cap="none" strike="noStrike">
                <a:solidFill>
                  <a:schemeClr val="dk1"/>
                </a:solidFill>
                <a:latin typeface="Arial"/>
                <a:ea typeface="Arial"/>
                <a:cs typeface="Arial"/>
                <a:sym typeface="Arial"/>
              </a:rPr>
              <a:t>Objetivo General y Específicos</a:t>
            </a:r>
            <a:endParaRPr b="0" i="0" sz="1400" u="none" cap="none" strike="noStrike">
              <a:solidFill>
                <a:srgbClr val="000000"/>
              </a:solidFill>
              <a:latin typeface="Arial"/>
              <a:ea typeface="Arial"/>
              <a:cs typeface="Arial"/>
              <a:sym typeface="Arial"/>
            </a:endParaRPr>
          </a:p>
        </p:txBody>
      </p:sp>
      <p:sp>
        <p:nvSpPr>
          <p:cNvPr id="88" name="Google Shape;88;p4"/>
          <p:cNvSpPr txBox="1"/>
          <p:nvPr/>
        </p:nvSpPr>
        <p:spPr>
          <a:xfrm>
            <a:off x="14812825" y="9050325"/>
            <a:ext cx="51144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Retrospectiva y Proyecciones</a:t>
            </a:r>
            <a:endParaRPr b="0" i="0" sz="1400" u="none" cap="none" strike="noStrike">
              <a:solidFill>
                <a:srgbClr val="000000"/>
              </a:solidFill>
              <a:latin typeface="Arial"/>
              <a:ea typeface="Arial"/>
              <a:cs typeface="Arial"/>
              <a:sym typeface="Arial"/>
            </a:endParaRPr>
          </a:p>
        </p:txBody>
      </p:sp>
      <p:sp>
        <p:nvSpPr>
          <p:cNvPr id="89" name="Google Shape;89;p4"/>
          <p:cNvSpPr txBox="1"/>
          <p:nvPr/>
        </p:nvSpPr>
        <p:spPr>
          <a:xfrm>
            <a:off x="9553737" y="4555931"/>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03</a:t>
            </a:r>
            <a:endParaRPr b="0" i="0" sz="1400" u="none" cap="none" strike="noStrike">
              <a:solidFill>
                <a:srgbClr val="000000"/>
              </a:solidFill>
              <a:latin typeface="Arial"/>
              <a:ea typeface="Arial"/>
              <a:cs typeface="Arial"/>
              <a:sym typeface="Arial"/>
            </a:endParaRPr>
          </a:p>
        </p:txBody>
      </p:sp>
      <p:sp>
        <p:nvSpPr>
          <p:cNvPr id="90" name="Google Shape;90;p4"/>
          <p:cNvSpPr txBox="1"/>
          <p:nvPr/>
        </p:nvSpPr>
        <p:spPr>
          <a:xfrm>
            <a:off x="14722524" y="655671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10</a:t>
            </a:r>
            <a:endParaRPr b="0" i="0" sz="1400" u="none" cap="none" strike="noStrike">
              <a:solidFill>
                <a:srgbClr val="000000"/>
              </a:solidFill>
              <a:latin typeface="Arial"/>
              <a:ea typeface="Arial"/>
              <a:cs typeface="Arial"/>
              <a:sym typeface="Arial"/>
            </a:endParaRPr>
          </a:p>
        </p:txBody>
      </p:sp>
      <p:sp>
        <p:nvSpPr>
          <p:cNvPr id="91" name="Google Shape;91;p4"/>
          <p:cNvSpPr txBox="1"/>
          <p:nvPr/>
        </p:nvSpPr>
        <p:spPr>
          <a:xfrm>
            <a:off x="9553737" y="2406263"/>
            <a:ext cx="45792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Equipo de Trabajo</a:t>
            </a:r>
            <a:endParaRPr b="0" i="0" sz="1400" u="none" cap="none" strike="noStrike">
              <a:solidFill>
                <a:srgbClr val="000000"/>
              </a:solidFill>
              <a:latin typeface="Arial"/>
              <a:ea typeface="Arial"/>
              <a:cs typeface="Arial"/>
              <a:sym typeface="Arial"/>
            </a:endParaRPr>
          </a:p>
        </p:txBody>
      </p:sp>
      <p:sp>
        <p:nvSpPr>
          <p:cNvPr id="92" name="Google Shape;92;p4"/>
          <p:cNvSpPr txBox="1"/>
          <p:nvPr/>
        </p:nvSpPr>
        <p:spPr>
          <a:xfrm>
            <a:off x="14809524" y="7453363"/>
            <a:ext cx="39099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Propuesta Técnica </a:t>
            </a:r>
            <a:endParaRPr b="0" i="0" sz="1400" u="none" cap="none" strike="noStrike">
              <a:solidFill>
                <a:srgbClr val="000000"/>
              </a:solidFill>
              <a:latin typeface="Arial"/>
              <a:ea typeface="Arial"/>
              <a:cs typeface="Arial"/>
              <a:sym typeface="Arial"/>
            </a:endParaRPr>
          </a:p>
        </p:txBody>
      </p:sp>
      <p:sp>
        <p:nvSpPr>
          <p:cNvPr id="93" name="Google Shape;93;p4"/>
          <p:cNvSpPr txBox="1"/>
          <p:nvPr/>
        </p:nvSpPr>
        <p:spPr>
          <a:xfrm>
            <a:off x="14686624" y="824213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11</a:t>
            </a:r>
            <a:endParaRPr b="0" i="0" sz="1400" u="none" cap="none" strike="noStrike">
              <a:solidFill>
                <a:srgbClr val="000000"/>
              </a:solidFill>
              <a:latin typeface="Arial"/>
              <a:ea typeface="Arial"/>
              <a:cs typeface="Arial"/>
              <a:sym typeface="Arial"/>
            </a:endParaRPr>
          </a:p>
        </p:txBody>
      </p:sp>
      <p:sp>
        <p:nvSpPr>
          <p:cNvPr id="94" name="Google Shape;94;p4"/>
          <p:cNvSpPr txBox="1"/>
          <p:nvPr/>
        </p:nvSpPr>
        <p:spPr>
          <a:xfrm>
            <a:off x="14639226" y="2406275"/>
            <a:ext cx="4473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Diseño Front-End y QA</a:t>
            </a:r>
            <a:endParaRPr b="0" i="0" sz="1400" u="none" cap="none" strike="noStrike">
              <a:solidFill>
                <a:srgbClr val="000000"/>
              </a:solidFill>
              <a:latin typeface="Arial"/>
              <a:ea typeface="Arial"/>
              <a:cs typeface="Arial"/>
              <a:sym typeface="Arial"/>
            </a:endParaRPr>
          </a:p>
        </p:txBody>
      </p:sp>
      <p:sp>
        <p:nvSpPr>
          <p:cNvPr id="95" name="Google Shape;95;p4"/>
          <p:cNvSpPr txBox="1"/>
          <p:nvPr/>
        </p:nvSpPr>
        <p:spPr>
          <a:xfrm>
            <a:off x="14516324" y="1644285"/>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07</a:t>
            </a:r>
            <a:endParaRPr b="0" i="0" sz="1400" u="none" cap="none" strike="noStrike">
              <a:solidFill>
                <a:srgbClr val="000000"/>
              </a:solidFill>
              <a:latin typeface="Arial"/>
              <a:ea typeface="Arial"/>
              <a:cs typeface="Arial"/>
              <a:sym typeface="Arial"/>
            </a:endParaRPr>
          </a:p>
        </p:txBody>
      </p:sp>
      <p:sp>
        <p:nvSpPr>
          <p:cNvPr id="96" name="Google Shape;96;p4"/>
          <p:cNvSpPr txBox="1"/>
          <p:nvPr/>
        </p:nvSpPr>
        <p:spPr>
          <a:xfrm>
            <a:off x="14672565" y="3913523"/>
            <a:ext cx="41838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Raci</a:t>
            </a:r>
            <a:endParaRPr b="0" i="0" sz="1400" u="none" cap="none" strike="noStrike">
              <a:solidFill>
                <a:srgbClr val="000000"/>
              </a:solidFill>
              <a:latin typeface="Arial"/>
              <a:ea typeface="Arial"/>
              <a:cs typeface="Arial"/>
              <a:sym typeface="Arial"/>
            </a:endParaRPr>
          </a:p>
        </p:txBody>
      </p:sp>
      <p:sp>
        <p:nvSpPr>
          <p:cNvPr id="97" name="Google Shape;97;p4"/>
          <p:cNvSpPr txBox="1"/>
          <p:nvPr/>
        </p:nvSpPr>
        <p:spPr>
          <a:xfrm>
            <a:off x="14563724" y="3100110"/>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08</a:t>
            </a:r>
            <a:endParaRPr b="0" i="0" sz="1400" u="none" cap="none" strike="noStrike">
              <a:solidFill>
                <a:srgbClr val="000000"/>
              </a:solidFill>
              <a:latin typeface="Arial"/>
              <a:ea typeface="Arial"/>
              <a:cs typeface="Arial"/>
              <a:sym typeface="Arial"/>
            </a:endParaRPr>
          </a:p>
        </p:txBody>
      </p:sp>
      <p:sp>
        <p:nvSpPr>
          <p:cNvPr id="98" name="Google Shape;98;p4"/>
          <p:cNvSpPr txBox="1"/>
          <p:nvPr/>
        </p:nvSpPr>
        <p:spPr>
          <a:xfrm>
            <a:off x="14762126" y="5440250"/>
            <a:ext cx="4473300" cy="461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000"/>
              <a:buFont typeface="Arial"/>
              <a:buNone/>
            </a:pPr>
            <a:r>
              <a:rPr b="1" i="0" lang="es-CL" sz="3000" u="none" cap="none" strike="noStrike">
                <a:solidFill>
                  <a:schemeClr val="dk1"/>
                </a:solidFill>
                <a:latin typeface="Arial"/>
                <a:ea typeface="Arial"/>
                <a:cs typeface="Arial"/>
                <a:sym typeface="Arial"/>
              </a:rPr>
              <a:t>Evidencias y Resultados</a:t>
            </a:r>
            <a:endParaRPr b="0" i="0" sz="1400" u="none" cap="none" strike="noStrike">
              <a:solidFill>
                <a:srgbClr val="000000"/>
              </a:solidFill>
              <a:latin typeface="Arial"/>
              <a:ea typeface="Arial"/>
              <a:cs typeface="Arial"/>
              <a:sym typeface="Arial"/>
            </a:endParaRPr>
          </a:p>
        </p:txBody>
      </p:sp>
      <p:sp>
        <p:nvSpPr>
          <p:cNvPr id="99" name="Google Shape;99;p4"/>
          <p:cNvSpPr txBox="1"/>
          <p:nvPr/>
        </p:nvSpPr>
        <p:spPr>
          <a:xfrm>
            <a:off x="14639224" y="4678260"/>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09</a:t>
            </a:r>
            <a:endParaRPr b="0" i="0" sz="1400" u="none" cap="none" strike="noStrike">
              <a:solidFill>
                <a:srgbClr val="000000"/>
              </a:solidFill>
              <a:latin typeface="Arial"/>
              <a:ea typeface="Arial"/>
              <a:cs typeface="Arial"/>
              <a:sym typeface="Arial"/>
            </a:endParaRPr>
          </a:p>
        </p:txBody>
      </p:sp>
      <p:sp>
        <p:nvSpPr>
          <p:cNvPr id="100" name="Google Shape;100;p4"/>
          <p:cNvSpPr txBox="1"/>
          <p:nvPr/>
        </p:nvSpPr>
        <p:spPr>
          <a:xfrm>
            <a:off x="9610575" y="7371875"/>
            <a:ext cx="4846800" cy="12006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3000"/>
              <a:buFont typeface="Arial"/>
              <a:buNone/>
            </a:pPr>
            <a:r>
              <a:rPr b="1" i="0" lang="es-CL" sz="3000" u="none" cap="none" strike="noStrike">
                <a:solidFill>
                  <a:schemeClr val="dk1"/>
                </a:solidFill>
                <a:latin typeface="Arial"/>
                <a:ea typeface="Arial"/>
                <a:cs typeface="Arial"/>
                <a:sym typeface="Arial"/>
              </a:rPr>
              <a:t>Equipo y Roles</a:t>
            </a:r>
            <a:endParaRPr b="0" i="0" sz="1400" u="none" cap="none" strike="noStrike">
              <a:solidFill>
                <a:schemeClr val="dk1"/>
              </a:solidFill>
              <a:latin typeface="Arial"/>
              <a:ea typeface="Arial"/>
              <a:cs typeface="Arial"/>
              <a:sym typeface="Arial"/>
            </a:endParaRPr>
          </a:p>
          <a:p>
            <a:pPr indent="0" lvl="0" marL="0" marR="0" rtl="0" algn="l">
              <a:lnSpc>
                <a:spcPct val="115000"/>
              </a:lnSpc>
              <a:spcBef>
                <a:spcPts val="1800"/>
              </a:spcBef>
              <a:spcAft>
                <a:spcPts val="400"/>
              </a:spcAft>
              <a:buClr>
                <a:schemeClr val="dk1"/>
              </a:buClr>
              <a:buSzPts val="1100"/>
              <a:buFont typeface="Arial"/>
              <a:buNone/>
            </a:pPr>
            <a:r>
              <a:t/>
            </a:r>
            <a:endParaRPr b="1" i="0" sz="3300" u="none" cap="none" strike="noStrike">
              <a:solidFill>
                <a:schemeClr val="dk1"/>
              </a:solidFill>
              <a:latin typeface="Calibri"/>
              <a:ea typeface="Calibri"/>
              <a:cs typeface="Calibri"/>
              <a:sym typeface="Calibri"/>
            </a:endParaRPr>
          </a:p>
        </p:txBody>
      </p:sp>
      <p:sp>
        <p:nvSpPr>
          <p:cNvPr id="101" name="Google Shape;101;p4"/>
          <p:cNvSpPr txBox="1"/>
          <p:nvPr/>
        </p:nvSpPr>
        <p:spPr>
          <a:xfrm>
            <a:off x="9553724" y="812691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05</a:t>
            </a:r>
            <a:endParaRPr b="0" i="0" sz="1400" u="none" cap="none" strike="noStrike">
              <a:solidFill>
                <a:srgbClr val="000000"/>
              </a:solidFill>
              <a:latin typeface="Arial"/>
              <a:ea typeface="Arial"/>
              <a:cs typeface="Arial"/>
              <a:sym typeface="Arial"/>
            </a:endParaRPr>
          </a:p>
        </p:txBody>
      </p:sp>
      <p:sp>
        <p:nvSpPr>
          <p:cNvPr id="102" name="Google Shape;102;p4"/>
          <p:cNvSpPr txBox="1"/>
          <p:nvPr/>
        </p:nvSpPr>
        <p:spPr>
          <a:xfrm>
            <a:off x="9669518" y="10228464"/>
            <a:ext cx="47289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chemeClr val="dk1"/>
              </a:buClr>
              <a:buSzPts val="3000"/>
              <a:buFont typeface="Arial"/>
              <a:buNone/>
            </a:pPr>
            <a:r>
              <a:rPr b="1" i="0" lang="es-CL" sz="3000" u="none" cap="none" strike="noStrike">
                <a:solidFill>
                  <a:schemeClr val="dk1"/>
                </a:solidFill>
                <a:latin typeface="Arial"/>
                <a:ea typeface="Arial"/>
                <a:cs typeface="Arial"/>
                <a:sym typeface="Arial"/>
              </a:rPr>
              <a:t>Propuesta Técnica y Modelo de Datos</a:t>
            </a:r>
            <a:endParaRPr b="0" i="0" sz="100" u="none" cap="none" strike="noStrike">
              <a:solidFill>
                <a:schemeClr val="dk1"/>
              </a:solidFill>
              <a:latin typeface="Arial"/>
              <a:ea typeface="Arial"/>
              <a:cs typeface="Arial"/>
              <a:sym typeface="Arial"/>
            </a:endParaRPr>
          </a:p>
        </p:txBody>
      </p:sp>
      <p:sp>
        <p:nvSpPr>
          <p:cNvPr id="103" name="Google Shape;103;p4"/>
          <p:cNvSpPr txBox="1"/>
          <p:nvPr/>
        </p:nvSpPr>
        <p:spPr>
          <a:xfrm>
            <a:off x="9553724" y="9466464"/>
            <a:ext cx="1066800" cy="923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dk1"/>
                </a:solidFill>
                <a:latin typeface="Arial Black"/>
                <a:ea typeface="Arial Black"/>
                <a:cs typeface="Arial Black"/>
                <a:sym typeface="Arial Black"/>
              </a:rPr>
              <a:t>06</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413250" y="7559675"/>
            <a:ext cx="10134600" cy="10158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sz="6600"/>
              <a:t>Equipo de Trabajo</a:t>
            </a:r>
            <a:endParaRPr/>
          </a:p>
        </p:txBody>
      </p:sp>
      <p:sp>
        <p:nvSpPr>
          <p:cNvPr id="109" name="Google Shape;109;p5"/>
          <p:cNvSpPr txBox="1"/>
          <p:nvPr/>
        </p:nvSpPr>
        <p:spPr>
          <a:xfrm>
            <a:off x="12677531" y="6082347"/>
            <a:ext cx="1905000" cy="147732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9600"/>
              <a:buFont typeface="Arial"/>
              <a:buNone/>
            </a:pPr>
            <a:r>
              <a:rPr b="1" i="0" lang="es-CL" sz="9600" u="none" cap="none" strike="noStrike">
                <a:solidFill>
                  <a:schemeClr val="dk1"/>
                </a:solidFill>
                <a:latin typeface="Arial Black"/>
                <a:ea typeface="Arial Black"/>
                <a:cs typeface="Arial Black"/>
                <a:sym typeface="Arial Black"/>
              </a:rPr>
              <a:t>01</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nvSpPr>
        <p:spPr>
          <a:xfrm>
            <a:off x="1394650" y="8209525"/>
            <a:ext cx="3075000" cy="73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CL" sz="1800" u="none" cap="none" strike="noStrike">
                <a:solidFill>
                  <a:srgbClr val="000000"/>
                </a:solidFill>
                <a:latin typeface="Calibri"/>
                <a:ea typeface="Calibri"/>
                <a:cs typeface="Calibri"/>
                <a:sym typeface="Calibri"/>
              </a:rPr>
              <a:t>Martin Ignacio Diaz Estrada</a:t>
            </a: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Prac. People Analytics Verisure</a:t>
            </a:r>
            <a:endParaRPr b="0" i="0" sz="1800" u="none" cap="none" strike="noStrike">
              <a:solidFill>
                <a:srgbClr val="000000"/>
              </a:solidFill>
              <a:latin typeface="Calibri"/>
              <a:ea typeface="Calibri"/>
              <a:cs typeface="Calibri"/>
              <a:sym typeface="Calibri"/>
            </a:endParaRPr>
          </a:p>
        </p:txBody>
      </p:sp>
      <p:sp>
        <p:nvSpPr>
          <p:cNvPr id="115" name="Google Shape;115;p6"/>
          <p:cNvSpPr txBox="1"/>
          <p:nvPr/>
        </p:nvSpPr>
        <p:spPr>
          <a:xfrm>
            <a:off x="6058100" y="8209525"/>
            <a:ext cx="3075000" cy="73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CL" sz="1800" u="none" cap="none" strike="noStrike">
                <a:solidFill>
                  <a:srgbClr val="000000"/>
                </a:solidFill>
                <a:latin typeface="Calibri"/>
                <a:ea typeface="Calibri"/>
                <a:cs typeface="Calibri"/>
                <a:sym typeface="Calibri"/>
              </a:rPr>
              <a:t>Amir Awad</a:t>
            </a: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Prac. Desarrollador web frontend / backend DigiPlus</a:t>
            </a:r>
            <a:endParaRPr b="0" i="0" sz="1800" u="none" cap="none" strike="noStrike">
              <a:solidFill>
                <a:srgbClr val="000000"/>
              </a:solidFill>
              <a:latin typeface="Calibri"/>
              <a:ea typeface="Calibri"/>
              <a:cs typeface="Calibri"/>
              <a:sym typeface="Calibri"/>
            </a:endParaRPr>
          </a:p>
        </p:txBody>
      </p:sp>
      <p:sp>
        <p:nvSpPr>
          <p:cNvPr id="116" name="Google Shape;116;p6"/>
          <p:cNvSpPr txBox="1"/>
          <p:nvPr/>
        </p:nvSpPr>
        <p:spPr>
          <a:xfrm>
            <a:off x="11522075" y="8361475"/>
            <a:ext cx="3075000" cy="73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CL" sz="1800" u="none" cap="none" strike="noStrike">
                <a:solidFill>
                  <a:srgbClr val="000000"/>
                </a:solidFill>
                <a:latin typeface="Calibri"/>
                <a:ea typeface="Calibri"/>
                <a:cs typeface="Calibri"/>
                <a:sym typeface="Calibri"/>
              </a:rPr>
              <a:t>Gabriel Hernan Galvez Silva</a:t>
            </a: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Prac. Soporte ti y desarrollador web TEXPRO- </a:t>
            </a:r>
            <a:endParaRPr b="0" i="0" sz="18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17" name="Google Shape;117;p6"/>
          <p:cNvSpPr txBox="1"/>
          <p:nvPr/>
        </p:nvSpPr>
        <p:spPr>
          <a:xfrm>
            <a:off x="15849300" y="8209525"/>
            <a:ext cx="3607200" cy="1042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s-CL" sz="1800" u="none" cap="none" strike="noStrike">
                <a:solidFill>
                  <a:srgbClr val="000000"/>
                </a:solidFill>
                <a:latin typeface="Calibri"/>
                <a:ea typeface="Calibri"/>
                <a:cs typeface="Calibri"/>
                <a:sym typeface="Calibri"/>
              </a:rPr>
              <a:t>Jose Jimenez</a:t>
            </a:r>
            <a:br>
              <a:rPr b="0" i="0" lang="es-CL" sz="1800" u="none" cap="none" strike="noStrike">
                <a:solidFill>
                  <a:srgbClr val="000000"/>
                </a:solidFill>
                <a:latin typeface="Calibri"/>
                <a:ea typeface="Calibri"/>
                <a:cs typeface="Calibri"/>
                <a:sym typeface="Calibri"/>
              </a:rPr>
            </a:br>
            <a:r>
              <a:rPr b="0" i="1" lang="es-CL" sz="1800" u="none" cap="none" strike="noStrike">
                <a:solidFill>
                  <a:srgbClr val="0F004F"/>
                </a:solidFill>
                <a:highlight>
                  <a:srgbClr val="FFFFFF"/>
                </a:highlight>
                <a:latin typeface="Calibri"/>
                <a:ea typeface="Calibri"/>
                <a:cs typeface="Calibri"/>
                <a:sym typeface="Calibri"/>
              </a:rPr>
              <a:t>Practicante </a:t>
            </a:r>
            <a:r>
              <a:rPr b="0" i="0" lang="es-CL" sz="1800" u="none" cap="none" strike="noStrike">
                <a:solidFill>
                  <a:srgbClr val="0F004F"/>
                </a:solidFill>
                <a:highlight>
                  <a:srgbClr val="FFFFFF"/>
                </a:highlight>
                <a:latin typeface="Calibri"/>
                <a:ea typeface="Calibri"/>
                <a:cs typeface="Calibri"/>
                <a:sym typeface="Calibri"/>
              </a:rPr>
              <a:t>Supply Chain</a:t>
            </a:r>
            <a:endParaRPr b="0" i="0" sz="1800" u="none" cap="none" strike="noStrike">
              <a:solidFill>
                <a:srgbClr val="0F004F"/>
              </a:solidFill>
              <a:highlight>
                <a:srgbClr val="FFFFFF"/>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800"/>
              <a:buFont typeface="Arial"/>
              <a:buNone/>
            </a:pPr>
            <a:r>
              <a:rPr b="0" i="0" lang="es-CL" sz="1800" u="none" cap="none" strike="noStrike">
                <a:solidFill>
                  <a:srgbClr val="0F004F"/>
                </a:solidFill>
                <a:highlight>
                  <a:srgbClr val="FFFFFF"/>
                </a:highlight>
                <a:latin typeface="Calibri"/>
                <a:ea typeface="Calibri"/>
                <a:cs typeface="Calibri"/>
                <a:sym typeface="Calibri"/>
              </a:rPr>
              <a:t>Subgerencia Supply Chain APV &amp; Cat</a:t>
            </a:r>
            <a:endParaRPr b="0" i="0" sz="1800" u="none" cap="none" strike="noStrike">
              <a:solidFill>
                <a:srgbClr val="0F004F"/>
              </a:solidFill>
              <a:highlight>
                <a:srgbClr val="FFFFFF"/>
              </a:highlight>
              <a:latin typeface="Calibri"/>
              <a:ea typeface="Calibri"/>
              <a:cs typeface="Calibri"/>
              <a:sym typeface="Calibri"/>
            </a:endParaRPr>
          </a:p>
          <a:p>
            <a:pPr indent="0" lvl="0" marL="0" marR="0" rtl="0" algn="l">
              <a:lnSpc>
                <a:spcPct val="115000"/>
              </a:lnSpc>
              <a:spcBef>
                <a:spcPts val="0"/>
              </a:spcBef>
              <a:spcAft>
                <a:spcPts val="0"/>
              </a:spcAft>
              <a:buClr>
                <a:srgbClr val="000000"/>
              </a:buClr>
              <a:buSzPts val="1800"/>
              <a:buFont typeface="Arial"/>
              <a:buNone/>
            </a:pPr>
            <a:r>
              <a:rPr b="0" i="0" lang="es-CL" sz="1800" u="none" cap="none" strike="noStrike">
                <a:solidFill>
                  <a:srgbClr val="0F004F"/>
                </a:solidFill>
                <a:highlight>
                  <a:srgbClr val="FFFFFF"/>
                </a:highlight>
                <a:latin typeface="Calibri"/>
                <a:ea typeface="Calibri"/>
                <a:cs typeface="Calibri"/>
                <a:sym typeface="Calibri"/>
              </a:rPr>
              <a:t>		    Latam Airlines</a:t>
            </a:r>
            <a:endParaRPr b="0" i="0" sz="1800" u="none" cap="none" strike="noStrike">
              <a:solidFill>
                <a:srgbClr val="0F004F"/>
              </a:solidFill>
              <a:highlight>
                <a:srgbClr val="FFFFFF"/>
              </a:highlight>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id="118" name="Google Shape;118;p6"/>
          <p:cNvPicPr preferRelativeResize="0"/>
          <p:nvPr/>
        </p:nvPicPr>
        <p:blipFill rotWithShape="1">
          <a:blip r:embed="rId3">
            <a:alphaModFix/>
          </a:blip>
          <a:srcRect b="0" l="0" r="0" t="0"/>
          <a:stretch/>
        </p:blipFill>
        <p:spPr>
          <a:xfrm>
            <a:off x="16293650" y="4338973"/>
            <a:ext cx="2902899" cy="3870552"/>
          </a:xfrm>
          <a:prstGeom prst="rect">
            <a:avLst/>
          </a:prstGeom>
          <a:noFill/>
          <a:ln>
            <a:noFill/>
          </a:ln>
        </p:spPr>
      </p:pic>
      <p:pic>
        <p:nvPicPr>
          <p:cNvPr id="119" name="Google Shape;119;p6"/>
          <p:cNvPicPr preferRelativeResize="0"/>
          <p:nvPr/>
        </p:nvPicPr>
        <p:blipFill rotWithShape="1">
          <a:blip r:embed="rId4">
            <a:alphaModFix/>
          </a:blip>
          <a:srcRect b="0" l="0" r="0" t="0"/>
          <a:stretch/>
        </p:blipFill>
        <p:spPr>
          <a:xfrm>
            <a:off x="11916226" y="4360406"/>
            <a:ext cx="2569300" cy="3849119"/>
          </a:xfrm>
          <a:prstGeom prst="rect">
            <a:avLst/>
          </a:prstGeom>
          <a:noFill/>
          <a:ln>
            <a:noFill/>
          </a:ln>
        </p:spPr>
      </p:pic>
      <p:pic>
        <p:nvPicPr>
          <p:cNvPr id="120" name="Google Shape;120;p6"/>
          <p:cNvPicPr preferRelativeResize="0"/>
          <p:nvPr/>
        </p:nvPicPr>
        <p:blipFill rotWithShape="1">
          <a:blip r:embed="rId5">
            <a:alphaModFix/>
          </a:blip>
          <a:srcRect b="-3299" l="-3300" r="3298" t="3300"/>
          <a:stretch/>
        </p:blipFill>
        <p:spPr>
          <a:xfrm>
            <a:off x="6144142" y="3281413"/>
            <a:ext cx="2902896" cy="5080068"/>
          </a:xfrm>
          <a:prstGeom prst="rect">
            <a:avLst/>
          </a:prstGeom>
          <a:noFill/>
          <a:ln>
            <a:noFill/>
          </a:ln>
        </p:spPr>
      </p:pic>
      <p:pic>
        <p:nvPicPr>
          <p:cNvPr id="121" name="Google Shape;121;p6"/>
          <p:cNvPicPr preferRelativeResize="0"/>
          <p:nvPr/>
        </p:nvPicPr>
        <p:blipFill rotWithShape="1">
          <a:blip r:embed="rId6">
            <a:alphaModFix/>
          </a:blip>
          <a:srcRect b="0" l="0" r="0" t="0"/>
          <a:stretch/>
        </p:blipFill>
        <p:spPr>
          <a:xfrm>
            <a:off x="1411288" y="4097500"/>
            <a:ext cx="3041706" cy="405560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nvSpPr>
        <p:spPr>
          <a:xfrm>
            <a:off x="8159750" y="6250622"/>
            <a:ext cx="1905000" cy="147732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02</a:t>
            </a:r>
            <a:endParaRPr b="0" i="0" sz="1400" u="none" cap="none" strike="noStrike">
              <a:solidFill>
                <a:srgbClr val="000000"/>
              </a:solidFill>
              <a:latin typeface="Arial"/>
              <a:ea typeface="Arial"/>
              <a:cs typeface="Arial"/>
              <a:sym typeface="Arial"/>
            </a:endParaRPr>
          </a:p>
        </p:txBody>
      </p:sp>
      <p:sp>
        <p:nvSpPr>
          <p:cNvPr id="127" name="Google Shape;127;p7"/>
          <p:cNvSpPr txBox="1"/>
          <p:nvPr/>
        </p:nvSpPr>
        <p:spPr>
          <a:xfrm>
            <a:off x="1517650" y="7712075"/>
            <a:ext cx="8305800" cy="73890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4800"/>
              <a:buFont typeface="Arial"/>
              <a:buNone/>
            </a:pPr>
            <a:r>
              <a:rPr b="1" i="0" lang="es-CL" sz="4800" u="none" cap="none" strike="noStrike">
                <a:solidFill>
                  <a:schemeClr val="lt1"/>
                </a:solidFill>
                <a:latin typeface="Arial"/>
                <a:ea typeface="Arial"/>
                <a:cs typeface="Arial"/>
                <a:sym typeface="Arial"/>
              </a:rPr>
              <a:t>Contexto Del Caso</a:t>
            </a:r>
            <a:endParaRPr b="1" i="0" sz="4800" u="none" cap="none" strike="noStrike">
              <a:solidFill>
                <a:schemeClr val="lt1"/>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pic>
        <p:nvPicPr>
          <p:cNvPr id="132" name="Google Shape;132;p8" title="FOOTER-SIN-LOGO (1).png"/>
          <p:cNvPicPr preferRelativeResize="0"/>
          <p:nvPr/>
        </p:nvPicPr>
        <p:blipFill rotWithShape="1">
          <a:blip r:embed="rId3">
            <a:alphaModFix/>
          </a:blip>
          <a:srcRect b="0" l="0" r="0" t="0"/>
          <a:stretch/>
        </p:blipFill>
        <p:spPr>
          <a:xfrm>
            <a:off x="10821475" y="510825"/>
            <a:ext cx="6342748" cy="2107625"/>
          </a:xfrm>
          <a:prstGeom prst="rect">
            <a:avLst/>
          </a:prstGeom>
          <a:noFill/>
          <a:ln>
            <a:noFill/>
          </a:ln>
        </p:spPr>
      </p:pic>
      <p:pic>
        <p:nvPicPr>
          <p:cNvPr id="133" name="Google Shape;133;p8" title="LOGO-TROPEZON (1).png"/>
          <p:cNvPicPr preferRelativeResize="0"/>
          <p:nvPr/>
        </p:nvPicPr>
        <p:blipFill rotWithShape="1">
          <a:blip r:embed="rId4">
            <a:alphaModFix/>
          </a:blip>
          <a:srcRect b="0" l="0" r="0" t="0"/>
          <a:stretch/>
        </p:blipFill>
        <p:spPr>
          <a:xfrm>
            <a:off x="11148375" y="332024"/>
            <a:ext cx="5790652" cy="2465225"/>
          </a:xfrm>
          <a:prstGeom prst="rect">
            <a:avLst/>
          </a:prstGeom>
          <a:noFill/>
          <a:ln>
            <a:noFill/>
          </a:ln>
        </p:spPr>
      </p:pic>
      <p:sp>
        <p:nvSpPr>
          <p:cNvPr id="134" name="Google Shape;134;p8"/>
          <p:cNvSpPr txBox="1"/>
          <p:nvPr/>
        </p:nvSpPr>
        <p:spPr>
          <a:xfrm>
            <a:off x="543275" y="280350"/>
            <a:ext cx="4218900" cy="92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900"/>
              <a:buFont typeface="Arial"/>
              <a:buNone/>
            </a:pPr>
            <a:r>
              <a:rPr b="1" i="0" lang="es-CL" sz="3900" u="none" cap="none" strike="noStrike">
                <a:solidFill>
                  <a:srgbClr val="000000"/>
                </a:solidFill>
                <a:latin typeface="Calibri"/>
                <a:ea typeface="Calibri"/>
                <a:cs typeface="Calibri"/>
                <a:sym typeface="Calibri"/>
              </a:rPr>
              <a:t>¿Que Es Tropezón?</a:t>
            </a:r>
            <a:endParaRPr b="1" i="0" sz="3900" u="none" cap="none" strike="noStrike">
              <a:solidFill>
                <a:srgbClr val="000000"/>
              </a:solidFill>
              <a:latin typeface="Calibri"/>
              <a:ea typeface="Calibri"/>
              <a:cs typeface="Calibri"/>
              <a:sym typeface="Calibri"/>
            </a:endParaRPr>
          </a:p>
        </p:txBody>
      </p:sp>
      <p:sp>
        <p:nvSpPr>
          <p:cNvPr id="135" name="Google Shape;135;p8"/>
          <p:cNvSpPr txBox="1"/>
          <p:nvPr/>
        </p:nvSpPr>
        <p:spPr>
          <a:xfrm>
            <a:off x="733875" y="1195275"/>
            <a:ext cx="5946900" cy="109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chemeClr val="dk1"/>
                </a:solidFill>
                <a:latin typeface="Calibri"/>
                <a:ea typeface="Calibri"/>
                <a:cs typeface="Calibri"/>
                <a:sym typeface="Calibri"/>
              </a:rPr>
              <a:t>Diario de comunas de pudahuel y comunas aledañas que a operado por 18 años mostrando y apoyando a su comunidad con noticias de la zona y de interés público.</a:t>
            </a:r>
            <a:endParaRPr b="0" i="0" sz="1800" u="none" cap="none" strike="noStrike">
              <a:solidFill>
                <a:srgbClr val="000000"/>
              </a:solidFill>
              <a:latin typeface="Calibri"/>
              <a:ea typeface="Calibri"/>
              <a:cs typeface="Calibri"/>
              <a:sym typeface="Calibri"/>
            </a:endParaRPr>
          </a:p>
        </p:txBody>
      </p:sp>
      <p:sp>
        <p:nvSpPr>
          <p:cNvPr id="136" name="Google Shape;136;p8"/>
          <p:cNvSpPr txBox="1"/>
          <p:nvPr/>
        </p:nvSpPr>
        <p:spPr>
          <a:xfrm>
            <a:off x="543275" y="3178475"/>
            <a:ext cx="6671100" cy="78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s-CL" sz="3400" u="none" cap="none" strike="noStrike">
                <a:solidFill>
                  <a:srgbClr val="000000"/>
                </a:solidFill>
                <a:latin typeface="Calibri"/>
                <a:ea typeface="Calibri"/>
                <a:cs typeface="Calibri"/>
                <a:sym typeface="Calibri"/>
              </a:rPr>
              <a:t>¿Qué Problemática Tiene Tropezón?</a:t>
            </a:r>
            <a:endParaRPr b="1" i="0" sz="3400" u="none" cap="none" strike="noStrike">
              <a:solidFill>
                <a:srgbClr val="000000"/>
              </a:solidFill>
              <a:latin typeface="Calibri"/>
              <a:ea typeface="Calibri"/>
              <a:cs typeface="Calibri"/>
              <a:sym typeface="Calibri"/>
            </a:endParaRPr>
          </a:p>
        </p:txBody>
      </p:sp>
      <p:sp>
        <p:nvSpPr>
          <p:cNvPr id="137" name="Google Shape;137;p8"/>
          <p:cNvSpPr txBox="1"/>
          <p:nvPr/>
        </p:nvSpPr>
        <p:spPr>
          <a:xfrm>
            <a:off x="606825" y="4244975"/>
            <a:ext cx="7916400" cy="453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chemeClr val="dk1"/>
                </a:solidFill>
                <a:latin typeface="Calibri"/>
                <a:ea typeface="Calibri"/>
                <a:cs typeface="Calibri"/>
                <a:sym typeface="Calibri"/>
              </a:rPr>
              <a:t>Actual proceso de recepción y publicación de noticias se genera de forma manual generando un alto retraso en el proceso de analizar noticias, prepararlas y publicarlas. </a:t>
            </a:r>
            <a:r>
              <a:rPr b="1" i="0" lang="es-CL" sz="1800" u="none" cap="none" strike="noStrike">
                <a:solidFill>
                  <a:schemeClr val="dk1"/>
                </a:solidFill>
                <a:latin typeface="Calibri"/>
                <a:ea typeface="Calibri"/>
                <a:cs typeface="Calibri"/>
                <a:sym typeface="Calibri"/>
              </a:rPr>
              <a:t>Tiempo por publicación de noticia 30 - 40 minutos.</a:t>
            </a:r>
            <a:endParaRPr b="0" i="0" sz="1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800"/>
              <a:buFont typeface="Arial"/>
              <a:buNone/>
            </a:pP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Estética Visual Poco Atractiva y poca interacción con las noticias. </a:t>
            </a:r>
            <a:r>
              <a:rPr b="1" i="0" lang="es-CL" sz="1800" u="none" cap="none" strike="noStrike">
                <a:solidFill>
                  <a:srgbClr val="000000"/>
                </a:solidFill>
                <a:latin typeface="Calibri"/>
                <a:ea typeface="Calibri"/>
                <a:cs typeface="Calibri"/>
                <a:sym typeface="Calibri"/>
              </a:rPr>
              <a:t>Estética básica sin estructura basada en importancia ni interés visual por parte de los visitantes </a:t>
            </a:r>
            <a:br>
              <a:rPr b="0" i="0" lang="es-CL" sz="1800" u="none" cap="none" strike="noStrike">
                <a:solidFill>
                  <a:srgbClr val="000000"/>
                </a:solidFill>
                <a:latin typeface="Calibri"/>
                <a:ea typeface="Calibri"/>
                <a:cs typeface="Calibri"/>
                <a:sym typeface="Calibri"/>
              </a:rPr>
            </a:b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Ningún sistema de optimización de contenido y de SEO para la página ni sistemas de Interacción con los clientes que consumen su medio. </a:t>
            </a:r>
            <a:r>
              <a:rPr b="1" i="0" lang="es-CL" sz="1800" u="none" cap="none" strike="noStrike">
                <a:solidFill>
                  <a:srgbClr val="000000"/>
                </a:solidFill>
                <a:latin typeface="Calibri"/>
                <a:ea typeface="Calibri"/>
                <a:cs typeface="Calibri"/>
                <a:sym typeface="Calibri"/>
              </a:rPr>
              <a:t>Ningún sistema de palabras claves para aumentar posicionamiento o visualización de noticias</a:t>
            </a:r>
            <a:br>
              <a:rPr b="0" i="0" lang="es-CL" sz="1800" u="none" cap="none" strike="noStrike">
                <a:solidFill>
                  <a:srgbClr val="000000"/>
                </a:solidFill>
                <a:latin typeface="Calibri"/>
                <a:ea typeface="Calibri"/>
                <a:cs typeface="Calibri"/>
                <a:sym typeface="Calibri"/>
              </a:rPr>
            </a:b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Ningún método de monetización generada gracias a la página web generando una gran carga económica para el dueño del medio de comunicación </a:t>
            </a:r>
            <a:r>
              <a:rPr b="1" i="0" lang="es-CL" sz="1800" u="none" cap="none" strike="noStrike">
                <a:solidFill>
                  <a:srgbClr val="000000"/>
                </a:solidFill>
                <a:latin typeface="Calibri"/>
                <a:ea typeface="Calibri"/>
                <a:cs typeface="Calibri"/>
                <a:sym typeface="Calibri"/>
              </a:rPr>
              <a:t>Monetización generada por las noticias publicadas en Facebook ronda los </a:t>
            </a:r>
            <a:r>
              <a:rPr b="1" i="0" lang="es-CL" sz="1800" u="sng" cap="none" strike="noStrike">
                <a:solidFill>
                  <a:srgbClr val="000000"/>
                </a:solidFill>
                <a:latin typeface="Calibri"/>
                <a:ea typeface="Calibri"/>
                <a:cs typeface="Calibri"/>
                <a:sym typeface="Calibri"/>
              </a:rPr>
              <a:t>2-14 CLP</a:t>
            </a:r>
            <a:r>
              <a:rPr b="1" i="0" lang="es-CL" sz="1800" u="none" cap="none" strike="noStrike">
                <a:solidFill>
                  <a:srgbClr val="000000"/>
                </a:solidFill>
                <a:latin typeface="Calibri"/>
                <a:ea typeface="Calibri"/>
                <a:cs typeface="Calibri"/>
                <a:sym typeface="Calibri"/>
              </a:rPr>
              <a:t>. Generando una nula ganancia para el medio</a:t>
            </a:r>
            <a:endParaRPr b="1" i="0" sz="1800" u="none" cap="none" strike="noStrike">
              <a:solidFill>
                <a:srgbClr val="000000"/>
              </a:solidFill>
              <a:latin typeface="Calibri"/>
              <a:ea typeface="Calibri"/>
              <a:cs typeface="Calibri"/>
              <a:sym typeface="Calibri"/>
            </a:endParaRPr>
          </a:p>
        </p:txBody>
      </p:sp>
      <p:sp>
        <p:nvSpPr>
          <p:cNvPr id="138" name="Google Shape;138;p8"/>
          <p:cNvSpPr/>
          <p:nvPr/>
        </p:nvSpPr>
        <p:spPr>
          <a:xfrm>
            <a:off x="10721700" y="3266525"/>
            <a:ext cx="7700400" cy="6798300"/>
          </a:xfrm>
          <a:prstGeom prst="roundRect">
            <a:avLst>
              <a:gd fmla="val 16667"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39" name="Google Shape;139;p8"/>
          <p:cNvSpPr txBox="1"/>
          <p:nvPr/>
        </p:nvSpPr>
        <p:spPr>
          <a:xfrm>
            <a:off x="11591600" y="7332800"/>
            <a:ext cx="6131700" cy="181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1" lang="es-CL" sz="1800" u="none" cap="none" strike="noStrike">
                <a:solidFill>
                  <a:srgbClr val="000000"/>
                </a:solidFill>
                <a:latin typeface="Calibri"/>
                <a:ea typeface="Calibri"/>
                <a:cs typeface="Calibri"/>
                <a:sym typeface="Calibri"/>
              </a:rPr>
              <a:t>“Buscamos que tropezón sea algo más que un diario que la gente lea, queremos que sea un apoyo a la comunidad que si la señora del bazar tiene una noticia que contar que vea que somos el medio para que la cuente y que la gente se identifique”</a:t>
            </a:r>
            <a:endParaRPr b="0" i="1" sz="1800" u="none" cap="none" strike="noStrike">
              <a:solidFill>
                <a:srgbClr val="000000"/>
              </a:solidFill>
              <a:latin typeface="Calibri"/>
              <a:ea typeface="Calibri"/>
              <a:cs typeface="Calibri"/>
              <a:sym typeface="Calibri"/>
            </a:endParaRPr>
          </a:p>
        </p:txBody>
      </p:sp>
      <p:sp>
        <p:nvSpPr>
          <p:cNvPr id="140" name="Google Shape;140;p8"/>
          <p:cNvSpPr txBox="1"/>
          <p:nvPr/>
        </p:nvSpPr>
        <p:spPr>
          <a:xfrm>
            <a:off x="11148375" y="8781275"/>
            <a:ext cx="6774900" cy="5463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s-CL" sz="1800" u="none" cap="none" strike="noStrike">
                <a:solidFill>
                  <a:srgbClr val="000000"/>
                </a:solidFill>
                <a:latin typeface="Calibri"/>
                <a:ea typeface="Calibri"/>
                <a:cs typeface="Calibri"/>
                <a:sym typeface="Calibri"/>
              </a:rPr>
              <a:t>Gabriel Riveros - Dueño diario Tropezon</a:t>
            </a:r>
            <a:br>
              <a:rPr b="0" i="0" lang="es-CL" sz="1800" u="none" cap="none" strike="noStrike">
                <a:solidFill>
                  <a:srgbClr val="000000"/>
                </a:solidFill>
                <a:latin typeface="Calibri"/>
                <a:ea typeface="Calibri"/>
                <a:cs typeface="Calibri"/>
                <a:sym typeface="Calibri"/>
              </a:rPr>
            </a:br>
            <a:r>
              <a:rPr b="0" i="0" lang="es-CL" sz="1800" u="none" cap="none" strike="noStrike">
                <a:solidFill>
                  <a:srgbClr val="000000"/>
                </a:solidFill>
                <a:latin typeface="Calibri"/>
                <a:ea typeface="Calibri"/>
                <a:cs typeface="Calibri"/>
                <a:sym typeface="Calibri"/>
              </a:rPr>
              <a:t>Frase recuperada de primera reunión presencial junto al equipo Tropezón  y el equipo de trabajo.</a:t>
            </a:r>
            <a:endParaRPr b="0" i="0" sz="1800" u="none" cap="none" strike="noStrike">
              <a:solidFill>
                <a:srgbClr val="000000"/>
              </a:solidFill>
              <a:latin typeface="Calibri"/>
              <a:ea typeface="Calibri"/>
              <a:cs typeface="Calibri"/>
              <a:sym typeface="Calibri"/>
            </a:endParaRPr>
          </a:p>
        </p:txBody>
      </p:sp>
      <p:pic>
        <p:nvPicPr>
          <p:cNvPr id="141" name="Google Shape;141;p8"/>
          <p:cNvPicPr preferRelativeResize="0"/>
          <p:nvPr/>
        </p:nvPicPr>
        <p:blipFill rotWithShape="1">
          <a:blip r:embed="rId5">
            <a:alphaModFix/>
          </a:blip>
          <a:srcRect b="0" l="0" r="0" t="0"/>
          <a:stretch/>
        </p:blipFill>
        <p:spPr>
          <a:xfrm>
            <a:off x="8229175" y="453937"/>
            <a:ext cx="2221400" cy="2221400"/>
          </a:xfrm>
          <a:prstGeom prst="rect">
            <a:avLst/>
          </a:prstGeom>
          <a:noFill/>
          <a:ln>
            <a:noFill/>
          </a:ln>
        </p:spPr>
      </p:pic>
      <p:pic>
        <p:nvPicPr>
          <p:cNvPr id="142" name="Google Shape;142;p8"/>
          <p:cNvPicPr preferRelativeResize="0"/>
          <p:nvPr/>
        </p:nvPicPr>
        <p:blipFill rotWithShape="1">
          <a:blip r:embed="rId6">
            <a:alphaModFix/>
          </a:blip>
          <a:srcRect b="0" l="0" r="0" t="0"/>
          <a:stretch/>
        </p:blipFill>
        <p:spPr>
          <a:xfrm>
            <a:off x="13160959" y="3266525"/>
            <a:ext cx="2992976" cy="40321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9"/>
          <p:cNvSpPr txBox="1"/>
          <p:nvPr>
            <p:ph type="title"/>
          </p:nvPr>
        </p:nvSpPr>
        <p:spPr>
          <a:xfrm rot="104">
            <a:off x="3661394" y="4268953"/>
            <a:ext cx="9930300" cy="40635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SzPts val="1400"/>
              <a:buNone/>
            </a:pPr>
            <a:r>
              <a:rPr lang="es-CL" sz="6600">
                <a:latin typeface="Calibri"/>
                <a:ea typeface="Calibri"/>
                <a:cs typeface="Calibri"/>
                <a:sym typeface="Calibri"/>
              </a:rPr>
              <a:t>Objetivo General y Específicos </a:t>
            </a:r>
            <a:endParaRPr sz="6600">
              <a:latin typeface="Roboto"/>
              <a:ea typeface="Roboto"/>
              <a:cs typeface="Roboto"/>
              <a:sym typeface="Roboto"/>
            </a:endParaRPr>
          </a:p>
          <a:p>
            <a:pPr indent="0" lvl="0" marL="0" rtl="0" algn="r">
              <a:lnSpc>
                <a:spcPct val="100000"/>
              </a:lnSpc>
              <a:spcBef>
                <a:spcPts val="0"/>
              </a:spcBef>
              <a:spcAft>
                <a:spcPts val="0"/>
              </a:spcAft>
              <a:buSzPts val="1400"/>
              <a:buNone/>
            </a:pPr>
            <a:r>
              <a:t/>
            </a:r>
            <a:endParaRPr sz="6600"/>
          </a:p>
        </p:txBody>
      </p:sp>
      <p:sp>
        <p:nvSpPr>
          <p:cNvPr id="148" name="Google Shape;148;p9"/>
          <p:cNvSpPr txBox="1"/>
          <p:nvPr/>
        </p:nvSpPr>
        <p:spPr>
          <a:xfrm>
            <a:off x="8949397" y="2207550"/>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chemeClr val="dk1"/>
                </a:solidFill>
                <a:latin typeface="Arial Black"/>
                <a:ea typeface="Arial Black"/>
                <a:cs typeface="Arial Black"/>
                <a:sym typeface="Arial Black"/>
              </a:rPr>
              <a:t>03</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0"/>
          <p:cNvSpPr/>
          <p:nvPr/>
        </p:nvSpPr>
        <p:spPr>
          <a:xfrm>
            <a:off x="835625" y="3025100"/>
            <a:ext cx="7840200" cy="7230300"/>
          </a:xfrm>
          <a:prstGeom prst="roundRect">
            <a:avLst>
              <a:gd fmla="val 16667" name="adj"/>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4" name="Google Shape;154;p10"/>
          <p:cNvSpPr txBox="1"/>
          <p:nvPr/>
        </p:nvSpPr>
        <p:spPr>
          <a:xfrm>
            <a:off x="985925" y="3923650"/>
            <a:ext cx="7539600" cy="68019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chemeClr val="lt1"/>
              </a:buClr>
              <a:buSzPts val="2200"/>
              <a:buFont typeface="Calibri"/>
              <a:buChar char="●"/>
            </a:pPr>
            <a:r>
              <a:rPr b="1" i="0" lang="es-CL" sz="2100" u="none" cap="none" strike="noStrike">
                <a:solidFill>
                  <a:schemeClr val="lt1"/>
                </a:solidFill>
                <a:latin typeface="Calibri"/>
                <a:ea typeface="Calibri"/>
                <a:cs typeface="Calibri"/>
                <a:sym typeface="Calibri"/>
              </a:rPr>
              <a:t>Modernizar el portal web</a:t>
            </a:r>
            <a:r>
              <a:rPr b="0" i="0" lang="es-CL" sz="2100" u="none" cap="none" strike="noStrike">
                <a:solidFill>
                  <a:schemeClr val="lt1"/>
                </a:solidFill>
                <a:latin typeface="Calibri"/>
                <a:ea typeface="Calibri"/>
                <a:cs typeface="Calibri"/>
                <a:sym typeface="Calibri"/>
              </a:rPr>
              <a:t> mediante la implementación de un CMS WordPress con diseño responsive basado en Elementor.</a:t>
            </a:r>
            <a:endParaRPr b="0" i="0" sz="2100" u="none" cap="none" strike="noStrike">
              <a:solidFill>
                <a:schemeClr val="lt1"/>
              </a:solidFill>
              <a:latin typeface="Calibri"/>
              <a:ea typeface="Calibri"/>
              <a:cs typeface="Calibri"/>
              <a:sym typeface="Calibri"/>
            </a:endParaRPr>
          </a:p>
          <a:p>
            <a:pPr indent="-368300" lvl="0" marL="457200" marR="0" rtl="0" algn="l">
              <a:lnSpc>
                <a:spcPct val="100000"/>
              </a:lnSpc>
              <a:spcBef>
                <a:spcPts val="0"/>
              </a:spcBef>
              <a:spcAft>
                <a:spcPts val="0"/>
              </a:spcAft>
              <a:buClr>
                <a:schemeClr val="lt1"/>
              </a:buClr>
              <a:buSzPts val="2200"/>
              <a:buFont typeface="Calibri"/>
              <a:buChar char="●"/>
            </a:pPr>
            <a:r>
              <a:rPr b="1" i="0" lang="es-CL" sz="2100" u="none" cap="none" strike="noStrike">
                <a:solidFill>
                  <a:schemeClr val="lt1"/>
                </a:solidFill>
                <a:latin typeface="Calibri"/>
                <a:ea typeface="Calibri"/>
                <a:cs typeface="Calibri"/>
                <a:sym typeface="Calibri"/>
              </a:rPr>
              <a:t>Optimizar el panel editorial</a:t>
            </a:r>
            <a:r>
              <a:rPr b="0" i="0" lang="es-CL" sz="2100" u="none" cap="none" strike="noStrike">
                <a:solidFill>
                  <a:schemeClr val="lt1"/>
                </a:solidFill>
                <a:latin typeface="Calibri"/>
                <a:ea typeface="Calibri"/>
                <a:cs typeface="Calibri"/>
                <a:sym typeface="Calibri"/>
              </a:rPr>
              <a:t> para mejorar la agilidad en la creación y gestión de contenidos.</a:t>
            </a:r>
            <a:endParaRPr b="0" i="0" sz="2100" u="none" cap="none" strike="noStrike">
              <a:solidFill>
                <a:schemeClr val="lt1"/>
              </a:solidFill>
              <a:latin typeface="Calibri"/>
              <a:ea typeface="Calibri"/>
              <a:cs typeface="Calibri"/>
              <a:sym typeface="Calibri"/>
            </a:endParaRPr>
          </a:p>
          <a:p>
            <a:pPr indent="-368300" lvl="0" marL="457200" marR="0" rtl="0" algn="l">
              <a:lnSpc>
                <a:spcPct val="100000"/>
              </a:lnSpc>
              <a:spcBef>
                <a:spcPts val="0"/>
              </a:spcBef>
              <a:spcAft>
                <a:spcPts val="0"/>
              </a:spcAft>
              <a:buClr>
                <a:schemeClr val="lt1"/>
              </a:buClr>
              <a:buSzPts val="2200"/>
              <a:buFont typeface="Calibri"/>
              <a:buChar char="●"/>
            </a:pPr>
            <a:r>
              <a:rPr b="1" i="0" lang="es-CL" sz="2100" u="none" cap="none" strike="noStrike">
                <a:solidFill>
                  <a:schemeClr val="lt1"/>
                </a:solidFill>
                <a:latin typeface="Calibri"/>
                <a:ea typeface="Calibri"/>
                <a:cs typeface="Calibri"/>
                <a:sym typeface="Calibri"/>
              </a:rPr>
              <a:t>Realizar la migración histórica del contenido</a:t>
            </a:r>
            <a:r>
              <a:rPr b="0" i="0" lang="es-CL" sz="2100" u="none" cap="none" strike="noStrike">
                <a:solidFill>
                  <a:schemeClr val="lt1"/>
                </a:solidFill>
                <a:latin typeface="Calibri"/>
                <a:ea typeface="Calibri"/>
                <a:cs typeface="Calibri"/>
                <a:sym typeface="Calibri"/>
              </a:rPr>
              <a:t> sin pérdida de información, asegurando continuidad operativa.</a:t>
            </a:r>
            <a:endParaRPr b="0" i="0" sz="2100" u="none" cap="none" strike="noStrike">
              <a:solidFill>
                <a:schemeClr val="lt1"/>
              </a:solidFill>
              <a:latin typeface="Calibri"/>
              <a:ea typeface="Calibri"/>
              <a:cs typeface="Calibri"/>
              <a:sym typeface="Calibri"/>
            </a:endParaRPr>
          </a:p>
          <a:p>
            <a:pPr indent="-368300" lvl="0" marL="457200" marR="0" rtl="0" algn="l">
              <a:lnSpc>
                <a:spcPct val="100000"/>
              </a:lnSpc>
              <a:spcBef>
                <a:spcPts val="0"/>
              </a:spcBef>
              <a:spcAft>
                <a:spcPts val="0"/>
              </a:spcAft>
              <a:buClr>
                <a:schemeClr val="lt1"/>
              </a:buClr>
              <a:buSzPts val="2200"/>
              <a:buFont typeface="Calibri"/>
              <a:buChar char="●"/>
            </a:pPr>
            <a:r>
              <a:rPr b="1" i="0" lang="es-CL" sz="2100" u="none" cap="none" strike="noStrike">
                <a:solidFill>
                  <a:schemeClr val="lt1"/>
                </a:solidFill>
                <a:latin typeface="Calibri"/>
                <a:ea typeface="Calibri"/>
                <a:cs typeface="Calibri"/>
                <a:sym typeface="Calibri"/>
              </a:rPr>
              <a:t>Capacitar a los usuarios del sistema</a:t>
            </a:r>
            <a:r>
              <a:rPr b="0" i="0" lang="es-CL" sz="2100" u="none" cap="none" strike="noStrike">
                <a:solidFill>
                  <a:schemeClr val="lt1"/>
                </a:solidFill>
                <a:latin typeface="Calibri"/>
                <a:ea typeface="Calibri"/>
                <a:cs typeface="Calibri"/>
                <a:sym typeface="Calibri"/>
              </a:rPr>
              <a:t> para garantizar un uso eficiente del nuevo portal.</a:t>
            </a:r>
            <a:endParaRPr b="0" i="0" sz="21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a:p>
            <a:pPr indent="-361950" lvl="0" marL="457200" marR="0" rtl="0" algn="l">
              <a:lnSpc>
                <a:spcPct val="100000"/>
              </a:lnSpc>
              <a:spcBef>
                <a:spcPts val="0"/>
              </a:spcBef>
              <a:spcAft>
                <a:spcPts val="0"/>
              </a:spcAft>
              <a:buClr>
                <a:schemeClr val="lt1"/>
              </a:buClr>
              <a:buSzPts val="2100"/>
              <a:buFont typeface="Calibri"/>
              <a:buChar char="●"/>
            </a:pPr>
            <a:r>
              <a:rPr b="1" i="0" lang="es-CL" sz="2100" u="none" cap="none" strike="noStrike">
                <a:solidFill>
                  <a:schemeClr val="lt1"/>
                </a:solidFill>
                <a:latin typeface="Calibri"/>
                <a:ea typeface="Calibri"/>
                <a:cs typeface="Calibri"/>
                <a:sym typeface="Calibri"/>
              </a:rPr>
              <a:t>Potenciar la experiencia de los segmentos de usuarios</a:t>
            </a:r>
            <a:r>
              <a:rPr b="0" i="0" lang="es-CL" sz="2100" u="none" cap="none" strike="noStrike">
                <a:solidFill>
                  <a:schemeClr val="lt1"/>
                </a:solidFill>
                <a:latin typeface="Calibri"/>
                <a:ea typeface="Calibri"/>
                <a:cs typeface="Calibri"/>
                <a:sym typeface="Calibri"/>
              </a:rPr>
              <a:t> (lectores digitales, equipo editorial y columnistas) entregando acceso inmediato, autogestión de publicaciones, SEO optimizado y una navegación más rápida y atractiva.</a:t>
            </a:r>
            <a:endParaRPr b="0" i="0" sz="2100" u="none" cap="none" strike="noStrike">
              <a:solidFill>
                <a:schemeClr val="lt1"/>
              </a:solidFill>
              <a:latin typeface="Calibri"/>
              <a:ea typeface="Calibri"/>
              <a:cs typeface="Calibri"/>
              <a:sym typeface="Calibri"/>
            </a:endParaRPr>
          </a:p>
        </p:txBody>
      </p:sp>
      <p:sp>
        <p:nvSpPr>
          <p:cNvPr id="155" name="Google Shape;155;p10"/>
          <p:cNvSpPr txBox="1"/>
          <p:nvPr/>
        </p:nvSpPr>
        <p:spPr>
          <a:xfrm>
            <a:off x="1475825" y="1918700"/>
            <a:ext cx="6559800" cy="103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CL" sz="5000" u="none" cap="none" strike="noStrike">
                <a:solidFill>
                  <a:srgbClr val="000000"/>
                </a:solidFill>
                <a:latin typeface="Calibri"/>
                <a:ea typeface="Calibri"/>
                <a:cs typeface="Calibri"/>
                <a:sym typeface="Calibri"/>
              </a:rPr>
              <a:t>Objetivos Generales</a:t>
            </a:r>
            <a:endParaRPr b="0" i="0" sz="5000" u="none" cap="none" strike="noStrike">
              <a:solidFill>
                <a:srgbClr val="000000"/>
              </a:solidFill>
              <a:latin typeface="Calibri"/>
              <a:ea typeface="Calibri"/>
              <a:cs typeface="Calibri"/>
              <a:sym typeface="Calibri"/>
            </a:endParaRPr>
          </a:p>
        </p:txBody>
      </p:sp>
      <p:cxnSp>
        <p:nvCxnSpPr>
          <p:cNvPr id="156" name="Google Shape;156;p10"/>
          <p:cNvCxnSpPr/>
          <p:nvPr/>
        </p:nvCxnSpPr>
        <p:spPr>
          <a:xfrm flipH="1" rot="10800000">
            <a:off x="1084925" y="7040525"/>
            <a:ext cx="6950700" cy="12600"/>
          </a:xfrm>
          <a:prstGeom prst="straightConnector1">
            <a:avLst/>
          </a:prstGeom>
          <a:noFill/>
          <a:ln cap="flat" cmpd="sng" w="9525">
            <a:solidFill>
              <a:schemeClr val="accent6"/>
            </a:solidFill>
            <a:prstDash val="solid"/>
            <a:round/>
            <a:headEnd len="sm" w="sm" type="none"/>
            <a:tailEnd len="sm" w="sm" type="none"/>
          </a:ln>
        </p:spPr>
      </p:cxnSp>
      <p:sp>
        <p:nvSpPr>
          <p:cNvPr id="157" name="Google Shape;157;p10"/>
          <p:cNvSpPr/>
          <p:nvPr/>
        </p:nvSpPr>
        <p:spPr>
          <a:xfrm>
            <a:off x="9222250" y="5401325"/>
            <a:ext cx="3596100" cy="1639200"/>
          </a:xfrm>
          <a:prstGeom prst="rightArrow">
            <a:avLst>
              <a:gd fmla="val 50000" name="adj1"/>
              <a:gd fmla="val 50000" name="adj2"/>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8" name="Google Shape;158;p10"/>
          <p:cNvSpPr/>
          <p:nvPr/>
        </p:nvSpPr>
        <p:spPr>
          <a:xfrm>
            <a:off x="13034400" y="3025100"/>
            <a:ext cx="6645600" cy="6975900"/>
          </a:xfrm>
          <a:prstGeom prst="roundRect">
            <a:avLst>
              <a:gd fmla="val 16667" name="adj"/>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59" name="Google Shape;159;p10"/>
          <p:cNvSpPr txBox="1"/>
          <p:nvPr/>
        </p:nvSpPr>
        <p:spPr>
          <a:xfrm>
            <a:off x="13120200" y="1740650"/>
            <a:ext cx="6559800" cy="103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CL" sz="5000" u="none" cap="none" strike="noStrike">
                <a:solidFill>
                  <a:srgbClr val="000000"/>
                </a:solidFill>
                <a:latin typeface="Calibri"/>
                <a:ea typeface="Calibri"/>
                <a:cs typeface="Calibri"/>
                <a:sym typeface="Calibri"/>
              </a:rPr>
              <a:t>Objetivos de Específicos</a:t>
            </a:r>
            <a:endParaRPr b="0" i="0" sz="5000" u="none" cap="none" strike="noStrike">
              <a:solidFill>
                <a:srgbClr val="000000"/>
              </a:solidFill>
              <a:latin typeface="Calibri"/>
              <a:ea typeface="Calibri"/>
              <a:cs typeface="Calibri"/>
              <a:sym typeface="Calibri"/>
            </a:endParaRPr>
          </a:p>
        </p:txBody>
      </p:sp>
      <p:sp>
        <p:nvSpPr>
          <p:cNvPr id="160" name="Google Shape;160;p10"/>
          <p:cNvSpPr txBox="1"/>
          <p:nvPr/>
        </p:nvSpPr>
        <p:spPr>
          <a:xfrm>
            <a:off x="13784125" y="3419025"/>
            <a:ext cx="5121000" cy="55275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0"/>
              </a:spcBef>
              <a:spcAft>
                <a:spcPts val="0"/>
              </a:spcAft>
              <a:buClr>
                <a:schemeClr val="lt1"/>
              </a:buClr>
              <a:buSzPts val="2100"/>
              <a:buFont typeface="Calibri"/>
              <a:buChar char="●"/>
            </a:pPr>
            <a:r>
              <a:rPr b="1" i="0" lang="es-CL" sz="2100" u="none" cap="none" strike="noStrike">
                <a:solidFill>
                  <a:schemeClr val="lt1"/>
                </a:solidFill>
                <a:latin typeface="Calibri"/>
                <a:ea typeface="Calibri"/>
                <a:cs typeface="Calibri"/>
                <a:sym typeface="Calibri"/>
              </a:rPr>
              <a:t>Reducir los tiempos de publicación de noticias</a:t>
            </a:r>
            <a:r>
              <a:rPr b="0" i="0" lang="es-CL" sz="2100" u="none" cap="none" strike="noStrike">
                <a:solidFill>
                  <a:schemeClr val="lt1"/>
                </a:solidFill>
                <a:latin typeface="Calibri"/>
                <a:ea typeface="Calibri"/>
                <a:cs typeface="Calibri"/>
                <a:sym typeface="Calibri"/>
              </a:rPr>
              <a:t> mediante la definición e implementación de procesos claros y estandarizados.</a:t>
            </a:r>
            <a:br>
              <a:rPr b="0" i="0" lang="es-CL" sz="2100" u="none" cap="none" strike="noStrike">
                <a:solidFill>
                  <a:schemeClr val="lt1"/>
                </a:solidFill>
                <a:latin typeface="Calibri"/>
                <a:ea typeface="Calibri"/>
                <a:cs typeface="Calibri"/>
                <a:sym typeface="Calibri"/>
              </a:rPr>
            </a:br>
            <a:endParaRPr b="0" i="0" sz="2100" u="none" cap="none" strike="noStrike">
              <a:solidFill>
                <a:schemeClr val="lt1"/>
              </a:solidFill>
              <a:latin typeface="Calibri"/>
              <a:ea typeface="Calibri"/>
              <a:cs typeface="Calibri"/>
              <a:sym typeface="Calibri"/>
            </a:endParaRPr>
          </a:p>
          <a:p>
            <a:pPr indent="-361950" lvl="0" marL="457200" marR="0" rtl="0" algn="l">
              <a:lnSpc>
                <a:spcPct val="100000"/>
              </a:lnSpc>
              <a:spcBef>
                <a:spcPts val="0"/>
              </a:spcBef>
              <a:spcAft>
                <a:spcPts val="0"/>
              </a:spcAft>
              <a:buClr>
                <a:schemeClr val="lt1"/>
              </a:buClr>
              <a:buSzPts val="2100"/>
              <a:buFont typeface="Calibri"/>
              <a:buChar char="●"/>
            </a:pPr>
            <a:r>
              <a:rPr b="1" i="0" lang="es-CL" sz="2100" u="none" cap="none" strike="noStrike">
                <a:solidFill>
                  <a:schemeClr val="lt1"/>
                </a:solidFill>
                <a:latin typeface="Calibri"/>
                <a:ea typeface="Calibri"/>
                <a:cs typeface="Calibri"/>
                <a:sym typeface="Calibri"/>
              </a:rPr>
              <a:t>Incrementar la interacción con los usuarios</a:t>
            </a:r>
            <a:r>
              <a:rPr b="0" i="0" lang="es-CL" sz="2100" u="none" cap="none" strike="noStrike">
                <a:solidFill>
                  <a:schemeClr val="lt1"/>
                </a:solidFill>
                <a:latin typeface="Calibri"/>
                <a:ea typeface="Calibri"/>
                <a:cs typeface="Calibri"/>
                <a:sym typeface="Calibri"/>
              </a:rPr>
              <a:t> integrando un espacio participativo de “Sube Tu Noticia”.</a:t>
            </a:r>
            <a:br>
              <a:rPr b="0" i="0" lang="es-CL" sz="2100" u="none" cap="none" strike="noStrike">
                <a:solidFill>
                  <a:schemeClr val="lt1"/>
                </a:solidFill>
                <a:latin typeface="Calibri"/>
                <a:ea typeface="Calibri"/>
                <a:cs typeface="Calibri"/>
                <a:sym typeface="Calibri"/>
              </a:rPr>
            </a:br>
            <a:endParaRPr b="0" i="0" sz="2100" u="none" cap="none" strike="noStrike">
              <a:solidFill>
                <a:schemeClr val="lt1"/>
              </a:solidFill>
              <a:latin typeface="Calibri"/>
              <a:ea typeface="Calibri"/>
              <a:cs typeface="Calibri"/>
              <a:sym typeface="Calibri"/>
            </a:endParaRPr>
          </a:p>
          <a:p>
            <a:pPr indent="-361950" lvl="0" marL="457200" marR="0" rtl="0" algn="l">
              <a:lnSpc>
                <a:spcPct val="100000"/>
              </a:lnSpc>
              <a:spcBef>
                <a:spcPts val="0"/>
              </a:spcBef>
              <a:spcAft>
                <a:spcPts val="0"/>
              </a:spcAft>
              <a:buClr>
                <a:schemeClr val="lt1"/>
              </a:buClr>
              <a:buSzPts val="2100"/>
              <a:buFont typeface="Calibri"/>
              <a:buChar char="●"/>
            </a:pPr>
            <a:r>
              <a:rPr b="1" i="0" lang="es-CL" sz="2100" u="none" cap="none" strike="noStrike">
                <a:solidFill>
                  <a:schemeClr val="lt1"/>
                </a:solidFill>
                <a:latin typeface="Calibri"/>
                <a:ea typeface="Calibri"/>
                <a:cs typeface="Calibri"/>
                <a:sym typeface="Calibri"/>
              </a:rPr>
              <a:t>Aumentar el tráfico hacia las noticias</a:t>
            </a:r>
            <a:r>
              <a:rPr b="0" i="0" lang="es-CL" sz="2100" u="none" cap="none" strike="noStrike">
                <a:solidFill>
                  <a:schemeClr val="lt1"/>
                </a:solidFill>
                <a:latin typeface="Calibri"/>
                <a:ea typeface="Calibri"/>
                <a:cs typeface="Calibri"/>
                <a:sym typeface="Calibri"/>
              </a:rPr>
              <a:t> mediante un diseño visual más atractivo y orientado a la experiencia de usuario.</a:t>
            </a:r>
            <a:br>
              <a:rPr b="0" i="0" lang="es-CL" sz="2100" u="none" cap="none" strike="noStrike">
                <a:solidFill>
                  <a:schemeClr val="lt1"/>
                </a:solidFill>
                <a:latin typeface="Calibri"/>
                <a:ea typeface="Calibri"/>
                <a:cs typeface="Calibri"/>
                <a:sym typeface="Calibri"/>
              </a:rPr>
            </a:br>
            <a:endParaRPr b="0" i="0" sz="2100" u="none" cap="none" strike="noStrike">
              <a:solidFill>
                <a:schemeClr val="lt1"/>
              </a:solidFill>
              <a:latin typeface="Calibri"/>
              <a:ea typeface="Calibri"/>
              <a:cs typeface="Calibri"/>
              <a:sym typeface="Calibri"/>
            </a:endParaRPr>
          </a:p>
          <a:p>
            <a:pPr indent="-361950" lvl="0" marL="457200" marR="0" rtl="0" algn="l">
              <a:lnSpc>
                <a:spcPct val="100000"/>
              </a:lnSpc>
              <a:spcBef>
                <a:spcPts val="0"/>
              </a:spcBef>
              <a:spcAft>
                <a:spcPts val="0"/>
              </a:spcAft>
              <a:buClr>
                <a:schemeClr val="lt1"/>
              </a:buClr>
              <a:buSzPts val="2100"/>
              <a:buFont typeface="Calibri"/>
              <a:buChar char="●"/>
            </a:pPr>
            <a:r>
              <a:rPr b="1" i="0" lang="es-CL" sz="2100" u="none" cap="none" strike="noStrike">
                <a:solidFill>
                  <a:schemeClr val="lt1"/>
                </a:solidFill>
                <a:latin typeface="Calibri"/>
                <a:ea typeface="Calibri"/>
                <a:cs typeface="Calibri"/>
                <a:sym typeface="Calibri"/>
              </a:rPr>
              <a:t>Fortalecer la seguridad del portal</a:t>
            </a:r>
            <a:r>
              <a:rPr b="0" i="0" lang="es-CL" sz="2100" u="none" cap="none" strike="noStrike">
                <a:solidFill>
                  <a:schemeClr val="lt1"/>
                </a:solidFill>
                <a:latin typeface="Calibri"/>
                <a:ea typeface="Calibri"/>
                <a:cs typeface="Calibri"/>
                <a:sym typeface="Calibri"/>
              </a:rPr>
              <a:t> implementando buenas prácticas en la gestión y resguardo de las contraseñas de los administradores.</a:t>
            </a:r>
            <a:endParaRPr b="0" i="0" sz="2100" u="none" cap="none" strike="noStrike">
              <a:solidFill>
                <a:schemeClr val="lt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cxnSp>
        <p:nvCxnSpPr>
          <p:cNvPr id="161" name="Google Shape;161;p10"/>
          <p:cNvCxnSpPr/>
          <p:nvPr/>
        </p:nvCxnSpPr>
        <p:spPr>
          <a:xfrm flipH="1" rot="10800000">
            <a:off x="1407750" y="2762150"/>
            <a:ext cx="5415600" cy="51000"/>
          </a:xfrm>
          <a:prstGeom prst="straightConnector1">
            <a:avLst/>
          </a:prstGeom>
          <a:noFill/>
          <a:ln cap="flat" cmpd="sng" w="9525">
            <a:solidFill>
              <a:schemeClr val="accent6"/>
            </a:solidFill>
            <a:prstDash val="solid"/>
            <a:round/>
            <a:headEnd len="sm" w="sm" type="none"/>
            <a:tailEnd len="sm" w="sm" type="none"/>
          </a:ln>
        </p:spPr>
      </p:cxnSp>
      <p:cxnSp>
        <p:nvCxnSpPr>
          <p:cNvPr id="162" name="Google Shape;162;p10"/>
          <p:cNvCxnSpPr/>
          <p:nvPr/>
        </p:nvCxnSpPr>
        <p:spPr>
          <a:xfrm flipH="1" rot="10800000">
            <a:off x="13272175" y="2657725"/>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13"/>
          <p:cNvSpPr txBox="1"/>
          <p:nvPr/>
        </p:nvSpPr>
        <p:spPr>
          <a:xfrm>
            <a:off x="4718050" y="4177347"/>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04</a:t>
            </a:r>
            <a:endParaRPr b="0" i="0" sz="1400" u="none" cap="none" strike="noStrike">
              <a:solidFill>
                <a:srgbClr val="000000"/>
              </a:solidFill>
              <a:latin typeface="Arial"/>
              <a:ea typeface="Arial"/>
              <a:cs typeface="Arial"/>
              <a:sym typeface="Arial"/>
            </a:endParaRPr>
          </a:p>
        </p:txBody>
      </p:sp>
      <p:sp>
        <p:nvSpPr>
          <p:cNvPr id="168" name="Google Shape;168;p13"/>
          <p:cNvSpPr txBox="1"/>
          <p:nvPr>
            <p:ph type="title"/>
          </p:nvPr>
        </p:nvSpPr>
        <p:spPr>
          <a:xfrm>
            <a:off x="4794250" y="5349875"/>
            <a:ext cx="9020100" cy="2235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b="0" lang="es-CL" sz="6600">
                <a:solidFill>
                  <a:srgbClr val="FFFFFF"/>
                </a:solidFill>
                <a:latin typeface="Calibri"/>
                <a:ea typeface="Calibri"/>
                <a:cs typeface="Calibri"/>
                <a:sym typeface="Calibri"/>
              </a:rPr>
              <a:t>Equipo y Roles</a:t>
            </a:r>
            <a:endParaRPr b="0" sz="6600">
              <a:solidFill>
                <a:srgbClr val="FFFFFF"/>
              </a:solidFill>
              <a:latin typeface="Calibri"/>
              <a:ea typeface="Calibri"/>
              <a:cs typeface="Calibri"/>
              <a:sym typeface="Calibri"/>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14"/>
          <p:cNvPicPr preferRelativeResize="0"/>
          <p:nvPr/>
        </p:nvPicPr>
        <p:blipFill rotWithShape="1">
          <a:blip r:embed="rId3">
            <a:alphaModFix/>
          </a:blip>
          <a:srcRect b="0" l="0" r="0" t="0"/>
          <a:stretch/>
        </p:blipFill>
        <p:spPr>
          <a:xfrm>
            <a:off x="8565138" y="3834150"/>
            <a:ext cx="3818950" cy="3818950"/>
          </a:xfrm>
          <a:prstGeom prst="rect">
            <a:avLst/>
          </a:prstGeom>
          <a:noFill/>
          <a:ln>
            <a:noFill/>
          </a:ln>
        </p:spPr>
      </p:pic>
      <p:sp>
        <p:nvSpPr>
          <p:cNvPr id="174" name="Google Shape;174;p14"/>
          <p:cNvSpPr/>
          <p:nvPr/>
        </p:nvSpPr>
        <p:spPr>
          <a:xfrm>
            <a:off x="1947450" y="19068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5" name="Google Shape;175;p14"/>
          <p:cNvSpPr txBox="1"/>
          <p:nvPr/>
        </p:nvSpPr>
        <p:spPr>
          <a:xfrm>
            <a:off x="2290550" y="2122925"/>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Martin Diaz</a:t>
            </a:r>
            <a:br>
              <a:rPr b="1" i="0" lang="es-CL" sz="2100" u="none" cap="none" strike="noStrike">
                <a:solidFill>
                  <a:schemeClr val="lt1"/>
                </a:solidFill>
                <a:latin typeface="Calibri"/>
                <a:ea typeface="Calibri"/>
                <a:cs typeface="Calibri"/>
                <a:sym typeface="Calibri"/>
              </a:rPr>
            </a:br>
            <a:br>
              <a:rPr b="1" i="0" lang="es-CL" sz="2100" u="none" cap="none" strike="noStrike">
                <a:solidFill>
                  <a:schemeClr val="lt1"/>
                </a:solidFill>
                <a:latin typeface="Calibri"/>
                <a:ea typeface="Calibri"/>
                <a:cs typeface="Calibri"/>
                <a:sym typeface="Calibri"/>
              </a:rPr>
            </a:br>
            <a:r>
              <a:rPr b="0" i="0" lang="es-CL" sz="2300" u="none" cap="none" strike="noStrike">
                <a:solidFill>
                  <a:schemeClr val="lt1"/>
                </a:solidFill>
                <a:latin typeface="Calibri"/>
                <a:ea typeface="Calibri"/>
                <a:cs typeface="Calibri"/>
                <a:sym typeface="Calibri"/>
              </a:rPr>
              <a:t>Leader/Scrum Master/Coordinación y validación</a:t>
            </a:r>
            <a:endParaRPr b="0" i="0" sz="2300" u="none" cap="none" strike="noStrike">
              <a:solidFill>
                <a:schemeClr val="lt1"/>
              </a:solidFill>
              <a:latin typeface="Calibri"/>
              <a:ea typeface="Calibri"/>
              <a:cs typeface="Calibri"/>
              <a:sym typeface="Calibri"/>
            </a:endParaRPr>
          </a:p>
        </p:txBody>
      </p:sp>
      <p:sp>
        <p:nvSpPr>
          <p:cNvPr id="176" name="Google Shape;176;p14"/>
          <p:cNvSpPr/>
          <p:nvPr/>
        </p:nvSpPr>
        <p:spPr>
          <a:xfrm>
            <a:off x="1947438" y="6500488"/>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7" name="Google Shape;177;p14"/>
          <p:cNvSpPr txBox="1"/>
          <p:nvPr/>
        </p:nvSpPr>
        <p:spPr>
          <a:xfrm>
            <a:off x="2290538" y="6634063"/>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Amir Awad</a:t>
            </a:r>
            <a:endParaRPr b="1" i="0" sz="21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100"/>
              <a:buFont typeface="Arial"/>
              <a:buNone/>
            </a:pPr>
            <a:br>
              <a:rPr b="1" i="0" lang="es-CL" sz="2100" u="none" cap="none" strike="noStrike">
                <a:solidFill>
                  <a:schemeClr val="lt1"/>
                </a:solidFill>
                <a:latin typeface="Calibri"/>
                <a:ea typeface="Calibri"/>
                <a:cs typeface="Calibri"/>
                <a:sym typeface="Calibri"/>
              </a:rPr>
            </a:br>
            <a:r>
              <a:rPr b="0" i="0" lang="es-CL" sz="2300" u="none" cap="none" strike="noStrike">
                <a:solidFill>
                  <a:schemeClr val="lt1"/>
                </a:solidFill>
                <a:latin typeface="Calibri"/>
                <a:ea typeface="Calibri"/>
                <a:cs typeface="Calibri"/>
                <a:sym typeface="Calibri"/>
              </a:rPr>
              <a:t>Frontend/Backend/Desarrollo Panel Administrador.</a:t>
            </a:r>
            <a:endParaRPr b="0" i="0" sz="2400" u="none" cap="none" strike="noStrike">
              <a:solidFill>
                <a:schemeClr val="lt1"/>
              </a:solidFill>
              <a:latin typeface="Calibri"/>
              <a:ea typeface="Calibri"/>
              <a:cs typeface="Calibri"/>
              <a:sym typeface="Calibri"/>
            </a:endParaRPr>
          </a:p>
        </p:txBody>
      </p:sp>
      <p:sp>
        <p:nvSpPr>
          <p:cNvPr id="178" name="Google Shape;178;p14"/>
          <p:cNvSpPr/>
          <p:nvPr/>
        </p:nvSpPr>
        <p:spPr>
          <a:xfrm>
            <a:off x="1947450" y="417922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79" name="Google Shape;179;p14"/>
          <p:cNvSpPr txBox="1"/>
          <p:nvPr/>
        </p:nvSpPr>
        <p:spPr>
          <a:xfrm>
            <a:off x="2290550" y="4395275"/>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Gabriel Galvez</a:t>
            </a:r>
            <a:br>
              <a:rPr b="1" i="0" lang="es-CL" sz="2100" u="none" cap="none" strike="noStrike">
                <a:solidFill>
                  <a:schemeClr val="lt1"/>
                </a:solidFill>
                <a:latin typeface="Calibri"/>
                <a:ea typeface="Calibri"/>
                <a:cs typeface="Calibri"/>
                <a:sym typeface="Calibri"/>
              </a:rPr>
            </a:br>
            <a:br>
              <a:rPr b="1" i="0" lang="es-CL" sz="2100" u="none" cap="none" strike="noStrike">
                <a:solidFill>
                  <a:schemeClr val="lt1"/>
                </a:solidFill>
                <a:latin typeface="Calibri"/>
                <a:ea typeface="Calibri"/>
                <a:cs typeface="Calibri"/>
                <a:sym typeface="Calibri"/>
              </a:rPr>
            </a:br>
            <a:r>
              <a:rPr b="0" i="0" lang="es-CL" sz="2200" u="none" cap="none" strike="noStrike">
                <a:solidFill>
                  <a:schemeClr val="lt1"/>
                </a:solidFill>
                <a:latin typeface="Calibri"/>
                <a:ea typeface="Calibri"/>
                <a:cs typeface="Calibri"/>
                <a:sym typeface="Calibri"/>
              </a:rPr>
              <a:t>Gestor BD/Migraciones de Datos.</a:t>
            </a:r>
            <a:br>
              <a:rPr b="0" i="0" lang="es-CL" sz="2200" u="none" cap="none" strike="noStrike">
                <a:solidFill>
                  <a:schemeClr val="lt1"/>
                </a:solidFill>
                <a:latin typeface="Calibri"/>
                <a:ea typeface="Calibri"/>
                <a:cs typeface="Calibri"/>
                <a:sym typeface="Calibri"/>
              </a:rPr>
            </a:br>
            <a:endParaRPr b="0" i="0" sz="2300" u="none" cap="none" strike="noStrike">
              <a:solidFill>
                <a:schemeClr val="lt1"/>
              </a:solidFill>
              <a:latin typeface="Calibri"/>
              <a:ea typeface="Calibri"/>
              <a:cs typeface="Calibri"/>
              <a:sym typeface="Calibri"/>
            </a:endParaRPr>
          </a:p>
        </p:txBody>
      </p:sp>
      <p:sp>
        <p:nvSpPr>
          <p:cNvPr id="180" name="Google Shape;180;p14"/>
          <p:cNvSpPr/>
          <p:nvPr/>
        </p:nvSpPr>
        <p:spPr>
          <a:xfrm>
            <a:off x="1947438" y="8821763"/>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1" name="Google Shape;181;p14"/>
          <p:cNvSpPr txBox="1"/>
          <p:nvPr/>
        </p:nvSpPr>
        <p:spPr>
          <a:xfrm>
            <a:off x="2290538" y="9037813"/>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Jose Jimenez</a:t>
            </a:r>
            <a:br>
              <a:rPr b="1" i="0" lang="es-CL" sz="2100" u="none" cap="none" strike="noStrike">
                <a:solidFill>
                  <a:schemeClr val="lt1"/>
                </a:solidFill>
                <a:latin typeface="Calibri"/>
                <a:ea typeface="Calibri"/>
                <a:cs typeface="Calibri"/>
                <a:sym typeface="Calibri"/>
              </a:rPr>
            </a:br>
            <a:br>
              <a:rPr b="1" i="0" lang="es-CL" sz="2100" u="none" cap="none" strike="noStrike">
                <a:solidFill>
                  <a:schemeClr val="lt1"/>
                </a:solidFill>
                <a:latin typeface="Calibri"/>
                <a:ea typeface="Calibri"/>
                <a:cs typeface="Calibri"/>
                <a:sym typeface="Calibri"/>
              </a:rPr>
            </a:br>
            <a:r>
              <a:rPr b="0" i="0" lang="es-CL" sz="2200" u="none" cap="none" strike="noStrike">
                <a:solidFill>
                  <a:schemeClr val="lt1"/>
                </a:solidFill>
                <a:latin typeface="Calibri"/>
                <a:ea typeface="Calibri"/>
                <a:cs typeface="Calibri"/>
                <a:sym typeface="Calibri"/>
              </a:rPr>
              <a:t>UX/UI/Diseño FrontEnd Principal.</a:t>
            </a:r>
            <a:endParaRPr b="0" i="0" sz="22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200"/>
              <a:buFont typeface="Arial"/>
              <a:buNone/>
            </a:pPr>
            <a:r>
              <a:t/>
            </a:r>
            <a:endParaRPr b="0" i="0" sz="2200" u="none" cap="none" strike="noStrike">
              <a:solidFill>
                <a:schemeClr val="lt1"/>
              </a:solidFill>
              <a:latin typeface="Calibri"/>
              <a:ea typeface="Calibri"/>
              <a:cs typeface="Calibri"/>
              <a:sym typeface="Calibri"/>
            </a:endParaRPr>
          </a:p>
        </p:txBody>
      </p:sp>
      <p:sp>
        <p:nvSpPr>
          <p:cNvPr id="182" name="Google Shape;182;p14"/>
          <p:cNvSpPr/>
          <p:nvPr/>
        </p:nvSpPr>
        <p:spPr>
          <a:xfrm>
            <a:off x="13486975" y="19068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3" name="Google Shape;183;p14"/>
          <p:cNvSpPr txBox="1"/>
          <p:nvPr/>
        </p:nvSpPr>
        <p:spPr>
          <a:xfrm>
            <a:off x="13830075" y="2122925"/>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Gabriel Riveros</a:t>
            </a:r>
            <a:endParaRPr b="1" i="0" sz="21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200"/>
              <a:buFont typeface="Arial"/>
              <a:buNone/>
            </a:pPr>
            <a:br>
              <a:rPr b="0" i="0" lang="es-CL" sz="2200" u="none" cap="none" strike="noStrike">
                <a:solidFill>
                  <a:schemeClr val="lt1"/>
                </a:solidFill>
                <a:latin typeface="Calibri"/>
                <a:ea typeface="Calibri"/>
                <a:cs typeface="Calibri"/>
                <a:sym typeface="Calibri"/>
              </a:rPr>
            </a:br>
            <a:r>
              <a:rPr b="0" i="0" lang="es-CL" sz="2200" u="none" cap="none" strike="noStrike">
                <a:solidFill>
                  <a:schemeClr val="lt1"/>
                </a:solidFill>
                <a:latin typeface="Roboto"/>
                <a:ea typeface="Roboto"/>
                <a:cs typeface="Roboto"/>
                <a:sym typeface="Roboto"/>
              </a:rPr>
              <a:t>Dueño del medio/principal stakeholder.</a:t>
            </a:r>
            <a:endParaRPr b="0" i="0" sz="2300" u="none" cap="none" strike="noStrike">
              <a:solidFill>
                <a:schemeClr val="lt1"/>
              </a:solidFill>
              <a:latin typeface="Calibri"/>
              <a:ea typeface="Calibri"/>
              <a:cs typeface="Calibri"/>
              <a:sym typeface="Calibri"/>
            </a:endParaRPr>
          </a:p>
        </p:txBody>
      </p:sp>
      <p:sp>
        <p:nvSpPr>
          <p:cNvPr id="184" name="Google Shape;184;p14"/>
          <p:cNvSpPr/>
          <p:nvPr/>
        </p:nvSpPr>
        <p:spPr>
          <a:xfrm>
            <a:off x="13486975" y="42946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5" name="Google Shape;185;p14"/>
          <p:cNvSpPr txBox="1"/>
          <p:nvPr/>
        </p:nvSpPr>
        <p:spPr>
          <a:xfrm>
            <a:off x="13830075" y="4510725"/>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Agenor Tapia</a:t>
            </a:r>
            <a:endParaRPr b="1" i="0" sz="2100" u="none" cap="none" strike="noStrike">
              <a:solidFill>
                <a:schemeClr val="lt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2200"/>
              <a:buFont typeface="Arial"/>
              <a:buNone/>
            </a:pPr>
            <a:br>
              <a:rPr b="0" i="0" lang="es-CL" sz="2200" u="none" cap="none" strike="noStrike">
                <a:solidFill>
                  <a:schemeClr val="lt1"/>
                </a:solidFill>
                <a:latin typeface="Calibri"/>
                <a:ea typeface="Calibri"/>
                <a:cs typeface="Calibri"/>
                <a:sym typeface="Calibri"/>
              </a:rPr>
            </a:br>
            <a:r>
              <a:rPr b="0" i="0" lang="es-CL" sz="2200" u="none" cap="none" strike="noStrike">
                <a:solidFill>
                  <a:schemeClr val="lt1"/>
                </a:solidFill>
                <a:latin typeface="Roboto"/>
                <a:ea typeface="Roboto"/>
                <a:cs typeface="Roboto"/>
                <a:sym typeface="Roboto"/>
              </a:rPr>
              <a:t>Editor/Validador de Sistema de noticias</a:t>
            </a:r>
            <a:endParaRPr b="0" i="0" sz="2300" u="none" cap="none" strike="noStrike">
              <a:solidFill>
                <a:schemeClr val="lt1"/>
              </a:solidFill>
              <a:latin typeface="Calibri"/>
              <a:ea typeface="Calibri"/>
              <a:cs typeface="Calibri"/>
              <a:sym typeface="Calibri"/>
            </a:endParaRPr>
          </a:p>
        </p:txBody>
      </p:sp>
      <p:sp>
        <p:nvSpPr>
          <p:cNvPr id="186" name="Google Shape;186;p14"/>
          <p:cNvSpPr txBox="1"/>
          <p:nvPr/>
        </p:nvSpPr>
        <p:spPr>
          <a:xfrm>
            <a:off x="2773350" y="1164050"/>
            <a:ext cx="4345800" cy="116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s-CL" sz="3200" u="none" cap="none" strike="noStrike">
                <a:solidFill>
                  <a:srgbClr val="000000"/>
                </a:solidFill>
                <a:latin typeface="Calibri"/>
                <a:ea typeface="Calibri"/>
                <a:cs typeface="Calibri"/>
                <a:sym typeface="Calibri"/>
              </a:rPr>
              <a:t>Equipo de Trabajo</a:t>
            </a:r>
            <a:endParaRPr b="1" i="0" sz="3200" u="none" cap="none" strike="noStrike">
              <a:solidFill>
                <a:srgbClr val="000000"/>
              </a:solidFill>
              <a:latin typeface="Calibri"/>
              <a:ea typeface="Calibri"/>
              <a:cs typeface="Calibri"/>
              <a:sym typeface="Calibri"/>
            </a:endParaRPr>
          </a:p>
        </p:txBody>
      </p:sp>
      <p:sp>
        <p:nvSpPr>
          <p:cNvPr id="187" name="Google Shape;187;p14"/>
          <p:cNvSpPr txBox="1"/>
          <p:nvPr/>
        </p:nvSpPr>
        <p:spPr>
          <a:xfrm>
            <a:off x="15157875" y="1253000"/>
            <a:ext cx="1906200" cy="77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100"/>
              <a:buFont typeface="Arial"/>
              <a:buNone/>
            </a:pPr>
            <a:r>
              <a:rPr b="1" i="0" lang="es-CL" sz="3100" u="none" cap="none" strike="noStrike">
                <a:solidFill>
                  <a:srgbClr val="000000"/>
                </a:solidFill>
                <a:latin typeface="Calibri"/>
                <a:ea typeface="Calibri"/>
                <a:cs typeface="Calibri"/>
                <a:sym typeface="Calibri"/>
              </a:rPr>
              <a:t>Tropezón</a:t>
            </a:r>
            <a:endParaRPr b="1" i="0" sz="3100" u="none" cap="none" strike="noStrike">
              <a:solidFill>
                <a:srgbClr val="000000"/>
              </a:solidFill>
              <a:latin typeface="Calibri"/>
              <a:ea typeface="Calibri"/>
              <a:cs typeface="Calibri"/>
              <a:sym typeface="Calibri"/>
            </a:endParaRPr>
          </a:p>
        </p:txBody>
      </p:sp>
      <p:sp>
        <p:nvSpPr>
          <p:cNvPr id="188" name="Google Shape;188;p14"/>
          <p:cNvSpPr/>
          <p:nvPr/>
        </p:nvSpPr>
        <p:spPr>
          <a:xfrm>
            <a:off x="13486975" y="6682475"/>
            <a:ext cx="5031900" cy="2147400"/>
          </a:xfrm>
          <a:prstGeom prst="rect">
            <a:avLst/>
          </a:prstGeom>
          <a:solidFill>
            <a:srgbClr val="33415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9" name="Google Shape;189;p14"/>
          <p:cNvSpPr txBox="1"/>
          <p:nvPr/>
        </p:nvSpPr>
        <p:spPr>
          <a:xfrm>
            <a:off x="13830075" y="6898525"/>
            <a:ext cx="4561800" cy="1563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chemeClr val="lt1"/>
                </a:solidFill>
                <a:latin typeface="Calibri"/>
                <a:ea typeface="Calibri"/>
                <a:cs typeface="Calibri"/>
                <a:sym typeface="Calibri"/>
              </a:rPr>
              <a:t>Vanesa Kammel</a:t>
            </a:r>
            <a:br>
              <a:rPr b="1" i="0" lang="es-CL" sz="2100" u="none" cap="none" strike="noStrike">
                <a:solidFill>
                  <a:schemeClr val="lt1"/>
                </a:solidFill>
                <a:latin typeface="Calibri"/>
                <a:ea typeface="Calibri"/>
                <a:cs typeface="Calibri"/>
                <a:sym typeface="Calibri"/>
              </a:rPr>
            </a:br>
            <a:br>
              <a:rPr b="0" i="0" lang="es-CL" sz="2200" u="none" cap="none" strike="noStrike">
                <a:solidFill>
                  <a:schemeClr val="lt1"/>
                </a:solidFill>
                <a:latin typeface="Calibri"/>
                <a:ea typeface="Calibri"/>
                <a:cs typeface="Calibri"/>
                <a:sym typeface="Calibri"/>
              </a:rPr>
            </a:br>
            <a:r>
              <a:rPr b="0" i="0" lang="es-CL" sz="2200" u="none" cap="none" strike="noStrike">
                <a:solidFill>
                  <a:schemeClr val="lt1"/>
                </a:solidFill>
                <a:latin typeface="Roboto"/>
                <a:ea typeface="Roboto"/>
                <a:cs typeface="Roboto"/>
                <a:sym typeface="Roboto"/>
              </a:rPr>
              <a:t>Diseñadora Gráfica </a:t>
            </a:r>
            <a:endParaRPr b="0" i="0" sz="2300" u="none" cap="none" strike="noStrike">
              <a:solidFill>
                <a:schemeClr val="lt1"/>
              </a:solidFill>
              <a:latin typeface="Calibri"/>
              <a:ea typeface="Calibri"/>
              <a:cs typeface="Calibri"/>
              <a:sym typeface="Calibri"/>
            </a:endParaRPr>
          </a:p>
        </p:txBody>
      </p:sp>
      <p:cxnSp>
        <p:nvCxnSpPr>
          <p:cNvPr id="190" name="Google Shape;190;p14"/>
          <p:cNvCxnSpPr/>
          <p:nvPr/>
        </p:nvCxnSpPr>
        <p:spPr>
          <a:xfrm>
            <a:off x="2442950" y="2707425"/>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1" name="Google Shape;191;p14"/>
          <p:cNvCxnSpPr/>
          <p:nvPr/>
        </p:nvCxnSpPr>
        <p:spPr>
          <a:xfrm>
            <a:off x="2462050" y="4892975"/>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2" name="Google Shape;192;p14"/>
          <p:cNvCxnSpPr/>
          <p:nvPr/>
        </p:nvCxnSpPr>
        <p:spPr>
          <a:xfrm>
            <a:off x="2462050" y="7142050"/>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3" name="Google Shape;193;p14"/>
          <p:cNvCxnSpPr/>
          <p:nvPr/>
        </p:nvCxnSpPr>
        <p:spPr>
          <a:xfrm>
            <a:off x="2334900" y="9569025"/>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4" name="Google Shape;194;p14"/>
          <p:cNvCxnSpPr/>
          <p:nvPr/>
        </p:nvCxnSpPr>
        <p:spPr>
          <a:xfrm>
            <a:off x="13982475" y="2630850"/>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5" name="Google Shape;195;p14"/>
          <p:cNvCxnSpPr/>
          <p:nvPr/>
        </p:nvCxnSpPr>
        <p:spPr>
          <a:xfrm>
            <a:off x="13969875" y="5007000"/>
            <a:ext cx="4257000" cy="0"/>
          </a:xfrm>
          <a:prstGeom prst="straightConnector1">
            <a:avLst/>
          </a:prstGeom>
          <a:noFill/>
          <a:ln cap="flat" cmpd="sng" w="9525">
            <a:solidFill>
              <a:schemeClr val="accent6"/>
            </a:solidFill>
            <a:prstDash val="solid"/>
            <a:round/>
            <a:headEnd len="sm" w="sm" type="none"/>
            <a:tailEnd len="sm" w="sm" type="none"/>
          </a:ln>
        </p:spPr>
      </p:cxnSp>
      <p:cxnSp>
        <p:nvCxnSpPr>
          <p:cNvPr id="196" name="Google Shape;196;p14"/>
          <p:cNvCxnSpPr/>
          <p:nvPr/>
        </p:nvCxnSpPr>
        <p:spPr>
          <a:xfrm>
            <a:off x="13874425" y="7415575"/>
            <a:ext cx="4257000" cy="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1"/>
          <p:cNvSpPr txBox="1"/>
          <p:nvPr>
            <p:ph type="title"/>
          </p:nvPr>
        </p:nvSpPr>
        <p:spPr>
          <a:xfrm>
            <a:off x="6242050" y="9007475"/>
            <a:ext cx="9020100" cy="24480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s-CL" sz="6600">
                <a:solidFill>
                  <a:schemeClr val="lt1"/>
                </a:solidFill>
                <a:latin typeface="Calibri"/>
                <a:ea typeface="Calibri"/>
                <a:cs typeface="Calibri"/>
                <a:sym typeface="Calibri"/>
              </a:rPr>
              <a:t>Alcance y Metodología</a:t>
            </a:r>
            <a:endParaRPr sz="6600">
              <a:solidFill>
                <a:schemeClr val="lt1"/>
              </a:solidFill>
              <a:latin typeface="Calibri"/>
              <a:ea typeface="Calibri"/>
              <a:cs typeface="Calibri"/>
              <a:sym typeface="Calibri"/>
            </a:endParaRPr>
          </a:p>
          <a:p>
            <a:pPr indent="-304800" lvl="0" marL="457200" rtl="0" algn="l">
              <a:lnSpc>
                <a:spcPct val="115000"/>
              </a:lnSpc>
              <a:spcBef>
                <a:spcPts val="400"/>
              </a:spcBef>
              <a:spcAft>
                <a:spcPts val="0"/>
              </a:spcAft>
              <a:buClr>
                <a:schemeClr val="dk1"/>
              </a:buClr>
              <a:buSzPts val="1200"/>
              <a:buFont typeface="Roboto"/>
              <a:buChar char="●"/>
            </a:pPr>
            <a:r>
              <a:t/>
            </a:r>
            <a:endParaRPr b="0" sz="1200">
              <a:solidFill>
                <a:schemeClr val="dk1"/>
              </a:solidFill>
              <a:latin typeface="Roboto"/>
              <a:ea typeface="Roboto"/>
              <a:cs typeface="Roboto"/>
              <a:sym typeface="Roboto"/>
            </a:endParaRPr>
          </a:p>
          <a:p>
            <a:pPr indent="0" lvl="0" marL="0" rtl="0" algn="l">
              <a:lnSpc>
                <a:spcPct val="100000"/>
              </a:lnSpc>
              <a:spcBef>
                <a:spcPts val="0"/>
              </a:spcBef>
              <a:spcAft>
                <a:spcPts val="0"/>
              </a:spcAft>
              <a:buSzPts val="1400"/>
              <a:buNone/>
            </a:pPr>
            <a:r>
              <a:t/>
            </a:r>
            <a:endParaRPr sz="6600"/>
          </a:p>
        </p:txBody>
      </p:sp>
      <p:sp>
        <p:nvSpPr>
          <p:cNvPr id="202" name="Google Shape;202;p11"/>
          <p:cNvSpPr txBox="1"/>
          <p:nvPr/>
        </p:nvSpPr>
        <p:spPr>
          <a:xfrm>
            <a:off x="6276975" y="7752358"/>
            <a:ext cx="1671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05</a:t>
            </a:r>
            <a:endParaRPr b="0" i="0" sz="1400" u="none" cap="none" strike="noStrike">
              <a:solidFill>
                <a:srgbClr val="000000"/>
              </a:solidFill>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a5555b7c7b_2_21"/>
          <p:cNvSpPr txBox="1"/>
          <p:nvPr/>
        </p:nvSpPr>
        <p:spPr>
          <a:xfrm>
            <a:off x="10281925" y="-327700"/>
            <a:ext cx="674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08" name="Google Shape;208;g3a5555b7c7b_2_21"/>
          <p:cNvSpPr/>
          <p:nvPr/>
        </p:nvSpPr>
        <p:spPr>
          <a:xfrm>
            <a:off x="7947075" y="1596775"/>
            <a:ext cx="2845200" cy="89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9" name="Google Shape;209;g3a5555b7c7b_2_21"/>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i="0" lang="es-CL" sz="4800" u="none" cap="none" strike="noStrike">
                <a:solidFill>
                  <a:srgbClr val="000000"/>
                </a:solidFill>
                <a:latin typeface="Roboto"/>
                <a:ea typeface="Roboto"/>
                <a:cs typeface="Roboto"/>
                <a:sym typeface="Roboto"/>
              </a:rPr>
              <a:t>Alcances Del Proyecto</a:t>
            </a:r>
            <a:endParaRPr b="1" i="0" sz="4800" u="none" cap="none" strike="noStrike">
              <a:solidFill>
                <a:srgbClr val="000000"/>
              </a:solidFill>
              <a:latin typeface="Roboto"/>
              <a:ea typeface="Roboto"/>
              <a:cs typeface="Roboto"/>
              <a:sym typeface="Roboto"/>
            </a:endParaRPr>
          </a:p>
        </p:txBody>
      </p:sp>
      <p:pic>
        <p:nvPicPr>
          <p:cNvPr id="210" name="Google Shape;210;g3a5555b7c7b_2_21"/>
          <p:cNvPicPr preferRelativeResize="0"/>
          <p:nvPr/>
        </p:nvPicPr>
        <p:blipFill rotWithShape="1">
          <a:blip r:embed="rId3">
            <a:alphaModFix/>
          </a:blip>
          <a:srcRect b="0" l="0" r="0" t="0"/>
          <a:stretch/>
        </p:blipFill>
        <p:spPr>
          <a:xfrm>
            <a:off x="3817425" y="744138"/>
            <a:ext cx="11224075" cy="9821074"/>
          </a:xfrm>
          <a:prstGeom prst="rect">
            <a:avLst/>
          </a:prstGeom>
          <a:noFill/>
          <a:ln>
            <a:noFill/>
          </a:ln>
        </p:spPr>
      </p:pic>
      <p:sp>
        <p:nvSpPr>
          <p:cNvPr id="211" name="Google Shape;211;g3a5555b7c7b_2_21"/>
          <p:cNvSpPr/>
          <p:nvPr/>
        </p:nvSpPr>
        <p:spPr>
          <a:xfrm>
            <a:off x="12780950" y="9785900"/>
            <a:ext cx="25344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12" name="Google Shape;212;g3a5555b7c7b_2_21"/>
          <p:cNvSpPr/>
          <p:nvPr/>
        </p:nvSpPr>
        <p:spPr>
          <a:xfrm>
            <a:off x="7696063" y="744150"/>
            <a:ext cx="34668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13" name="Google Shape;213;g3a5555b7c7b_2_21"/>
          <p:cNvCxnSpPr/>
          <p:nvPr/>
        </p:nvCxnSpPr>
        <p:spPr>
          <a:xfrm flipH="1" rot="10800000">
            <a:off x="893675" y="963150"/>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pic>
        <p:nvPicPr>
          <p:cNvPr id="219" name="Google Shape;219;g3a5555b7c7b_0_1"/>
          <p:cNvPicPr preferRelativeResize="0"/>
          <p:nvPr/>
        </p:nvPicPr>
        <p:blipFill rotWithShape="1">
          <a:blip r:embed="rId3">
            <a:alphaModFix/>
          </a:blip>
          <a:srcRect b="0" l="0" r="0" t="9297"/>
          <a:stretch/>
        </p:blipFill>
        <p:spPr>
          <a:xfrm>
            <a:off x="3686050" y="1985150"/>
            <a:ext cx="14013925" cy="8454449"/>
          </a:xfrm>
          <a:prstGeom prst="rect">
            <a:avLst/>
          </a:prstGeom>
          <a:noFill/>
          <a:ln>
            <a:noFill/>
          </a:ln>
        </p:spPr>
      </p:pic>
      <p:sp>
        <p:nvSpPr>
          <p:cNvPr id="220" name="Google Shape;220;g3a5555b7c7b_0_1"/>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i="0" lang="es-CL" sz="4800" u="none" cap="none" strike="noStrike">
                <a:solidFill>
                  <a:srgbClr val="000000"/>
                </a:solidFill>
                <a:latin typeface="Roboto"/>
                <a:ea typeface="Roboto"/>
                <a:cs typeface="Roboto"/>
                <a:sym typeface="Roboto"/>
              </a:rPr>
              <a:t>Roadmap</a:t>
            </a:r>
            <a:endParaRPr b="1" i="0" sz="4800" u="none" cap="none" strike="noStrike">
              <a:solidFill>
                <a:srgbClr val="000000"/>
              </a:solidFill>
              <a:latin typeface="Roboto"/>
              <a:ea typeface="Roboto"/>
              <a:cs typeface="Roboto"/>
              <a:sym typeface="Roboto"/>
            </a:endParaRPr>
          </a:p>
        </p:txBody>
      </p:sp>
      <p:cxnSp>
        <p:nvCxnSpPr>
          <p:cNvPr id="221" name="Google Shape;221;g3a5555b7c7b_0_1"/>
          <p:cNvCxnSpPr/>
          <p:nvPr/>
        </p:nvCxnSpPr>
        <p:spPr>
          <a:xfrm flipH="1" rot="10800000">
            <a:off x="893675" y="963150"/>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g3a5555b7c7b_2_0"/>
          <p:cNvSpPr txBox="1"/>
          <p:nvPr/>
        </p:nvSpPr>
        <p:spPr>
          <a:xfrm>
            <a:off x="10281925" y="-327700"/>
            <a:ext cx="67434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227" name="Google Shape;227;g3a5555b7c7b_2_0"/>
          <p:cNvSpPr/>
          <p:nvPr/>
        </p:nvSpPr>
        <p:spPr>
          <a:xfrm>
            <a:off x="7947075" y="1596775"/>
            <a:ext cx="2845200" cy="8967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28" name="Google Shape;228;g3a5555b7c7b_2_0"/>
          <p:cNvSpPr txBox="1"/>
          <p:nvPr/>
        </p:nvSpPr>
        <p:spPr>
          <a:xfrm>
            <a:off x="893675" y="150225"/>
            <a:ext cx="6885900" cy="1554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i="0" lang="es-CL" sz="4800" u="none" cap="none" strike="noStrike">
                <a:solidFill>
                  <a:srgbClr val="000000"/>
                </a:solidFill>
                <a:latin typeface="Roboto"/>
                <a:ea typeface="Roboto"/>
                <a:cs typeface="Roboto"/>
                <a:sym typeface="Roboto"/>
              </a:rPr>
              <a:t>Metodología Utilizada</a:t>
            </a:r>
            <a:endParaRPr b="1" i="0" sz="4800" u="none" cap="none" strike="noStrike">
              <a:solidFill>
                <a:srgbClr val="000000"/>
              </a:solidFill>
              <a:latin typeface="Roboto"/>
              <a:ea typeface="Roboto"/>
              <a:cs typeface="Roboto"/>
              <a:sym typeface="Roboto"/>
            </a:endParaRPr>
          </a:p>
        </p:txBody>
      </p:sp>
      <p:pic>
        <p:nvPicPr>
          <p:cNvPr id="229" name="Google Shape;229;g3a5555b7c7b_2_0"/>
          <p:cNvPicPr preferRelativeResize="0"/>
          <p:nvPr/>
        </p:nvPicPr>
        <p:blipFill rotWithShape="1">
          <a:blip r:embed="rId3">
            <a:alphaModFix/>
          </a:blip>
          <a:srcRect b="0" l="0" r="0" t="0"/>
          <a:stretch/>
        </p:blipFill>
        <p:spPr>
          <a:xfrm>
            <a:off x="4133350" y="577675"/>
            <a:ext cx="11668076" cy="9211649"/>
          </a:xfrm>
          <a:prstGeom prst="rect">
            <a:avLst/>
          </a:prstGeom>
          <a:noFill/>
          <a:ln>
            <a:noFill/>
          </a:ln>
        </p:spPr>
      </p:pic>
      <p:sp>
        <p:nvSpPr>
          <p:cNvPr id="230" name="Google Shape;230;g3a5555b7c7b_2_0"/>
          <p:cNvSpPr/>
          <p:nvPr/>
        </p:nvSpPr>
        <p:spPr>
          <a:xfrm>
            <a:off x="13115675" y="9415300"/>
            <a:ext cx="2534400" cy="968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231" name="Google Shape;231;g3a5555b7c7b_2_0"/>
          <p:cNvCxnSpPr/>
          <p:nvPr/>
        </p:nvCxnSpPr>
        <p:spPr>
          <a:xfrm flipH="1" rot="10800000">
            <a:off x="893675" y="963150"/>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g3a26a7b47d1_0_0"/>
          <p:cNvPicPr preferRelativeResize="0"/>
          <p:nvPr/>
        </p:nvPicPr>
        <p:blipFill rotWithShape="1">
          <a:blip r:embed="rId3">
            <a:alphaModFix/>
          </a:blip>
          <a:srcRect b="0" l="0" r="0" t="0"/>
          <a:stretch/>
        </p:blipFill>
        <p:spPr>
          <a:xfrm>
            <a:off x="1108500" y="618500"/>
            <a:ext cx="17887098" cy="9531600"/>
          </a:xfrm>
          <a:prstGeom prst="rect">
            <a:avLst/>
          </a:prstGeom>
          <a:noFill/>
          <a:ln>
            <a:noFill/>
          </a:ln>
        </p:spPr>
      </p:pic>
      <p:sp>
        <p:nvSpPr>
          <p:cNvPr id="237" name="Google Shape;237;g3a26a7b47d1_0_0"/>
          <p:cNvSpPr txBox="1"/>
          <p:nvPr/>
        </p:nvSpPr>
        <p:spPr>
          <a:xfrm>
            <a:off x="6486550" y="349850"/>
            <a:ext cx="7427400" cy="9528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600"/>
              <a:buFont typeface="Arial"/>
              <a:buNone/>
            </a:pPr>
            <a:r>
              <a:rPr b="0" i="0" lang="es-CL" sz="6600" u="none" cap="none" strike="noStrike">
                <a:solidFill>
                  <a:srgbClr val="000000"/>
                </a:solidFill>
                <a:latin typeface="Calibri"/>
                <a:ea typeface="Calibri"/>
                <a:cs typeface="Calibri"/>
                <a:sym typeface="Calibri"/>
              </a:rPr>
              <a:t>Modelo de negocios</a:t>
            </a:r>
            <a:endParaRPr b="0" i="0" sz="6600" u="none" cap="none" strike="noStrike">
              <a:solidFill>
                <a:srgbClr val="000000"/>
              </a:solidFill>
              <a:latin typeface="Calibri"/>
              <a:ea typeface="Calibri"/>
              <a:cs typeface="Calibri"/>
              <a:sym typeface="Calibri"/>
            </a:endParaRPr>
          </a:p>
        </p:txBody>
      </p:sp>
      <p:cxnSp>
        <p:nvCxnSpPr>
          <p:cNvPr id="238" name="Google Shape;238;g3a26a7b47d1_0_0"/>
          <p:cNvCxnSpPr/>
          <p:nvPr/>
        </p:nvCxnSpPr>
        <p:spPr>
          <a:xfrm flipH="1" rot="10800000">
            <a:off x="6486550" y="1459050"/>
            <a:ext cx="7031400" cy="246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5"/>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06</a:t>
            </a:r>
            <a:endParaRPr b="0" i="0" sz="1400" u="none" cap="none" strike="noStrike">
              <a:solidFill>
                <a:srgbClr val="000000"/>
              </a:solidFill>
              <a:latin typeface="Arial"/>
              <a:ea typeface="Arial"/>
              <a:cs typeface="Arial"/>
              <a:sym typeface="Arial"/>
            </a:endParaRPr>
          </a:p>
        </p:txBody>
      </p:sp>
      <p:sp>
        <p:nvSpPr>
          <p:cNvPr id="244" name="Google Shape;244;p15"/>
          <p:cNvSpPr txBox="1"/>
          <p:nvPr>
            <p:ph type="title"/>
          </p:nvPr>
        </p:nvSpPr>
        <p:spPr>
          <a:xfrm>
            <a:off x="7549150" y="7250550"/>
            <a:ext cx="9020100" cy="3403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Clr>
                <a:schemeClr val="dk1"/>
              </a:buClr>
              <a:buSzPts val="1100"/>
              <a:buFont typeface="Arial"/>
              <a:buNone/>
            </a:pPr>
            <a:r>
              <a:rPr lang="es-CL" sz="6600">
                <a:solidFill>
                  <a:schemeClr val="lt1"/>
                </a:solidFill>
                <a:latin typeface="Roboto"/>
                <a:ea typeface="Roboto"/>
                <a:cs typeface="Roboto"/>
                <a:sym typeface="Roboto"/>
              </a:rPr>
              <a:t>Propuesta Técnica y Modelo de Datos</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g3a2ea1eac06_1_6"/>
          <p:cNvSpPr txBox="1"/>
          <p:nvPr>
            <p:ph idx="1" type="body"/>
          </p:nvPr>
        </p:nvSpPr>
        <p:spPr>
          <a:xfrm>
            <a:off x="7525600" y="875775"/>
            <a:ext cx="5052900" cy="738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a:t>Tipología técnica </a:t>
            </a:r>
            <a:endParaRPr/>
          </a:p>
        </p:txBody>
      </p:sp>
      <p:pic>
        <p:nvPicPr>
          <p:cNvPr descr="image.png" id="251" name="Google Shape;251;g3a2ea1eac06_1_6"/>
          <p:cNvPicPr preferRelativeResize="0"/>
          <p:nvPr/>
        </p:nvPicPr>
        <p:blipFill rotWithShape="1">
          <a:blip r:embed="rId3">
            <a:alphaModFix/>
          </a:blip>
          <a:srcRect b="0" l="0" r="0" t="0"/>
          <a:stretch/>
        </p:blipFill>
        <p:spPr>
          <a:xfrm>
            <a:off x="7428975" y="2401988"/>
            <a:ext cx="5289768" cy="4526712"/>
          </a:xfrm>
          <a:prstGeom prst="rect">
            <a:avLst/>
          </a:prstGeom>
          <a:noFill/>
          <a:ln>
            <a:noFill/>
          </a:ln>
        </p:spPr>
      </p:pic>
      <p:pic>
        <p:nvPicPr>
          <p:cNvPr descr="image.png" id="252" name="Google Shape;252;g3a2ea1eac06_1_6"/>
          <p:cNvPicPr preferRelativeResize="0"/>
          <p:nvPr/>
        </p:nvPicPr>
        <p:blipFill rotWithShape="1">
          <a:blip r:embed="rId4">
            <a:alphaModFix/>
          </a:blip>
          <a:srcRect b="0" l="0" r="0" t="0"/>
          <a:stretch/>
        </p:blipFill>
        <p:spPr>
          <a:xfrm>
            <a:off x="14062657" y="2401988"/>
            <a:ext cx="5289768" cy="4526712"/>
          </a:xfrm>
          <a:prstGeom prst="rect">
            <a:avLst/>
          </a:prstGeom>
          <a:noFill/>
          <a:ln>
            <a:noFill/>
          </a:ln>
        </p:spPr>
      </p:pic>
      <p:sp>
        <p:nvSpPr>
          <p:cNvPr id="253" name="Google Shape;253;g3a2ea1eac06_1_6"/>
          <p:cNvSpPr txBox="1"/>
          <p:nvPr/>
        </p:nvSpPr>
        <p:spPr>
          <a:xfrm>
            <a:off x="7615026" y="3483186"/>
            <a:ext cx="4917600" cy="342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227"/>
              <a:buFont typeface="Arial"/>
              <a:buNone/>
            </a:pPr>
            <a:r>
              <a:rPr b="1" i="0" lang="es-CL" sz="2227" u="none" cap="none" strike="noStrike">
                <a:solidFill>
                  <a:srgbClr val="F39C12"/>
                </a:solidFill>
                <a:latin typeface="Roboto Slab"/>
                <a:ea typeface="Roboto Slab"/>
                <a:cs typeface="Roboto Slab"/>
                <a:sym typeface="Roboto Slab"/>
              </a:rPr>
              <a:t>Sistema A: Portal Público (CMS)</a:t>
            </a:r>
            <a:endParaRPr b="0" i="0" sz="1485" u="none" cap="none" strike="noStrike">
              <a:solidFill>
                <a:srgbClr val="000000"/>
              </a:solidFill>
              <a:latin typeface="Arial"/>
              <a:ea typeface="Arial"/>
              <a:cs typeface="Arial"/>
              <a:sym typeface="Arial"/>
            </a:endParaRPr>
          </a:p>
        </p:txBody>
      </p:sp>
      <p:sp>
        <p:nvSpPr>
          <p:cNvPr id="254" name="Google Shape;254;g3a2ea1eac06_1_6"/>
          <p:cNvSpPr txBox="1"/>
          <p:nvPr/>
        </p:nvSpPr>
        <p:spPr>
          <a:xfrm>
            <a:off x="7732114" y="4008627"/>
            <a:ext cx="4683600" cy="24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91"/>
              <a:buFont typeface="Arial"/>
              <a:buNone/>
            </a:pPr>
            <a:r>
              <a:rPr b="0" i="1" lang="es-CL" sz="1591" u="none" cap="none" strike="noStrike">
                <a:solidFill>
                  <a:srgbClr val="FFFFFF"/>
                </a:solidFill>
                <a:latin typeface="Roboto"/>
                <a:ea typeface="Roboto"/>
                <a:cs typeface="Roboto"/>
                <a:sym typeface="Roboto"/>
              </a:rPr>
              <a:t>tropezon.space</a:t>
            </a:r>
            <a:endParaRPr b="0" i="0" sz="1485" u="none" cap="none" strike="noStrike">
              <a:solidFill>
                <a:srgbClr val="000000"/>
              </a:solidFill>
              <a:latin typeface="Arial"/>
              <a:ea typeface="Arial"/>
              <a:cs typeface="Arial"/>
              <a:sym typeface="Arial"/>
            </a:endParaRPr>
          </a:p>
        </p:txBody>
      </p:sp>
      <p:pic>
        <p:nvPicPr>
          <p:cNvPr descr="image.png" id="255" name="Google Shape;255;g3a2ea1eac06_1_6"/>
          <p:cNvPicPr preferRelativeResize="0"/>
          <p:nvPr/>
        </p:nvPicPr>
        <p:blipFill rotWithShape="1">
          <a:blip r:embed="rId5">
            <a:alphaModFix/>
          </a:blip>
          <a:srcRect b="0" l="0" r="0" t="0"/>
          <a:stretch/>
        </p:blipFill>
        <p:spPr>
          <a:xfrm>
            <a:off x="13122928" y="4346975"/>
            <a:ext cx="535545" cy="606277"/>
          </a:xfrm>
          <a:prstGeom prst="rect">
            <a:avLst/>
          </a:prstGeom>
          <a:noFill/>
          <a:ln>
            <a:noFill/>
          </a:ln>
        </p:spPr>
      </p:pic>
      <p:sp>
        <p:nvSpPr>
          <p:cNvPr id="256" name="Google Shape;256;g3a2ea1eac06_1_6"/>
          <p:cNvSpPr txBox="1"/>
          <p:nvPr/>
        </p:nvSpPr>
        <p:spPr>
          <a:xfrm>
            <a:off x="14248709" y="3483186"/>
            <a:ext cx="4917600" cy="342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227"/>
              <a:buFont typeface="Arial"/>
              <a:buNone/>
            </a:pPr>
            <a:r>
              <a:rPr b="1" i="0" lang="es-CL" sz="2227" u="none" cap="none" strike="noStrike">
                <a:solidFill>
                  <a:srgbClr val="F39C12"/>
                </a:solidFill>
                <a:latin typeface="Roboto Slab"/>
                <a:ea typeface="Roboto Slab"/>
                <a:cs typeface="Roboto Slab"/>
                <a:sym typeface="Roboto Slab"/>
              </a:rPr>
              <a:t>Sistema B: App de Datos (A Medida)</a:t>
            </a:r>
            <a:endParaRPr b="0" i="0" sz="1485" u="none" cap="none" strike="noStrike">
              <a:solidFill>
                <a:srgbClr val="000000"/>
              </a:solidFill>
              <a:latin typeface="Arial"/>
              <a:ea typeface="Arial"/>
              <a:cs typeface="Arial"/>
              <a:sym typeface="Arial"/>
            </a:endParaRPr>
          </a:p>
        </p:txBody>
      </p:sp>
      <p:sp>
        <p:nvSpPr>
          <p:cNvPr id="257" name="Google Shape;257;g3a2ea1eac06_1_6"/>
          <p:cNvSpPr txBox="1"/>
          <p:nvPr/>
        </p:nvSpPr>
        <p:spPr>
          <a:xfrm>
            <a:off x="14365796" y="4382500"/>
            <a:ext cx="4683600" cy="24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591"/>
              <a:buFont typeface="Arial"/>
              <a:buNone/>
            </a:pPr>
            <a:r>
              <a:rPr b="0" i="1" lang="es-CL" sz="1591" u="none" cap="none" strike="noStrike">
                <a:solidFill>
                  <a:srgbClr val="FFFFFF"/>
                </a:solidFill>
                <a:latin typeface="Roboto"/>
                <a:ea typeface="Roboto"/>
                <a:cs typeface="Roboto"/>
                <a:sym typeface="Roboto"/>
              </a:rPr>
              <a:t>form.tropezon.space</a:t>
            </a:r>
            <a:endParaRPr b="0" i="0" sz="1485" u="none" cap="none" strike="noStrike">
              <a:solidFill>
                <a:srgbClr val="000000"/>
              </a:solidFill>
              <a:latin typeface="Arial"/>
              <a:ea typeface="Arial"/>
              <a:cs typeface="Arial"/>
              <a:sym typeface="Arial"/>
            </a:endParaRPr>
          </a:p>
        </p:txBody>
      </p:sp>
      <p:pic>
        <p:nvPicPr>
          <p:cNvPr descr="image.png" id="258" name="Google Shape;258;g3a2ea1eac06_1_6"/>
          <p:cNvPicPr preferRelativeResize="0"/>
          <p:nvPr/>
        </p:nvPicPr>
        <p:blipFill rotWithShape="1">
          <a:blip r:embed="rId6">
            <a:alphaModFix/>
          </a:blip>
          <a:srcRect b="0" l="0" r="0" t="0"/>
          <a:stretch/>
        </p:blipFill>
        <p:spPr>
          <a:xfrm>
            <a:off x="9831348" y="2735442"/>
            <a:ext cx="485022" cy="485023"/>
          </a:xfrm>
          <a:prstGeom prst="rect">
            <a:avLst/>
          </a:prstGeom>
          <a:noFill/>
          <a:ln>
            <a:noFill/>
          </a:ln>
        </p:spPr>
      </p:pic>
      <p:sp>
        <p:nvSpPr>
          <p:cNvPr id="259" name="Google Shape;259;g3a2ea1eac06_1_6"/>
          <p:cNvSpPr txBox="1"/>
          <p:nvPr/>
        </p:nvSpPr>
        <p:spPr>
          <a:xfrm>
            <a:off x="7732114" y="4493651"/>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Tecnología:</a:t>
            </a:r>
            <a:r>
              <a:rPr b="0" i="0" lang="es-CL" sz="1432" u="none" cap="none" strike="noStrike">
                <a:solidFill>
                  <a:srgbClr val="FFFFFF"/>
                </a:solidFill>
                <a:latin typeface="Roboto"/>
                <a:ea typeface="Roboto"/>
                <a:cs typeface="Roboto"/>
                <a:sym typeface="Roboto"/>
              </a:rPr>
              <a:t> WordPress + Elementor.</a:t>
            </a:r>
            <a:endParaRPr b="0" i="0" sz="1485" u="none" cap="none" strike="noStrike">
              <a:solidFill>
                <a:srgbClr val="000000"/>
              </a:solidFill>
              <a:latin typeface="Arial"/>
              <a:ea typeface="Arial"/>
              <a:cs typeface="Arial"/>
              <a:sym typeface="Arial"/>
            </a:endParaRPr>
          </a:p>
        </p:txBody>
      </p:sp>
      <p:sp>
        <p:nvSpPr>
          <p:cNvPr id="260" name="Google Shape;260;g3a2ea1eac06_1_6"/>
          <p:cNvSpPr txBox="1"/>
          <p:nvPr/>
        </p:nvSpPr>
        <p:spPr>
          <a:xfrm>
            <a:off x="7732114" y="4885679"/>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Función:</a:t>
            </a:r>
            <a:r>
              <a:rPr b="0" i="0" lang="es-CL" sz="1432" u="none" cap="none" strike="noStrike">
                <a:solidFill>
                  <a:srgbClr val="FFFFFF"/>
                </a:solidFill>
                <a:latin typeface="Roboto"/>
                <a:ea typeface="Roboto"/>
                <a:cs typeface="Roboto"/>
                <a:sym typeface="Roboto"/>
              </a:rPr>
              <a:t> Gestión de contenido público, noticias y diseño visual del diario.</a:t>
            </a:r>
            <a:endParaRPr b="0" i="0" sz="1485" u="none" cap="none" strike="noStrike">
              <a:solidFill>
                <a:srgbClr val="000000"/>
              </a:solidFill>
              <a:latin typeface="Arial"/>
              <a:ea typeface="Arial"/>
              <a:cs typeface="Arial"/>
              <a:sym typeface="Arial"/>
            </a:endParaRPr>
          </a:p>
        </p:txBody>
      </p:sp>
      <p:sp>
        <p:nvSpPr>
          <p:cNvPr id="261" name="Google Shape;261;g3a2ea1eac06_1_6"/>
          <p:cNvSpPr txBox="1"/>
          <p:nvPr/>
        </p:nvSpPr>
        <p:spPr>
          <a:xfrm>
            <a:off x="7732114" y="5568690"/>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Base de Datos:</a:t>
            </a:r>
            <a:r>
              <a:rPr b="0" i="0" lang="es-CL" sz="1432" u="none" cap="none" strike="noStrike">
                <a:solidFill>
                  <a:srgbClr val="FFFFFF"/>
                </a:solidFill>
                <a:latin typeface="Roboto"/>
                <a:ea typeface="Roboto"/>
                <a:cs typeface="Roboto"/>
                <a:sym typeface="Roboto"/>
              </a:rPr>
              <a:t> Propia (`..._wp_2vdgb`).</a:t>
            </a:r>
            <a:endParaRPr b="0" i="0" sz="1485" u="none" cap="none" strike="noStrike">
              <a:solidFill>
                <a:srgbClr val="000000"/>
              </a:solidFill>
              <a:latin typeface="Arial"/>
              <a:ea typeface="Arial"/>
              <a:cs typeface="Arial"/>
              <a:sym typeface="Arial"/>
            </a:endParaRPr>
          </a:p>
        </p:txBody>
      </p:sp>
      <p:pic>
        <p:nvPicPr>
          <p:cNvPr descr="image.png" id="262" name="Google Shape;262;g3a2ea1eac06_1_6"/>
          <p:cNvPicPr preferRelativeResize="0"/>
          <p:nvPr/>
        </p:nvPicPr>
        <p:blipFill rotWithShape="1">
          <a:blip r:embed="rId7">
            <a:alphaModFix/>
          </a:blip>
          <a:srcRect b="0" l="0" r="0" t="0"/>
          <a:stretch/>
        </p:blipFill>
        <p:spPr>
          <a:xfrm>
            <a:off x="16404403" y="2735442"/>
            <a:ext cx="606277" cy="485022"/>
          </a:xfrm>
          <a:prstGeom prst="rect">
            <a:avLst/>
          </a:prstGeom>
          <a:noFill/>
          <a:ln>
            <a:noFill/>
          </a:ln>
        </p:spPr>
      </p:pic>
      <p:sp>
        <p:nvSpPr>
          <p:cNvPr id="263" name="Google Shape;263;g3a2ea1eac06_1_6"/>
          <p:cNvSpPr txBox="1"/>
          <p:nvPr/>
        </p:nvSpPr>
        <p:spPr>
          <a:xfrm>
            <a:off x="14365796" y="4867523"/>
            <a:ext cx="4683600" cy="220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Tecnología:</a:t>
            </a:r>
            <a:r>
              <a:rPr b="0" i="0" lang="es-CL" sz="1432" u="none" cap="none" strike="noStrike">
                <a:solidFill>
                  <a:srgbClr val="FFFFFF"/>
                </a:solidFill>
                <a:latin typeface="Roboto"/>
                <a:ea typeface="Roboto"/>
                <a:cs typeface="Roboto"/>
                <a:sym typeface="Roboto"/>
              </a:rPr>
              <a:t> PHP Nativo, MySQL, Bootstrap 5.</a:t>
            </a:r>
            <a:endParaRPr b="0" i="0" sz="1485" u="none" cap="none" strike="noStrike">
              <a:solidFill>
                <a:srgbClr val="000000"/>
              </a:solidFill>
              <a:latin typeface="Arial"/>
              <a:ea typeface="Arial"/>
              <a:cs typeface="Arial"/>
              <a:sym typeface="Arial"/>
            </a:endParaRPr>
          </a:p>
        </p:txBody>
      </p:sp>
      <p:sp>
        <p:nvSpPr>
          <p:cNvPr id="264" name="Google Shape;264;g3a2ea1eac06_1_6"/>
          <p:cNvSpPr txBox="1"/>
          <p:nvPr/>
        </p:nvSpPr>
        <p:spPr>
          <a:xfrm>
            <a:off x="14365796" y="5259551"/>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Función:</a:t>
            </a:r>
            <a:r>
              <a:rPr b="0" i="0" lang="es-CL" sz="1432" u="none" cap="none" strike="noStrike">
                <a:solidFill>
                  <a:srgbClr val="FFFFFF"/>
                </a:solidFill>
                <a:latin typeface="Roboto"/>
                <a:ea typeface="Roboto"/>
                <a:cs typeface="Roboto"/>
                <a:sym typeface="Roboto"/>
              </a:rPr>
              <a:t> Captura y gestión segura de datos sensibles (formularios y panel de admin).</a:t>
            </a:r>
            <a:endParaRPr b="0" i="0" sz="1485" u="none" cap="none" strike="noStrike">
              <a:solidFill>
                <a:srgbClr val="000000"/>
              </a:solidFill>
              <a:latin typeface="Arial"/>
              <a:ea typeface="Arial"/>
              <a:cs typeface="Arial"/>
              <a:sym typeface="Arial"/>
            </a:endParaRPr>
          </a:p>
        </p:txBody>
      </p:sp>
      <p:sp>
        <p:nvSpPr>
          <p:cNvPr id="265" name="Google Shape;265;g3a2ea1eac06_1_6"/>
          <p:cNvSpPr txBox="1"/>
          <p:nvPr/>
        </p:nvSpPr>
        <p:spPr>
          <a:xfrm>
            <a:off x="14365796" y="5942562"/>
            <a:ext cx="4683600" cy="573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432"/>
              <a:buFont typeface="Arial"/>
              <a:buNone/>
            </a:pPr>
            <a:r>
              <a:rPr b="0" i="0" lang="es-CL" sz="1432" u="none" cap="none" strike="noStrike">
                <a:solidFill>
                  <a:srgbClr val="FFFFFF"/>
                </a:solidFill>
                <a:latin typeface="Roboto"/>
                <a:ea typeface="Roboto"/>
                <a:cs typeface="Roboto"/>
                <a:sym typeface="Roboto"/>
              </a:rPr>
              <a:t>• </a:t>
            </a:r>
            <a:r>
              <a:rPr b="1" i="0" lang="es-CL" sz="1432" u="none" cap="none" strike="noStrike">
                <a:solidFill>
                  <a:srgbClr val="FFFFFF"/>
                </a:solidFill>
                <a:latin typeface="Roboto"/>
                <a:ea typeface="Roboto"/>
                <a:cs typeface="Roboto"/>
                <a:sym typeface="Roboto"/>
              </a:rPr>
              <a:t>Base de Datos:</a:t>
            </a:r>
            <a:r>
              <a:rPr b="0" i="0" lang="es-CL" sz="1432" u="none" cap="none" strike="noStrike">
                <a:solidFill>
                  <a:srgbClr val="FFFFFF"/>
                </a:solidFill>
                <a:latin typeface="Roboto"/>
                <a:ea typeface="Roboto"/>
                <a:cs typeface="Roboto"/>
                <a:sym typeface="Roboto"/>
              </a:rPr>
              <a:t> Propia e independiente (`..._form_datos`).</a:t>
            </a:r>
            <a:endParaRPr b="0" i="0" sz="1485" u="none" cap="none" strike="noStrike">
              <a:solidFill>
                <a:srgbClr val="000000"/>
              </a:solidFill>
              <a:latin typeface="Arial"/>
              <a:ea typeface="Arial"/>
              <a:cs typeface="Arial"/>
              <a:sym typeface="Arial"/>
            </a:endParaRPr>
          </a:p>
        </p:txBody>
      </p:sp>
      <p:pic>
        <p:nvPicPr>
          <p:cNvPr descr="image.png" id="266" name="Google Shape;266;g3a2ea1eac06_1_6"/>
          <p:cNvPicPr preferRelativeResize="0"/>
          <p:nvPr/>
        </p:nvPicPr>
        <p:blipFill rotWithShape="1">
          <a:blip r:embed="rId8">
            <a:alphaModFix/>
          </a:blip>
          <a:srcRect b="0" l="0" r="0" t="0"/>
          <a:stretch/>
        </p:blipFill>
        <p:spPr>
          <a:xfrm>
            <a:off x="7771025" y="7370387"/>
            <a:ext cx="3555950" cy="3209776"/>
          </a:xfrm>
          <a:prstGeom prst="rect">
            <a:avLst/>
          </a:prstGeom>
          <a:noFill/>
          <a:ln>
            <a:noFill/>
          </a:ln>
        </p:spPr>
      </p:pic>
      <p:pic>
        <p:nvPicPr>
          <p:cNvPr descr="image.png" id="267" name="Google Shape;267;g3a2ea1eac06_1_6"/>
          <p:cNvPicPr preferRelativeResize="0"/>
          <p:nvPr/>
        </p:nvPicPr>
        <p:blipFill rotWithShape="1">
          <a:blip r:embed="rId9">
            <a:alphaModFix/>
          </a:blip>
          <a:srcRect b="0" l="0" r="0" t="0"/>
          <a:stretch/>
        </p:blipFill>
        <p:spPr>
          <a:xfrm>
            <a:off x="11612725" y="7370387"/>
            <a:ext cx="3555950" cy="3209776"/>
          </a:xfrm>
          <a:prstGeom prst="rect">
            <a:avLst/>
          </a:prstGeom>
          <a:noFill/>
          <a:ln>
            <a:noFill/>
          </a:ln>
        </p:spPr>
      </p:pic>
      <p:pic>
        <p:nvPicPr>
          <p:cNvPr descr="image.png" id="268" name="Google Shape;268;g3a2ea1eac06_1_6"/>
          <p:cNvPicPr preferRelativeResize="0"/>
          <p:nvPr/>
        </p:nvPicPr>
        <p:blipFill rotWithShape="1">
          <a:blip r:embed="rId10">
            <a:alphaModFix/>
          </a:blip>
          <a:srcRect b="0" l="0" r="0" t="0"/>
          <a:stretch/>
        </p:blipFill>
        <p:spPr>
          <a:xfrm>
            <a:off x="15454425" y="7370387"/>
            <a:ext cx="3555950" cy="3209776"/>
          </a:xfrm>
          <a:prstGeom prst="rect">
            <a:avLst/>
          </a:prstGeom>
          <a:noFill/>
          <a:ln>
            <a:noFill/>
          </a:ln>
        </p:spPr>
      </p:pic>
      <p:sp>
        <p:nvSpPr>
          <p:cNvPr id="269" name="Google Shape;269;g3a2ea1eac06_1_6"/>
          <p:cNvSpPr txBox="1"/>
          <p:nvPr/>
        </p:nvSpPr>
        <p:spPr>
          <a:xfrm>
            <a:off x="8002166" y="8408612"/>
            <a:ext cx="30936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rgbClr val="F39C12"/>
                </a:solidFill>
                <a:latin typeface="Roboto Slab"/>
                <a:ea typeface="Roboto Slab"/>
                <a:cs typeface="Roboto Slab"/>
                <a:sym typeface="Roboto Slab"/>
              </a:rPr>
              <a:t>Seguridad Mejorada</a:t>
            </a:r>
            <a:endParaRPr b="0" i="0" sz="1400" u="none" cap="none" strike="noStrike">
              <a:solidFill>
                <a:srgbClr val="000000"/>
              </a:solidFill>
              <a:latin typeface="Arial"/>
              <a:ea typeface="Arial"/>
              <a:cs typeface="Arial"/>
              <a:sym typeface="Arial"/>
            </a:endParaRPr>
          </a:p>
        </p:txBody>
      </p:sp>
      <p:sp>
        <p:nvSpPr>
          <p:cNvPr id="270" name="Google Shape;270;g3a2ea1eac06_1_6"/>
          <p:cNvSpPr txBox="1"/>
          <p:nvPr/>
        </p:nvSpPr>
        <p:spPr>
          <a:xfrm>
            <a:off x="80758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b="0" i="0" lang="es-CL" sz="1350" u="none" cap="none" strike="noStrike">
                <a:solidFill>
                  <a:srgbClr val="FFFFFF"/>
                </a:solidFill>
                <a:latin typeface="Roboto"/>
                <a:ea typeface="Roboto"/>
                <a:cs typeface="Roboto"/>
                <a:sym typeface="Roboto"/>
              </a:rPr>
              <a:t>Los datos sensibles (RUT, teléfonos) están en una base de datos **aislada**. Un ataque al WordPress público no expone la información privada del panel.</a:t>
            </a:r>
            <a:endParaRPr b="0" i="0" sz="1400" u="none" cap="none" strike="noStrike">
              <a:solidFill>
                <a:srgbClr val="000000"/>
              </a:solidFill>
              <a:latin typeface="Arial"/>
              <a:ea typeface="Arial"/>
              <a:cs typeface="Arial"/>
              <a:sym typeface="Arial"/>
            </a:endParaRPr>
          </a:p>
        </p:txBody>
      </p:sp>
      <p:sp>
        <p:nvSpPr>
          <p:cNvPr id="271" name="Google Shape;271;g3a2ea1eac06_1_6"/>
          <p:cNvSpPr txBox="1"/>
          <p:nvPr/>
        </p:nvSpPr>
        <p:spPr>
          <a:xfrm>
            <a:off x="11843866" y="8408612"/>
            <a:ext cx="30936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rgbClr val="F39C12"/>
                </a:solidFill>
                <a:latin typeface="Roboto Slab"/>
                <a:ea typeface="Roboto Slab"/>
                <a:cs typeface="Roboto Slab"/>
                <a:sym typeface="Roboto Slab"/>
              </a:rPr>
              <a:t>Rendimiento Superior</a:t>
            </a:r>
            <a:endParaRPr b="0" i="0" sz="1400" u="none" cap="none" strike="noStrike">
              <a:solidFill>
                <a:srgbClr val="000000"/>
              </a:solidFill>
              <a:latin typeface="Arial"/>
              <a:ea typeface="Arial"/>
              <a:cs typeface="Arial"/>
              <a:sym typeface="Arial"/>
            </a:endParaRPr>
          </a:p>
        </p:txBody>
      </p:sp>
      <p:sp>
        <p:nvSpPr>
          <p:cNvPr id="272" name="Google Shape;272;g3a2ea1eac06_1_6"/>
          <p:cNvSpPr txBox="1"/>
          <p:nvPr/>
        </p:nvSpPr>
        <p:spPr>
          <a:xfrm>
            <a:off x="119175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b="0" i="0" lang="es-CL" sz="1350" u="none" cap="none" strike="noStrike">
                <a:solidFill>
                  <a:srgbClr val="FFFFFF"/>
                </a:solidFill>
                <a:latin typeface="Roboto"/>
                <a:ea typeface="Roboto"/>
                <a:cs typeface="Roboto"/>
                <a:sym typeface="Roboto"/>
              </a:rPr>
              <a:t>La App de formularios (PHP) es ultra-ligera. **No carga plugins** ni el motor pesado de WordPress, asegurando un envío de datos rápido y fiable.</a:t>
            </a:r>
            <a:endParaRPr b="0" i="0" sz="1400" u="none" cap="none" strike="noStrike">
              <a:solidFill>
                <a:srgbClr val="000000"/>
              </a:solidFill>
              <a:latin typeface="Arial"/>
              <a:ea typeface="Arial"/>
              <a:cs typeface="Arial"/>
              <a:sym typeface="Arial"/>
            </a:endParaRPr>
          </a:p>
        </p:txBody>
      </p:sp>
      <p:sp>
        <p:nvSpPr>
          <p:cNvPr id="273" name="Google Shape;273;g3a2ea1eac06_1_6"/>
          <p:cNvSpPr txBox="1"/>
          <p:nvPr/>
        </p:nvSpPr>
        <p:spPr>
          <a:xfrm>
            <a:off x="15685567" y="8408612"/>
            <a:ext cx="3093600" cy="323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100"/>
              <a:buFont typeface="Arial"/>
              <a:buNone/>
            </a:pPr>
            <a:r>
              <a:rPr b="1" i="0" lang="es-CL" sz="2100" u="none" cap="none" strike="noStrike">
                <a:solidFill>
                  <a:srgbClr val="F39C12"/>
                </a:solidFill>
                <a:latin typeface="Roboto Slab"/>
                <a:ea typeface="Roboto Slab"/>
                <a:cs typeface="Roboto Slab"/>
                <a:sym typeface="Roboto Slab"/>
              </a:rPr>
              <a:t>Mantenimiento Simple</a:t>
            </a:r>
            <a:endParaRPr b="0" i="0" sz="1400" u="none" cap="none" strike="noStrike">
              <a:solidFill>
                <a:srgbClr val="000000"/>
              </a:solidFill>
              <a:latin typeface="Arial"/>
              <a:ea typeface="Arial"/>
              <a:cs typeface="Arial"/>
              <a:sym typeface="Arial"/>
            </a:endParaRPr>
          </a:p>
        </p:txBody>
      </p:sp>
      <p:sp>
        <p:nvSpPr>
          <p:cNvPr id="274" name="Google Shape;274;g3a2ea1eac06_1_6"/>
          <p:cNvSpPr txBox="1"/>
          <p:nvPr/>
        </p:nvSpPr>
        <p:spPr>
          <a:xfrm>
            <a:off x="15759225" y="8903912"/>
            <a:ext cx="2946300" cy="1537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b="0" i="0" lang="es-CL" sz="1350" u="none" cap="none" strike="noStrike">
                <a:solidFill>
                  <a:srgbClr val="FFFFFF"/>
                </a:solidFill>
                <a:latin typeface="Roboto"/>
                <a:ea typeface="Roboto"/>
                <a:cs typeface="Roboto"/>
                <a:sym typeface="Roboto"/>
              </a:rPr>
              <a:t>Se pueden actualizar el CMS (WordPress) y la App (PHP) de forma **independiente**. Una actualización de plugin **nunca** "romperá" el panel de admin.</a:t>
            </a:r>
            <a:endParaRPr b="0" i="0" sz="1400" u="none" cap="none" strike="noStrike">
              <a:solidFill>
                <a:srgbClr val="000000"/>
              </a:solidFill>
              <a:latin typeface="Arial"/>
              <a:ea typeface="Arial"/>
              <a:cs typeface="Arial"/>
              <a:sym typeface="Arial"/>
            </a:endParaRPr>
          </a:p>
        </p:txBody>
      </p:sp>
      <p:pic>
        <p:nvPicPr>
          <p:cNvPr descr="image.png" id="275" name="Google Shape;275;g3a2ea1eac06_1_6"/>
          <p:cNvPicPr preferRelativeResize="0"/>
          <p:nvPr/>
        </p:nvPicPr>
        <p:blipFill rotWithShape="1">
          <a:blip r:embed="rId11">
            <a:alphaModFix/>
          </a:blip>
          <a:srcRect b="0" l="0" r="0" t="0"/>
          <a:stretch/>
        </p:blipFill>
        <p:spPr>
          <a:xfrm>
            <a:off x="9320325" y="7703762"/>
            <a:ext cx="457200" cy="457200"/>
          </a:xfrm>
          <a:prstGeom prst="rect">
            <a:avLst/>
          </a:prstGeom>
          <a:noFill/>
          <a:ln>
            <a:noFill/>
          </a:ln>
        </p:spPr>
      </p:pic>
      <p:pic>
        <p:nvPicPr>
          <p:cNvPr descr="image.png" id="276" name="Google Shape;276;g3a2ea1eac06_1_6"/>
          <p:cNvPicPr preferRelativeResize="0"/>
          <p:nvPr/>
        </p:nvPicPr>
        <p:blipFill rotWithShape="1">
          <a:blip r:embed="rId12">
            <a:alphaModFix/>
          </a:blip>
          <a:srcRect b="0" l="0" r="0" t="0"/>
          <a:stretch/>
        </p:blipFill>
        <p:spPr>
          <a:xfrm>
            <a:off x="13162026" y="7703762"/>
            <a:ext cx="457200" cy="457200"/>
          </a:xfrm>
          <a:prstGeom prst="rect">
            <a:avLst/>
          </a:prstGeom>
          <a:noFill/>
          <a:ln>
            <a:noFill/>
          </a:ln>
        </p:spPr>
      </p:pic>
      <p:pic>
        <p:nvPicPr>
          <p:cNvPr descr="image.png" id="277" name="Google Shape;277;g3a2ea1eac06_1_6"/>
          <p:cNvPicPr preferRelativeResize="0"/>
          <p:nvPr/>
        </p:nvPicPr>
        <p:blipFill rotWithShape="1">
          <a:blip r:embed="rId13">
            <a:alphaModFix/>
          </a:blip>
          <a:srcRect b="0" l="0" r="0" t="0"/>
          <a:stretch/>
        </p:blipFill>
        <p:spPr>
          <a:xfrm>
            <a:off x="17003726" y="7703762"/>
            <a:ext cx="457200" cy="457200"/>
          </a:xfrm>
          <a:prstGeom prst="rect">
            <a:avLst/>
          </a:prstGeom>
          <a:noFill/>
          <a:ln>
            <a:noFill/>
          </a:ln>
        </p:spPr>
      </p:pic>
      <p:sp>
        <p:nvSpPr>
          <p:cNvPr id="278" name="Google Shape;278;g3a2ea1eac06_1_6"/>
          <p:cNvSpPr txBox="1"/>
          <p:nvPr/>
        </p:nvSpPr>
        <p:spPr>
          <a:xfrm>
            <a:off x="751975" y="3066125"/>
            <a:ext cx="5654700" cy="5177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CL" sz="3000" u="none" cap="none" strike="noStrike">
                <a:solidFill>
                  <a:schemeClr val="dk1"/>
                </a:solidFill>
                <a:latin typeface="Arial"/>
                <a:ea typeface="Arial"/>
                <a:cs typeface="Arial"/>
                <a:sym typeface="Arial"/>
              </a:rPr>
              <a:t>Se implementó una </a:t>
            </a:r>
            <a:r>
              <a:rPr b="1" i="0" lang="es-CL" sz="3000" u="none" cap="none" strike="noStrike">
                <a:solidFill>
                  <a:schemeClr val="dk1"/>
                </a:solidFill>
                <a:latin typeface="Arial"/>
                <a:ea typeface="Arial"/>
                <a:cs typeface="Arial"/>
                <a:sym typeface="Arial"/>
              </a:rPr>
              <a:t>arquitectura híbrida y desacoplada</a:t>
            </a:r>
            <a:r>
              <a:rPr b="0" i="0" lang="es-CL" sz="3000" u="none" cap="none" strike="noStrike">
                <a:solidFill>
                  <a:schemeClr val="dk1"/>
                </a:solidFill>
                <a:latin typeface="Arial"/>
                <a:ea typeface="Arial"/>
                <a:cs typeface="Arial"/>
                <a:sym typeface="Arial"/>
              </a:rPr>
              <a:t>: se usa </a:t>
            </a:r>
            <a:r>
              <a:rPr b="1" i="0" lang="es-CL" sz="3000" u="none" cap="none" strike="noStrike">
                <a:solidFill>
                  <a:schemeClr val="dk1"/>
                </a:solidFill>
                <a:latin typeface="Arial"/>
                <a:ea typeface="Arial"/>
                <a:cs typeface="Arial"/>
                <a:sym typeface="Arial"/>
              </a:rPr>
              <a:t>WordPress</a:t>
            </a:r>
            <a:r>
              <a:rPr b="0" i="0" lang="es-CL" sz="3000" u="none" cap="none" strike="noStrike">
                <a:solidFill>
                  <a:schemeClr val="dk1"/>
                </a:solidFill>
                <a:latin typeface="Arial"/>
                <a:ea typeface="Arial"/>
                <a:cs typeface="Arial"/>
                <a:sym typeface="Arial"/>
              </a:rPr>
              <a:t> para el portal público y una </a:t>
            </a:r>
            <a:r>
              <a:rPr b="1" i="0" lang="es-CL" sz="3000" u="none" cap="none" strike="noStrike">
                <a:solidFill>
                  <a:schemeClr val="dk1"/>
                </a:solidFill>
                <a:latin typeface="Arial"/>
                <a:ea typeface="Arial"/>
                <a:cs typeface="Arial"/>
                <a:sym typeface="Arial"/>
              </a:rPr>
              <a:t>aplicación PHP a medida</a:t>
            </a:r>
            <a:r>
              <a:rPr b="0" i="0" lang="es-CL" sz="3000" u="none" cap="none" strike="noStrike">
                <a:solidFill>
                  <a:schemeClr val="dk1"/>
                </a:solidFill>
                <a:latin typeface="Arial"/>
                <a:ea typeface="Arial"/>
                <a:cs typeface="Arial"/>
                <a:sym typeface="Arial"/>
              </a:rPr>
              <a:t> (independiente y segura) para los formularios y el panel de administración.</a:t>
            </a:r>
            <a:endParaRPr b="0" i="0" sz="3700" u="none" cap="none" strike="noStrike">
              <a:solidFill>
                <a:srgbClr val="000000"/>
              </a:solidFill>
              <a:latin typeface="Calibri"/>
              <a:ea typeface="Calibri"/>
              <a:cs typeface="Calibri"/>
              <a:sym typeface="Calibri"/>
            </a:endParaRPr>
          </a:p>
        </p:txBody>
      </p:sp>
      <p:cxnSp>
        <p:nvCxnSpPr>
          <p:cNvPr id="279" name="Google Shape;279;g3a2ea1eac06_1_6"/>
          <p:cNvCxnSpPr/>
          <p:nvPr/>
        </p:nvCxnSpPr>
        <p:spPr>
          <a:xfrm flipH="1" rot="10800000">
            <a:off x="7001475" y="1698250"/>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g390f15d3519_0_25"/>
          <p:cNvPicPr preferRelativeResize="0"/>
          <p:nvPr/>
        </p:nvPicPr>
        <p:blipFill rotWithShape="1">
          <a:blip r:embed="rId3">
            <a:alphaModFix/>
          </a:blip>
          <a:srcRect b="0" l="0" r="0" t="0"/>
          <a:stretch/>
        </p:blipFill>
        <p:spPr>
          <a:xfrm>
            <a:off x="2073850" y="1139400"/>
            <a:ext cx="15535049" cy="9686576"/>
          </a:xfrm>
          <a:prstGeom prst="rect">
            <a:avLst/>
          </a:prstGeom>
          <a:noFill/>
          <a:ln>
            <a:noFill/>
          </a:ln>
        </p:spPr>
      </p:pic>
      <p:sp>
        <p:nvSpPr>
          <p:cNvPr id="286" name="Google Shape;286;g390f15d3519_0_25"/>
          <p:cNvSpPr txBox="1"/>
          <p:nvPr>
            <p:ph idx="1" type="body"/>
          </p:nvPr>
        </p:nvSpPr>
        <p:spPr>
          <a:xfrm>
            <a:off x="4001100" y="459050"/>
            <a:ext cx="11878800" cy="738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a:t>Arquitectura Híbrida de Tropezón News</a:t>
            </a:r>
            <a:endParaRPr/>
          </a:p>
        </p:txBody>
      </p:sp>
      <p:cxnSp>
        <p:nvCxnSpPr>
          <p:cNvPr id="287" name="Google Shape;287;g390f15d3519_0_25"/>
          <p:cNvCxnSpPr/>
          <p:nvPr/>
        </p:nvCxnSpPr>
        <p:spPr>
          <a:xfrm flipH="1" rot="10800000">
            <a:off x="4336700" y="1327600"/>
            <a:ext cx="11691900" cy="12600"/>
          </a:xfrm>
          <a:prstGeom prst="straightConnector1">
            <a:avLst/>
          </a:prstGeom>
          <a:noFill/>
          <a:ln cap="flat" cmpd="sng" w="9525">
            <a:solidFill>
              <a:schemeClr val="accent6"/>
            </a:solidFill>
            <a:prstDash val="solid"/>
            <a:round/>
            <a:headEnd len="sm" w="sm" type="none"/>
            <a:tailEnd len="sm" w="sm" type="none"/>
          </a:ln>
        </p:spPr>
      </p:cxnSp>
      <p:sp>
        <p:nvSpPr>
          <p:cNvPr id="288" name="Google Shape;288;g390f15d3519_0_25"/>
          <p:cNvSpPr/>
          <p:nvPr/>
        </p:nvSpPr>
        <p:spPr>
          <a:xfrm>
            <a:off x="6572250" y="1770025"/>
            <a:ext cx="6276300" cy="5859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3a2ea1eac06_1_268"/>
          <p:cNvSpPr txBox="1"/>
          <p:nvPr>
            <p:ph idx="1" type="body"/>
          </p:nvPr>
        </p:nvSpPr>
        <p:spPr>
          <a:xfrm>
            <a:off x="4361325" y="821200"/>
            <a:ext cx="11878800" cy="7389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a:t>Stack de Tecnologías y Herramientas</a:t>
            </a:r>
            <a:endParaRPr/>
          </a:p>
        </p:txBody>
      </p:sp>
      <p:pic>
        <p:nvPicPr>
          <p:cNvPr descr="image.png" id="295" name="Google Shape;295;g3a2ea1eac06_1_268"/>
          <p:cNvPicPr preferRelativeResize="0"/>
          <p:nvPr/>
        </p:nvPicPr>
        <p:blipFill rotWithShape="1">
          <a:blip r:embed="rId3">
            <a:alphaModFix/>
          </a:blip>
          <a:srcRect b="0" l="0" r="0" t="0"/>
          <a:stretch/>
        </p:blipFill>
        <p:spPr>
          <a:xfrm>
            <a:off x="1080700" y="6162775"/>
            <a:ext cx="4102880" cy="3888475"/>
          </a:xfrm>
          <a:prstGeom prst="rect">
            <a:avLst/>
          </a:prstGeom>
          <a:noFill/>
          <a:ln>
            <a:noFill/>
          </a:ln>
        </p:spPr>
      </p:pic>
      <p:pic>
        <p:nvPicPr>
          <p:cNvPr descr="image.png" id="296" name="Google Shape;296;g3a2ea1eac06_1_268"/>
          <p:cNvPicPr preferRelativeResize="0"/>
          <p:nvPr/>
        </p:nvPicPr>
        <p:blipFill rotWithShape="1">
          <a:blip r:embed="rId4">
            <a:alphaModFix/>
          </a:blip>
          <a:srcRect b="0" l="0" r="0" t="0"/>
          <a:stretch/>
        </p:blipFill>
        <p:spPr>
          <a:xfrm>
            <a:off x="5639480" y="6162775"/>
            <a:ext cx="4102880" cy="3888475"/>
          </a:xfrm>
          <a:prstGeom prst="rect">
            <a:avLst/>
          </a:prstGeom>
          <a:noFill/>
          <a:ln>
            <a:noFill/>
          </a:ln>
        </p:spPr>
      </p:pic>
      <p:pic>
        <p:nvPicPr>
          <p:cNvPr descr="image.png" id="297" name="Google Shape;297;g3a2ea1eac06_1_268"/>
          <p:cNvPicPr preferRelativeResize="0"/>
          <p:nvPr/>
        </p:nvPicPr>
        <p:blipFill rotWithShape="1">
          <a:blip r:embed="rId4">
            <a:alphaModFix/>
          </a:blip>
          <a:srcRect b="0" l="0" r="0" t="0"/>
          <a:stretch/>
        </p:blipFill>
        <p:spPr>
          <a:xfrm>
            <a:off x="10198260" y="6162775"/>
            <a:ext cx="4102880" cy="3888475"/>
          </a:xfrm>
          <a:prstGeom prst="rect">
            <a:avLst/>
          </a:prstGeom>
          <a:noFill/>
          <a:ln>
            <a:noFill/>
          </a:ln>
        </p:spPr>
      </p:pic>
      <p:sp>
        <p:nvSpPr>
          <p:cNvPr id="298" name="Google Shape;298;g3a2ea1eac06_1_268"/>
          <p:cNvSpPr txBox="1"/>
          <p:nvPr/>
        </p:nvSpPr>
        <p:spPr>
          <a:xfrm>
            <a:off x="1337131" y="7382248"/>
            <a:ext cx="3590100" cy="77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512"/>
              <a:buFont typeface="Arial"/>
              <a:buNone/>
            </a:pPr>
            <a:r>
              <a:rPr b="1" i="0" lang="es-CL" sz="2512" u="none" cap="none" strike="noStrike">
                <a:solidFill>
                  <a:srgbClr val="F39C12"/>
                </a:solidFill>
                <a:latin typeface="Roboto Slab"/>
                <a:ea typeface="Roboto Slab"/>
                <a:cs typeface="Roboto Slab"/>
                <a:sym typeface="Roboto Slab"/>
              </a:rPr>
              <a:t>Portal Principal (tropezon.space)</a:t>
            </a:r>
            <a:endParaRPr b="0" i="0" sz="1675" u="none" cap="none" strike="noStrike">
              <a:solidFill>
                <a:srgbClr val="000000"/>
              </a:solidFill>
              <a:latin typeface="Arial"/>
              <a:ea typeface="Arial"/>
              <a:cs typeface="Arial"/>
              <a:sym typeface="Arial"/>
            </a:endParaRPr>
          </a:p>
        </p:txBody>
      </p:sp>
      <p:sp>
        <p:nvSpPr>
          <p:cNvPr id="299" name="Google Shape;299;g3a2ea1eac06_1_268"/>
          <p:cNvSpPr txBox="1"/>
          <p:nvPr/>
        </p:nvSpPr>
        <p:spPr>
          <a:xfrm>
            <a:off x="142260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615"/>
              <a:buFont typeface="Arial"/>
              <a:buNone/>
            </a:pPr>
            <a:r>
              <a:rPr b="0" i="0" lang="es-CL" sz="1615" u="none" cap="none" strike="noStrike">
                <a:solidFill>
                  <a:srgbClr val="CBD5E1"/>
                </a:solidFill>
                <a:latin typeface="Roboto"/>
                <a:ea typeface="Roboto"/>
                <a:cs typeface="Roboto"/>
                <a:sym typeface="Roboto"/>
              </a:rPr>
              <a:t>WordPress 6.8.2</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Elementor 3.31.2</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MySQL 8.0.35</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Yoast SEO</a:t>
            </a:r>
            <a:endParaRPr b="0" i="0" sz="1675" u="none" cap="none" strike="noStrike">
              <a:solidFill>
                <a:srgbClr val="000000"/>
              </a:solidFill>
              <a:latin typeface="Arial"/>
              <a:ea typeface="Arial"/>
              <a:cs typeface="Arial"/>
              <a:sym typeface="Arial"/>
            </a:endParaRPr>
          </a:p>
        </p:txBody>
      </p:sp>
      <p:sp>
        <p:nvSpPr>
          <p:cNvPr id="300" name="Google Shape;300;g3a2ea1eac06_1_268"/>
          <p:cNvSpPr txBox="1"/>
          <p:nvPr/>
        </p:nvSpPr>
        <p:spPr>
          <a:xfrm>
            <a:off x="5895911" y="7382248"/>
            <a:ext cx="3590100" cy="77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512"/>
              <a:buFont typeface="Arial"/>
              <a:buNone/>
            </a:pPr>
            <a:r>
              <a:rPr b="1" i="0" lang="es-CL" sz="2512" u="none" cap="none" strike="noStrike">
                <a:solidFill>
                  <a:srgbClr val="F39C12"/>
                </a:solidFill>
                <a:latin typeface="Roboto Slab"/>
                <a:ea typeface="Roboto Slab"/>
                <a:cs typeface="Roboto Slab"/>
                <a:sym typeface="Roboto Slab"/>
              </a:rPr>
              <a:t>App de Formularios (form.tropezón.space)</a:t>
            </a:r>
            <a:endParaRPr b="0" i="0" sz="1675" u="none" cap="none" strike="noStrike">
              <a:solidFill>
                <a:srgbClr val="000000"/>
              </a:solidFill>
              <a:latin typeface="Arial"/>
              <a:ea typeface="Arial"/>
              <a:cs typeface="Arial"/>
              <a:sym typeface="Arial"/>
            </a:endParaRPr>
          </a:p>
        </p:txBody>
      </p:sp>
      <p:sp>
        <p:nvSpPr>
          <p:cNvPr id="301" name="Google Shape;301;g3a2ea1eac06_1_268"/>
          <p:cNvSpPr txBox="1"/>
          <p:nvPr/>
        </p:nvSpPr>
        <p:spPr>
          <a:xfrm>
            <a:off x="598138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615"/>
              <a:buFont typeface="Arial"/>
              <a:buNone/>
            </a:pPr>
            <a:r>
              <a:rPr b="0" i="0" lang="es-CL" sz="1615" u="none" cap="none" strike="noStrike">
                <a:solidFill>
                  <a:srgbClr val="CBD5E1"/>
                </a:solidFill>
                <a:latin typeface="Roboto"/>
                <a:ea typeface="Roboto"/>
                <a:cs typeface="Roboto"/>
                <a:sym typeface="Roboto"/>
              </a:rPr>
              <a:t>PHP (Nativo)</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HTML5 / CSS3</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Bootstrap 5 &amp; Icons</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JavaScript (Validaciones)</a:t>
            </a:r>
            <a:endParaRPr b="0" i="0" sz="1675" u="none" cap="none" strike="noStrike">
              <a:solidFill>
                <a:srgbClr val="000000"/>
              </a:solidFill>
              <a:latin typeface="Arial"/>
              <a:ea typeface="Arial"/>
              <a:cs typeface="Arial"/>
              <a:sym typeface="Arial"/>
            </a:endParaRPr>
          </a:p>
        </p:txBody>
      </p:sp>
      <p:sp>
        <p:nvSpPr>
          <p:cNvPr id="302" name="Google Shape;302;g3a2ea1eac06_1_268"/>
          <p:cNvSpPr txBox="1"/>
          <p:nvPr/>
        </p:nvSpPr>
        <p:spPr>
          <a:xfrm>
            <a:off x="10454691" y="7382248"/>
            <a:ext cx="3590100" cy="773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512"/>
              <a:buFont typeface="Arial"/>
              <a:buNone/>
            </a:pPr>
            <a:r>
              <a:rPr b="1" i="0" lang="es-CL" sz="2512" u="none" cap="none" strike="noStrike">
                <a:solidFill>
                  <a:srgbClr val="F39C12"/>
                </a:solidFill>
                <a:latin typeface="Roboto Slab"/>
                <a:ea typeface="Roboto Slab"/>
                <a:cs typeface="Roboto Slab"/>
                <a:sym typeface="Roboto Slab"/>
              </a:rPr>
              <a:t>Gestión y Soporte (General)</a:t>
            </a:r>
            <a:endParaRPr b="0" i="0" sz="1675" u="none" cap="none" strike="noStrike">
              <a:solidFill>
                <a:srgbClr val="000000"/>
              </a:solidFill>
              <a:latin typeface="Arial"/>
              <a:ea typeface="Arial"/>
              <a:cs typeface="Arial"/>
              <a:sym typeface="Arial"/>
            </a:endParaRPr>
          </a:p>
        </p:txBody>
      </p:sp>
      <p:sp>
        <p:nvSpPr>
          <p:cNvPr id="303" name="Google Shape;303;g3a2ea1eac06_1_268"/>
          <p:cNvSpPr txBox="1"/>
          <p:nvPr/>
        </p:nvSpPr>
        <p:spPr>
          <a:xfrm>
            <a:off x="10540168" y="8396575"/>
            <a:ext cx="3419100" cy="11436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615"/>
              <a:buFont typeface="Arial"/>
              <a:buNone/>
            </a:pPr>
            <a:r>
              <a:rPr b="0" i="0" lang="es-CL" sz="1615" u="none" cap="none" strike="noStrike">
                <a:solidFill>
                  <a:srgbClr val="CBD5E1"/>
                </a:solidFill>
                <a:latin typeface="Roboto"/>
                <a:ea typeface="Roboto"/>
                <a:cs typeface="Roboto"/>
                <a:sym typeface="Roboto"/>
              </a:rPr>
              <a:t>GitHub</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Trello / Jira</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Google Analytics</a:t>
            </a:r>
            <a:br>
              <a:rPr b="0" i="0" lang="es-CL" sz="2153" u="none" cap="none" strike="noStrike">
                <a:solidFill>
                  <a:srgbClr val="000000"/>
                </a:solidFill>
                <a:latin typeface="Calibri"/>
                <a:ea typeface="Calibri"/>
                <a:cs typeface="Calibri"/>
                <a:sym typeface="Calibri"/>
              </a:rPr>
            </a:br>
            <a:r>
              <a:rPr b="0" i="0" lang="es-CL" sz="1615" u="none" cap="none" strike="noStrike">
                <a:solidFill>
                  <a:srgbClr val="CBD5E1"/>
                </a:solidFill>
                <a:latin typeface="Roboto"/>
                <a:ea typeface="Roboto"/>
                <a:cs typeface="Roboto"/>
                <a:sym typeface="Roboto"/>
              </a:rPr>
              <a:t> Cpanel (Hosting)</a:t>
            </a:r>
            <a:endParaRPr b="0" i="0" sz="1675" u="none" cap="none" strike="noStrike">
              <a:solidFill>
                <a:srgbClr val="000000"/>
              </a:solidFill>
              <a:latin typeface="Arial"/>
              <a:ea typeface="Arial"/>
              <a:cs typeface="Arial"/>
              <a:sym typeface="Arial"/>
            </a:endParaRPr>
          </a:p>
        </p:txBody>
      </p:sp>
      <p:pic>
        <p:nvPicPr>
          <p:cNvPr descr="image.png" id="304" name="Google Shape;304;g3a2ea1eac06_1_268"/>
          <p:cNvPicPr preferRelativeResize="0"/>
          <p:nvPr/>
        </p:nvPicPr>
        <p:blipFill rotWithShape="1">
          <a:blip r:embed="rId5">
            <a:alphaModFix/>
          </a:blip>
          <a:srcRect b="0" l="0" r="0" t="0"/>
          <a:stretch/>
        </p:blipFill>
        <p:spPr>
          <a:xfrm>
            <a:off x="2504906" y="5701736"/>
            <a:ext cx="923625" cy="923625"/>
          </a:xfrm>
          <a:prstGeom prst="rect">
            <a:avLst/>
          </a:prstGeom>
          <a:noFill/>
          <a:ln>
            <a:noFill/>
          </a:ln>
        </p:spPr>
      </p:pic>
      <p:pic>
        <p:nvPicPr>
          <p:cNvPr descr="image.png" id="305" name="Google Shape;305;g3a2ea1eac06_1_268"/>
          <p:cNvPicPr preferRelativeResize="0"/>
          <p:nvPr/>
        </p:nvPicPr>
        <p:blipFill rotWithShape="1">
          <a:blip r:embed="rId6">
            <a:alphaModFix/>
          </a:blip>
          <a:srcRect b="0" l="0" r="0" t="0"/>
          <a:stretch/>
        </p:blipFill>
        <p:spPr>
          <a:xfrm>
            <a:off x="7156075" y="5794112"/>
            <a:ext cx="923633" cy="738900"/>
          </a:xfrm>
          <a:prstGeom prst="rect">
            <a:avLst/>
          </a:prstGeom>
          <a:noFill/>
          <a:ln>
            <a:noFill/>
          </a:ln>
        </p:spPr>
      </p:pic>
      <p:pic>
        <p:nvPicPr>
          <p:cNvPr descr="image.png" id="306" name="Google Shape;306;g3a2ea1eac06_1_268"/>
          <p:cNvPicPr preferRelativeResize="0"/>
          <p:nvPr/>
        </p:nvPicPr>
        <p:blipFill rotWithShape="1">
          <a:blip r:embed="rId7">
            <a:alphaModFix/>
          </a:blip>
          <a:srcRect b="0" l="0" r="0" t="0"/>
          <a:stretch/>
        </p:blipFill>
        <p:spPr>
          <a:xfrm>
            <a:off x="11953297" y="5794099"/>
            <a:ext cx="738931" cy="738900"/>
          </a:xfrm>
          <a:prstGeom prst="rect">
            <a:avLst/>
          </a:prstGeom>
          <a:noFill/>
          <a:ln>
            <a:noFill/>
          </a:ln>
        </p:spPr>
      </p:pic>
      <p:pic>
        <p:nvPicPr>
          <p:cNvPr descr="image.png" id="307" name="Google Shape;307;g3a2ea1eac06_1_268"/>
          <p:cNvPicPr preferRelativeResize="0"/>
          <p:nvPr/>
        </p:nvPicPr>
        <p:blipFill rotWithShape="1">
          <a:blip r:embed="rId4">
            <a:alphaModFix/>
          </a:blip>
          <a:srcRect b="0" l="0" r="0" t="0"/>
          <a:stretch/>
        </p:blipFill>
        <p:spPr>
          <a:xfrm>
            <a:off x="14911510" y="6162763"/>
            <a:ext cx="4102879" cy="3888475"/>
          </a:xfrm>
          <a:prstGeom prst="rect">
            <a:avLst/>
          </a:prstGeom>
          <a:noFill/>
          <a:ln>
            <a:noFill/>
          </a:ln>
        </p:spPr>
      </p:pic>
      <p:sp>
        <p:nvSpPr>
          <p:cNvPr id="308" name="Google Shape;308;g3a2ea1eac06_1_268"/>
          <p:cNvSpPr txBox="1"/>
          <p:nvPr/>
        </p:nvSpPr>
        <p:spPr>
          <a:xfrm>
            <a:off x="15129316" y="7386110"/>
            <a:ext cx="3590100" cy="77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500"/>
              <a:buFont typeface="Arial"/>
              <a:buNone/>
            </a:pPr>
            <a:r>
              <a:rPr b="1" i="0" lang="es-CL" sz="2500" u="none" cap="none" strike="noStrike">
                <a:solidFill>
                  <a:srgbClr val="F39C12"/>
                </a:solidFill>
                <a:latin typeface="Roboto Slab"/>
                <a:ea typeface="Roboto Slab"/>
                <a:cs typeface="Roboto Slab"/>
                <a:sym typeface="Roboto Slab"/>
              </a:rPr>
              <a:t>Integraciones Clave</a:t>
            </a:r>
            <a:endParaRPr b="0" i="0" sz="2500" u="none" cap="none" strike="noStrike">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2512"/>
              <a:buFont typeface="Arial"/>
              <a:buNone/>
            </a:pPr>
            <a:r>
              <a:t/>
            </a:r>
            <a:endParaRPr b="1" i="0" sz="2512" u="none" cap="none" strike="noStrike">
              <a:solidFill>
                <a:srgbClr val="F39C12"/>
              </a:solidFill>
              <a:latin typeface="Roboto Slab"/>
              <a:ea typeface="Roboto Slab"/>
              <a:cs typeface="Roboto Slab"/>
              <a:sym typeface="Roboto Slab"/>
            </a:endParaRPr>
          </a:p>
        </p:txBody>
      </p:sp>
      <p:sp>
        <p:nvSpPr>
          <p:cNvPr id="309" name="Google Shape;309;g3a2ea1eac06_1_268"/>
          <p:cNvSpPr txBox="1"/>
          <p:nvPr/>
        </p:nvSpPr>
        <p:spPr>
          <a:xfrm>
            <a:off x="15214793" y="8400438"/>
            <a:ext cx="3419100" cy="103680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1422"/>
              <a:buFont typeface="Arial"/>
              <a:buNone/>
            </a:pPr>
            <a:r>
              <a:rPr b="0" i="0" lang="es-CL" sz="1422" u="none" cap="none" strike="noStrike">
                <a:solidFill>
                  <a:srgbClr val="CBD5E1"/>
                </a:solidFill>
                <a:latin typeface="Roboto"/>
                <a:ea typeface="Roboto"/>
                <a:cs typeface="Roboto"/>
                <a:sym typeface="Roboto"/>
              </a:rPr>
              <a:t>Plugins de SEO (Yoast)</a:t>
            </a:r>
            <a:br>
              <a:rPr b="0" i="0" lang="es-CL" sz="1895" u="none" cap="none" strike="noStrike">
                <a:solidFill>
                  <a:schemeClr val="dk1"/>
                </a:solidFill>
                <a:latin typeface="Calibri"/>
                <a:ea typeface="Calibri"/>
                <a:cs typeface="Calibri"/>
                <a:sym typeface="Calibri"/>
              </a:rPr>
            </a:br>
            <a:r>
              <a:rPr b="0" i="0" lang="es-CL" sz="1422" u="none" cap="none" strike="noStrike">
                <a:solidFill>
                  <a:srgbClr val="CBD5E1"/>
                </a:solidFill>
                <a:latin typeface="Roboto"/>
                <a:ea typeface="Roboto"/>
                <a:cs typeface="Roboto"/>
                <a:sym typeface="Roboto"/>
              </a:rPr>
              <a:t> Google Analytics</a:t>
            </a:r>
            <a:br>
              <a:rPr b="0" i="0" lang="es-CL" sz="1895" u="none" cap="none" strike="noStrike">
                <a:solidFill>
                  <a:schemeClr val="dk1"/>
                </a:solidFill>
                <a:latin typeface="Calibri"/>
                <a:ea typeface="Calibri"/>
                <a:cs typeface="Calibri"/>
                <a:sym typeface="Calibri"/>
              </a:rPr>
            </a:br>
            <a:r>
              <a:rPr b="0" i="0" lang="es-CL" sz="1422" u="none" cap="none" strike="noStrike">
                <a:solidFill>
                  <a:srgbClr val="CBD5E1"/>
                </a:solidFill>
                <a:latin typeface="Roboto"/>
                <a:ea typeface="Roboto"/>
                <a:cs typeface="Roboto"/>
                <a:sym typeface="Roboto"/>
              </a:rPr>
              <a:t> Sistemas de Seguridad y Backups</a:t>
            </a:r>
            <a:endParaRPr b="0" i="0" sz="1475" u="none" cap="none" strike="noStrike">
              <a:solidFill>
                <a:schemeClr val="dk1"/>
              </a:solidFill>
              <a:latin typeface="Arial"/>
              <a:ea typeface="Arial"/>
              <a:cs typeface="Arial"/>
              <a:sym typeface="Arial"/>
            </a:endParaRPr>
          </a:p>
          <a:p>
            <a:pPr indent="0" lvl="0" marL="0" marR="0" rtl="0" algn="ctr">
              <a:lnSpc>
                <a:spcPct val="120000"/>
              </a:lnSpc>
              <a:spcBef>
                <a:spcPts val="0"/>
              </a:spcBef>
              <a:spcAft>
                <a:spcPts val="0"/>
              </a:spcAft>
              <a:buClr>
                <a:srgbClr val="000000"/>
              </a:buClr>
              <a:buSzPts val="1615"/>
              <a:buFont typeface="Arial"/>
              <a:buNone/>
            </a:pPr>
            <a:r>
              <a:t/>
            </a:r>
            <a:endParaRPr b="0" i="0" sz="1615" u="none" cap="none" strike="noStrike">
              <a:solidFill>
                <a:srgbClr val="CBD5E1"/>
              </a:solidFill>
              <a:latin typeface="Roboto"/>
              <a:ea typeface="Roboto"/>
              <a:cs typeface="Roboto"/>
              <a:sym typeface="Roboto"/>
            </a:endParaRPr>
          </a:p>
        </p:txBody>
      </p:sp>
      <p:pic>
        <p:nvPicPr>
          <p:cNvPr descr="image.png" id="310" name="Google Shape;310;g3a2ea1eac06_1_268"/>
          <p:cNvPicPr preferRelativeResize="0"/>
          <p:nvPr/>
        </p:nvPicPr>
        <p:blipFill rotWithShape="1">
          <a:blip r:embed="rId8">
            <a:alphaModFix/>
          </a:blip>
          <a:srcRect b="0" l="0" r="0" t="0"/>
          <a:stretch/>
        </p:blipFill>
        <p:spPr>
          <a:xfrm>
            <a:off x="16565823" y="5719047"/>
            <a:ext cx="738925" cy="888993"/>
          </a:xfrm>
          <a:prstGeom prst="rect">
            <a:avLst/>
          </a:prstGeom>
          <a:noFill/>
          <a:ln>
            <a:noFill/>
          </a:ln>
        </p:spPr>
      </p:pic>
      <p:sp>
        <p:nvSpPr>
          <p:cNvPr id="311" name="Google Shape;311;g3a2ea1eac06_1_268"/>
          <p:cNvSpPr txBox="1"/>
          <p:nvPr/>
        </p:nvSpPr>
        <p:spPr>
          <a:xfrm>
            <a:off x="833725" y="2816225"/>
            <a:ext cx="4988100" cy="209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s-CL" sz="2100" u="none" cap="none" strike="noStrike">
                <a:solidFill>
                  <a:schemeClr val="dk1"/>
                </a:solidFill>
                <a:latin typeface="Arial"/>
                <a:ea typeface="Arial"/>
                <a:cs typeface="Arial"/>
                <a:sym typeface="Arial"/>
              </a:rPr>
              <a:t>El Portal Principal (</a:t>
            </a:r>
            <a:r>
              <a:rPr b="1" i="0" lang="es-CL" sz="2100" u="none" cap="none" strike="noStrike">
                <a:solidFill>
                  <a:srgbClr val="188038"/>
                </a:solidFill>
                <a:latin typeface="Roboto Mono"/>
                <a:ea typeface="Roboto Mono"/>
                <a:cs typeface="Roboto Mono"/>
                <a:sym typeface="Roboto Mono"/>
              </a:rPr>
              <a:t>tropezón.space</a:t>
            </a:r>
            <a:r>
              <a:rPr b="1" i="0" lang="es-CL" sz="2100" u="none" cap="none" strike="noStrike">
                <a:solidFill>
                  <a:schemeClr val="dk1"/>
                </a:solidFill>
                <a:latin typeface="Arial"/>
                <a:ea typeface="Arial"/>
                <a:cs typeface="Arial"/>
                <a:sym typeface="Arial"/>
              </a:rPr>
              <a:t>) utiliza un stack probado de WordPress 6.8.2, Elementor 3.31.2 y MySQL 8.0.35, optimizado con Yoast SEO para la gestión de contenido.</a:t>
            </a:r>
            <a:endParaRPr b="1" i="0" sz="2100" u="none" cap="none" strike="noStrike">
              <a:solidFill>
                <a:srgbClr val="000000"/>
              </a:solidFill>
              <a:latin typeface="Calibri"/>
              <a:ea typeface="Calibri"/>
              <a:cs typeface="Calibri"/>
              <a:sym typeface="Calibri"/>
            </a:endParaRPr>
          </a:p>
        </p:txBody>
      </p:sp>
      <p:sp>
        <p:nvSpPr>
          <p:cNvPr id="312" name="Google Shape;312;g3a2ea1eac06_1_268"/>
          <p:cNvSpPr txBox="1"/>
          <p:nvPr/>
        </p:nvSpPr>
        <p:spPr>
          <a:xfrm>
            <a:off x="7558000" y="2652888"/>
            <a:ext cx="4988100" cy="1805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CL" sz="2000" u="none" cap="none" strike="noStrike">
                <a:solidFill>
                  <a:schemeClr val="dk1"/>
                </a:solidFill>
                <a:latin typeface="Arial"/>
                <a:ea typeface="Arial"/>
                <a:cs typeface="Arial"/>
                <a:sym typeface="Arial"/>
              </a:rPr>
              <a:t>paralelamente, la App de Formularios y el Panel Admin se desarrollaron como una solución a medida con PHP Nativo, HTML5/CSS3, Bootstrap 5 y JavaScript, garantizando una interfaz segura, rápida y responsive.</a:t>
            </a:r>
            <a:endParaRPr b="1" i="0" sz="2000" u="none" cap="none" strike="noStrike">
              <a:solidFill>
                <a:srgbClr val="000000"/>
              </a:solidFill>
              <a:latin typeface="Calibri"/>
              <a:ea typeface="Calibri"/>
              <a:cs typeface="Calibri"/>
              <a:sym typeface="Calibri"/>
            </a:endParaRPr>
          </a:p>
        </p:txBody>
      </p:sp>
      <p:sp>
        <p:nvSpPr>
          <p:cNvPr id="313" name="Google Shape;313;g3a2ea1eac06_1_268"/>
          <p:cNvSpPr txBox="1"/>
          <p:nvPr/>
        </p:nvSpPr>
        <p:spPr>
          <a:xfrm>
            <a:off x="14638475" y="2652888"/>
            <a:ext cx="4451400" cy="2090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1" i="0" lang="es-CL" sz="2100" u="none" cap="none" strike="noStrike">
                <a:solidFill>
                  <a:schemeClr val="dk1"/>
                </a:solidFill>
                <a:latin typeface="Arial"/>
                <a:ea typeface="Arial"/>
                <a:cs typeface="Arial"/>
                <a:sym typeface="Arial"/>
              </a:rPr>
              <a:t>Toda la gestión del proyecto se realizó con Trello y GitHub, se integró Google Analytics para la analítica y se desplegó en un Hosting Compartido con Cpanel</a:t>
            </a:r>
            <a:endParaRPr b="1" i="0" sz="2100" u="none" cap="none" strike="noStrike">
              <a:solidFill>
                <a:srgbClr val="000000"/>
              </a:solidFill>
              <a:latin typeface="Calibri"/>
              <a:ea typeface="Calibri"/>
              <a:cs typeface="Calibri"/>
              <a:sym typeface="Calibri"/>
            </a:endParaRPr>
          </a:p>
        </p:txBody>
      </p:sp>
      <p:cxnSp>
        <p:nvCxnSpPr>
          <p:cNvPr id="314" name="Google Shape;314;g3a2ea1eac06_1_268"/>
          <p:cNvCxnSpPr/>
          <p:nvPr/>
        </p:nvCxnSpPr>
        <p:spPr>
          <a:xfrm flipH="1" rot="10800000">
            <a:off x="-1550" y="4812525"/>
            <a:ext cx="20107200" cy="15000"/>
          </a:xfrm>
          <a:prstGeom prst="straightConnector1">
            <a:avLst/>
          </a:prstGeom>
          <a:noFill/>
          <a:ln cap="flat" cmpd="sng" w="38100">
            <a:solidFill>
              <a:schemeClr val="dk1"/>
            </a:solidFill>
            <a:prstDash val="solid"/>
            <a:round/>
            <a:headEnd len="sm" w="sm" type="none"/>
            <a:tailEnd len="sm" w="sm" type="none"/>
          </a:ln>
        </p:spPr>
      </p:cxnSp>
      <p:cxnSp>
        <p:nvCxnSpPr>
          <p:cNvPr id="315" name="Google Shape;315;g3a2ea1eac06_1_268"/>
          <p:cNvCxnSpPr/>
          <p:nvPr/>
        </p:nvCxnSpPr>
        <p:spPr>
          <a:xfrm flipH="1" rot="10800000">
            <a:off x="5364800" y="1566700"/>
            <a:ext cx="10890900" cy="357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pic>
        <p:nvPicPr>
          <p:cNvPr descr="image.png" id="321" name="Google Shape;321;g3993719c3f7_2_72"/>
          <p:cNvPicPr preferRelativeResize="0"/>
          <p:nvPr/>
        </p:nvPicPr>
        <p:blipFill rotWithShape="1">
          <a:blip r:embed="rId3">
            <a:alphaModFix/>
          </a:blip>
          <a:srcRect b="0" l="0" r="0" t="0"/>
          <a:stretch/>
        </p:blipFill>
        <p:spPr>
          <a:xfrm>
            <a:off x="2682238" y="1689025"/>
            <a:ext cx="4663362" cy="8192750"/>
          </a:xfrm>
          <a:prstGeom prst="rect">
            <a:avLst/>
          </a:prstGeom>
          <a:noFill/>
          <a:ln>
            <a:noFill/>
          </a:ln>
        </p:spPr>
      </p:pic>
      <p:pic>
        <p:nvPicPr>
          <p:cNvPr descr="image.png" id="322" name="Google Shape;322;g3993719c3f7_2_72"/>
          <p:cNvPicPr preferRelativeResize="0"/>
          <p:nvPr/>
        </p:nvPicPr>
        <p:blipFill rotWithShape="1">
          <a:blip r:embed="rId4">
            <a:alphaModFix/>
          </a:blip>
          <a:srcRect b="0" l="0" r="0" t="0"/>
          <a:stretch/>
        </p:blipFill>
        <p:spPr>
          <a:xfrm>
            <a:off x="7720360" y="1775250"/>
            <a:ext cx="4663362" cy="8192750"/>
          </a:xfrm>
          <a:prstGeom prst="rect">
            <a:avLst/>
          </a:prstGeom>
          <a:noFill/>
          <a:ln>
            <a:noFill/>
          </a:ln>
        </p:spPr>
      </p:pic>
      <p:pic>
        <p:nvPicPr>
          <p:cNvPr descr="image.png" id="323" name="Google Shape;323;g3993719c3f7_2_72"/>
          <p:cNvPicPr preferRelativeResize="0"/>
          <p:nvPr/>
        </p:nvPicPr>
        <p:blipFill rotWithShape="1">
          <a:blip r:embed="rId5">
            <a:alphaModFix/>
          </a:blip>
          <a:srcRect b="0" l="0" r="0" t="0"/>
          <a:stretch/>
        </p:blipFill>
        <p:spPr>
          <a:xfrm>
            <a:off x="12758482" y="1775250"/>
            <a:ext cx="4663381" cy="8192751"/>
          </a:xfrm>
          <a:prstGeom prst="rect">
            <a:avLst/>
          </a:prstGeom>
          <a:noFill/>
          <a:ln>
            <a:noFill/>
          </a:ln>
        </p:spPr>
      </p:pic>
      <p:sp>
        <p:nvSpPr>
          <p:cNvPr id="324" name="Google Shape;324;g3993719c3f7_2_72"/>
          <p:cNvSpPr txBox="1"/>
          <p:nvPr/>
        </p:nvSpPr>
        <p:spPr>
          <a:xfrm>
            <a:off x="3419229" y="2087533"/>
            <a:ext cx="3794700" cy="78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557"/>
              <a:buFont typeface="Arial"/>
              <a:buNone/>
            </a:pPr>
            <a:r>
              <a:rPr b="1" i="0" lang="es-CL" sz="2557" u="none" cap="none" strike="noStrike">
                <a:solidFill>
                  <a:srgbClr val="F39C12"/>
                </a:solidFill>
                <a:latin typeface="Roboto Slab"/>
                <a:ea typeface="Roboto Slab"/>
                <a:cs typeface="Roboto Slab"/>
                <a:sym typeface="Roboto Slab"/>
              </a:rPr>
              <a:t>Seguridad (Anti-Inyección SQL)</a:t>
            </a:r>
            <a:endParaRPr b="0" i="0" sz="1836" u="none" cap="none" strike="noStrike">
              <a:solidFill>
                <a:srgbClr val="000000"/>
              </a:solidFill>
              <a:latin typeface="Arial"/>
              <a:ea typeface="Arial"/>
              <a:cs typeface="Arial"/>
              <a:sym typeface="Arial"/>
            </a:endParaRPr>
          </a:p>
        </p:txBody>
      </p:sp>
      <p:sp>
        <p:nvSpPr>
          <p:cNvPr id="325" name="Google Shape;325;g3993719c3f7_2_72"/>
          <p:cNvSpPr txBox="1"/>
          <p:nvPr/>
        </p:nvSpPr>
        <p:spPr>
          <a:xfrm>
            <a:off x="8394894" y="2087533"/>
            <a:ext cx="3860400" cy="7872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557"/>
              <a:buFont typeface="Arial"/>
              <a:buNone/>
            </a:pPr>
            <a:r>
              <a:rPr b="1" i="0" lang="es-CL" sz="2557" u="none" cap="none" strike="noStrike">
                <a:solidFill>
                  <a:srgbClr val="F39C12"/>
                </a:solidFill>
                <a:latin typeface="Roboto Slab"/>
                <a:ea typeface="Roboto Slab"/>
                <a:cs typeface="Roboto Slab"/>
                <a:sym typeface="Roboto Slab"/>
              </a:rPr>
              <a:t>Gestión Inteligente de Archivos</a:t>
            </a:r>
            <a:endParaRPr b="0" i="0" sz="1836" u="none" cap="none" strike="noStrike">
              <a:solidFill>
                <a:srgbClr val="000000"/>
              </a:solidFill>
              <a:latin typeface="Arial"/>
              <a:ea typeface="Arial"/>
              <a:cs typeface="Arial"/>
              <a:sym typeface="Arial"/>
            </a:endParaRPr>
          </a:p>
        </p:txBody>
      </p:sp>
      <p:sp>
        <p:nvSpPr>
          <p:cNvPr id="326" name="Google Shape;326;g3993719c3f7_2_72"/>
          <p:cNvSpPr txBox="1"/>
          <p:nvPr/>
        </p:nvSpPr>
        <p:spPr>
          <a:xfrm>
            <a:off x="13433016" y="2087533"/>
            <a:ext cx="3860400" cy="3936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557"/>
              <a:buFont typeface="Arial"/>
              <a:buNone/>
            </a:pPr>
            <a:r>
              <a:rPr b="1" i="0" lang="es-CL" sz="2557" u="none" cap="none" strike="noStrike">
                <a:solidFill>
                  <a:srgbClr val="F39C12"/>
                </a:solidFill>
                <a:latin typeface="Roboto Slab"/>
                <a:ea typeface="Roboto Slab"/>
                <a:cs typeface="Roboto Slab"/>
                <a:sym typeface="Roboto Slab"/>
              </a:rPr>
              <a:t>UX &amp; Diseño Responsive</a:t>
            </a:r>
            <a:endParaRPr b="0" i="0" sz="1836" u="none" cap="none" strike="noStrike">
              <a:solidFill>
                <a:srgbClr val="000000"/>
              </a:solidFill>
              <a:latin typeface="Arial"/>
              <a:ea typeface="Arial"/>
              <a:cs typeface="Arial"/>
              <a:sym typeface="Arial"/>
            </a:endParaRPr>
          </a:p>
        </p:txBody>
      </p:sp>
      <p:pic>
        <p:nvPicPr>
          <p:cNvPr descr="image.png" id="327" name="Google Shape;327;g3993719c3f7_2_72"/>
          <p:cNvPicPr preferRelativeResize="0"/>
          <p:nvPr/>
        </p:nvPicPr>
        <p:blipFill rotWithShape="1">
          <a:blip r:embed="rId6">
            <a:alphaModFix/>
          </a:blip>
          <a:srcRect b="0" l="0" r="0" t="0"/>
          <a:stretch/>
        </p:blipFill>
        <p:spPr>
          <a:xfrm>
            <a:off x="2863127" y="2149770"/>
            <a:ext cx="406200" cy="406237"/>
          </a:xfrm>
          <a:prstGeom prst="rect">
            <a:avLst/>
          </a:prstGeom>
          <a:noFill/>
          <a:ln>
            <a:noFill/>
          </a:ln>
        </p:spPr>
      </p:pic>
      <p:sp>
        <p:nvSpPr>
          <p:cNvPr id="328" name="Google Shape;328;g3993719c3f7_2_72"/>
          <p:cNvSpPr txBox="1"/>
          <p:nvPr/>
        </p:nvSpPr>
        <p:spPr>
          <a:xfrm>
            <a:off x="2994522" y="3124313"/>
            <a:ext cx="40389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3"/>
              <a:buFont typeface="Arial"/>
              <a:buNone/>
            </a:pPr>
            <a:r>
              <a:rPr b="0" i="0" lang="es-CL" sz="1573" u="none" cap="none" strike="noStrike">
                <a:solidFill>
                  <a:srgbClr val="CBD5E1"/>
                </a:solidFill>
                <a:latin typeface="Roboto"/>
                <a:ea typeface="Roboto"/>
                <a:cs typeface="Roboto"/>
                <a:sym typeface="Roboto"/>
              </a:rPr>
              <a:t>Protege la base de datos de ataques. Usamos </a:t>
            </a:r>
            <a:r>
              <a:rPr b="1" i="0" lang="es-CL" sz="1573" u="none" cap="none" strike="noStrike">
                <a:solidFill>
                  <a:srgbClr val="CBD5E1"/>
                </a:solidFill>
                <a:latin typeface="Roboto"/>
                <a:ea typeface="Roboto"/>
                <a:cs typeface="Roboto"/>
                <a:sym typeface="Roboto"/>
              </a:rPr>
              <a:t>Sentencias Preparadas</a:t>
            </a:r>
            <a:r>
              <a:rPr b="0" i="0" lang="es-CL" sz="1573" u="none" cap="none" strike="noStrike">
                <a:solidFill>
                  <a:srgbClr val="CBD5E1"/>
                </a:solidFill>
                <a:latin typeface="Roboto"/>
                <a:ea typeface="Roboto"/>
                <a:cs typeface="Roboto"/>
                <a:sym typeface="Roboto"/>
              </a:rPr>
              <a:t> para separar los comandos SQL de los datos del usuario, evitando código malicioso.</a:t>
            </a:r>
            <a:endParaRPr b="0" i="0" sz="1836" u="none" cap="none" strike="noStrike">
              <a:solidFill>
                <a:srgbClr val="000000"/>
              </a:solidFill>
              <a:latin typeface="Arial"/>
              <a:ea typeface="Arial"/>
              <a:cs typeface="Arial"/>
              <a:sym typeface="Arial"/>
            </a:endParaRPr>
          </a:p>
        </p:txBody>
      </p:sp>
      <p:sp>
        <p:nvSpPr>
          <p:cNvPr id="329" name="Google Shape;329;g3993719c3f7_2_72"/>
          <p:cNvSpPr txBox="1"/>
          <p:nvPr/>
        </p:nvSpPr>
        <p:spPr>
          <a:xfrm>
            <a:off x="3181893" y="7532190"/>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CA3AF"/>
                </a:solidFill>
                <a:latin typeface="Arial"/>
                <a:ea typeface="Arial"/>
                <a:cs typeface="Arial"/>
                <a:sym typeface="Arial"/>
              </a:rPr>
              <a:t>// guardar.php</a:t>
            </a:r>
            <a:endParaRPr b="0" i="0" sz="1836" u="none" cap="none" strike="noStrike">
              <a:solidFill>
                <a:srgbClr val="000000"/>
              </a:solidFill>
              <a:latin typeface="Arial"/>
              <a:ea typeface="Arial"/>
              <a:cs typeface="Arial"/>
              <a:sym typeface="Arial"/>
            </a:endParaRPr>
          </a:p>
        </p:txBody>
      </p:sp>
      <p:sp>
        <p:nvSpPr>
          <p:cNvPr id="330" name="Google Shape;330;g3993719c3f7_2_72"/>
          <p:cNvSpPr txBox="1"/>
          <p:nvPr/>
        </p:nvSpPr>
        <p:spPr>
          <a:xfrm>
            <a:off x="3181893" y="7775770"/>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$stmt</a:t>
            </a:r>
            <a:endParaRPr b="0" i="0" sz="1836" u="none" cap="none" strike="noStrike">
              <a:solidFill>
                <a:srgbClr val="000000"/>
              </a:solidFill>
              <a:latin typeface="Arial"/>
              <a:ea typeface="Arial"/>
              <a:cs typeface="Arial"/>
              <a:sym typeface="Arial"/>
            </a:endParaRPr>
          </a:p>
        </p:txBody>
      </p:sp>
      <p:sp>
        <p:nvSpPr>
          <p:cNvPr id="331" name="Google Shape;331;g3993719c3f7_2_72"/>
          <p:cNvSpPr txBox="1"/>
          <p:nvPr/>
        </p:nvSpPr>
        <p:spPr>
          <a:xfrm>
            <a:off x="3831444" y="7775770"/>
            <a:ext cx="406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$conn</a:t>
            </a:r>
            <a:endParaRPr b="0" i="0" sz="1836" u="none" cap="none" strike="noStrike">
              <a:solidFill>
                <a:srgbClr val="000000"/>
              </a:solidFill>
              <a:latin typeface="Arial"/>
              <a:ea typeface="Arial"/>
              <a:cs typeface="Arial"/>
              <a:sym typeface="Arial"/>
            </a:endParaRPr>
          </a:p>
        </p:txBody>
      </p:sp>
      <p:sp>
        <p:nvSpPr>
          <p:cNvPr id="332" name="Google Shape;332;g3993719c3f7_2_72"/>
          <p:cNvSpPr txBox="1"/>
          <p:nvPr/>
        </p:nvSpPr>
        <p:spPr>
          <a:xfrm>
            <a:off x="4399801" y="7775770"/>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FACC15"/>
                </a:solidFill>
                <a:latin typeface="Arial"/>
                <a:ea typeface="Arial"/>
                <a:cs typeface="Arial"/>
                <a:sym typeface="Arial"/>
              </a:rPr>
              <a:t>prepare</a:t>
            </a:r>
            <a:endParaRPr b="0" i="0" sz="1836" u="none" cap="none" strike="noStrike">
              <a:solidFill>
                <a:srgbClr val="000000"/>
              </a:solidFill>
              <a:latin typeface="Arial"/>
              <a:ea typeface="Arial"/>
              <a:cs typeface="Arial"/>
              <a:sym typeface="Arial"/>
            </a:endParaRPr>
          </a:p>
        </p:txBody>
      </p:sp>
      <p:sp>
        <p:nvSpPr>
          <p:cNvPr id="333" name="Google Shape;333;g3993719c3f7_2_72"/>
          <p:cNvSpPr txBox="1"/>
          <p:nvPr/>
        </p:nvSpPr>
        <p:spPr>
          <a:xfrm>
            <a:off x="3181893" y="8506513"/>
            <a:ext cx="3004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CA3AF"/>
                </a:solidFill>
                <a:latin typeface="Arial"/>
                <a:ea typeface="Arial"/>
                <a:cs typeface="Arial"/>
                <a:sym typeface="Arial"/>
              </a:rPr>
              <a:t>// Vincula variables de PHP a los '?'</a:t>
            </a:r>
            <a:endParaRPr b="0" i="0" sz="1836" u="none" cap="none" strike="noStrike">
              <a:solidFill>
                <a:srgbClr val="000000"/>
              </a:solidFill>
              <a:latin typeface="Arial"/>
              <a:ea typeface="Arial"/>
              <a:cs typeface="Arial"/>
              <a:sym typeface="Arial"/>
            </a:endParaRPr>
          </a:p>
        </p:txBody>
      </p:sp>
      <p:sp>
        <p:nvSpPr>
          <p:cNvPr id="334" name="Google Shape;334;g3993719c3f7_2_72"/>
          <p:cNvSpPr txBox="1"/>
          <p:nvPr/>
        </p:nvSpPr>
        <p:spPr>
          <a:xfrm>
            <a:off x="3181893" y="8750094"/>
            <a:ext cx="4062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$stmt</a:t>
            </a:r>
            <a:endParaRPr b="0" i="0" sz="1836" u="none" cap="none" strike="noStrike">
              <a:solidFill>
                <a:srgbClr val="000000"/>
              </a:solidFill>
              <a:latin typeface="Arial"/>
              <a:ea typeface="Arial"/>
              <a:cs typeface="Arial"/>
              <a:sym typeface="Arial"/>
            </a:endParaRPr>
          </a:p>
        </p:txBody>
      </p:sp>
      <p:sp>
        <p:nvSpPr>
          <p:cNvPr id="335" name="Google Shape;335;g3993719c3f7_2_72"/>
          <p:cNvSpPr txBox="1"/>
          <p:nvPr/>
        </p:nvSpPr>
        <p:spPr>
          <a:xfrm>
            <a:off x="4643383" y="8750094"/>
            <a:ext cx="730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"sssssss"</a:t>
            </a:r>
            <a:endParaRPr b="0" i="0" sz="1836" u="none" cap="none" strike="noStrike">
              <a:solidFill>
                <a:srgbClr val="000000"/>
              </a:solidFill>
              <a:latin typeface="Arial"/>
              <a:ea typeface="Arial"/>
              <a:cs typeface="Arial"/>
              <a:sym typeface="Arial"/>
            </a:endParaRPr>
          </a:p>
        </p:txBody>
      </p:sp>
      <p:sp>
        <p:nvSpPr>
          <p:cNvPr id="336" name="Google Shape;336;g3993719c3f7_2_72"/>
          <p:cNvSpPr txBox="1"/>
          <p:nvPr/>
        </p:nvSpPr>
        <p:spPr>
          <a:xfrm>
            <a:off x="5536516" y="8750094"/>
            <a:ext cx="5685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$nomb</a:t>
            </a:r>
            <a:endParaRPr b="0" i="0" sz="1836" u="none" cap="none" strike="noStrike">
              <a:solidFill>
                <a:srgbClr val="000000"/>
              </a:solidFill>
              <a:latin typeface="Arial"/>
              <a:ea typeface="Arial"/>
              <a:cs typeface="Arial"/>
              <a:sym typeface="Arial"/>
            </a:endParaRPr>
          </a:p>
        </p:txBody>
      </p:sp>
      <p:sp>
        <p:nvSpPr>
          <p:cNvPr id="337" name="Google Shape;337;g3993719c3f7_2_72"/>
          <p:cNvSpPr txBox="1"/>
          <p:nvPr/>
        </p:nvSpPr>
        <p:spPr>
          <a:xfrm>
            <a:off x="6267262" y="8750094"/>
            <a:ext cx="3249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$rut</a:t>
            </a:r>
            <a:endParaRPr b="0" i="0" sz="1836" u="none" cap="none" strike="noStrike">
              <a:solidFill>
                <a:srgbClr val="000000"/>
              </a:solidFill>
              <a:latin typeface="Arial"/>
              <a:ea typeface="Arial"/>
              <a:cs typeface="Arial"/>
              <a:sym typeface="Arial"/>
            </a:endParaRPr>
          </a:p>
        </p:txBody>
      </p:sp>
      <p:sp>
        <p:nvSpPr>
          <p:cNvPr id="338" name="Google Shape;338;g3993719c3f7_2_72"/>
          <p:cNvSpPr txBox="1"/>
          <p:nvPr/>
        </p:nvSpPr>
        <p:spPr>
          <a:xfrm>
            <a:off x="3181893" y="9237255"/>
            <a:ext cx="4062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$stmt</a:t>
            </a:r>
            <a:endParaRPr b="0" i="0" sz="1836" u="none" cap="none" strike="noStrike">
              <a:solidFill>
                <a:srgbClr val="000000"/>
              </a:solidFill>
              <a:latin typeface="Arial"/>
              <a:ea typeface="Arial"/>
              <a:cs typeface="Arial"/>
              <a:sym typeface="Arial"/>
            </a:endParaRPr>
          </a:p>
        </p:txBody>
      </p:sp>
      <p:sp>
        <p:nvSpPr>
          <p:cNvPr id="339" name="Google Shape;339;g3993719c3f7_2_72"/>
          <p:cNvSpPr txBox="1"/>
          <p:nvPr/>
        </p:nvSpPr>
        <p:spPr>
          <a:xfrm>
            <a:off x="3750250" y="9237255"/>
            <a:ext cx="568500" cy="0"/>
          </a:xfrm>
          <a:prstGeom prst="rect">
            <a:avLst/>
          </a:prstGeom>
          <a:noFill/>
          <a:ln>
            <a:noFill/>
          </a:ln>
        </p:spPr>
        <p:txBody>
          <a:bodyPr anchorCtr="0" anchor="t" bIns="0" lIns="0" spcFirstLastPara="1" rIns="0" wrap="square" tIns="0">
            <a:no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FACC15"/>
                </a:solidFill>
                <a:latin typeface="Arial"/>
                <a:ea typeface="Arial"/>
                <a:cs typeface="Arial"/>
                <a:sym typeface="Arial"/>
              </a:rPr>
              <a:t>execute</a:t>
            </a:r>
            <a:endParaRPr b="0" i="0" sz="1836" u="none" cap="none" strike="noStrike">
              <a:solidFill>
                <a:srgbClr val="000000"/>
              </a:solidFill>
              <a:latin typeface="Arial"/>
              <a:ea typeface="Arial"/>
              <a:cs typeface="Arial"/>
              <a:sym typeface="Arial"/>
            </a:endParaRPr>
          </a:p>
        </p:txBody>
      </p:sp>
      <p:pic>
        <p:nvPicPr>
          <p:cNvPr descr="image.png" id="340" name="Google Shape;340;g3993719c3f7_2_72"/>
          <p:cNvPicPr preferRelativeResize="0"/>
          <p:nvPr/>
        </p:nvPicPr>
        <p:blipFill rotWithShape="1">
          <a:blip r:embed="rId7">
            <a:alphaModFix/>
          </a:blip>
          <a:srcRect b="0" l="0" r="0" t="0"/>
          <a:stretch/>
        </p:blipFill>
        <p:spPr>
          <a:xfrm>
            <a:off x="7851453" y="2142645"/>
            <a:ext cx="324900" cy="420488"/>
          </a:xfrm>
          <a:prstGeom prst="rect">
            <a:avLst/>
          </a:prstGeom>
          <a:noFill/>
          <a:ln>
            <a:noFill/>
          </a:ln>
        </p:spPr>
      </p:pic>
      <p:sp>
        <p:nvSpPr>
          <p:cNvPr id="341" name="Google Shape;341;g3993719c3f7_2_72"/>
          <p:cNvSpPr txBox="1"/>
          <p:nvPr/>
        </p:nvSpPr>
        <p:spPr>
          <a:xfrm>
            <a:off x="8032582" y="2930513"/>
            <a:ext cx="4038900" cy="17925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3"/>
              <a:buFont typeface="Arial"/>
              <a:buNone/>
            </a:pPr>
            <a:r>
              <a:rPr b="0" i="0" lang="es-CL" sz="1573" u="none" cap="none" strike="noStrike">
                <a:solidFill>
                  <a:srgbClr val="CBD5E1"/>
                </a:solidFill>
                <a:latin typeface="Roboto"/>
                <a:ea typeface="Roboto"/>
                <a:cs typeface="Roboto"/>
                <a:sym typeface="Roboto"/>
              </a:rPr>
              <a:t>Maneja la subida de archivos (imágenes, PDF) de forma segura. El código mueve el archivo al servidor y **guarda solo la ruta de texto** en la base de datos, manteniéndola ligera.</a:t>
            </a:r>
            <a:endParaRPr b="0" i="0" sz="1836" u="none" cap="none" strike="noStrike">
              <a:solidFill>
                <a:srgbClr val="000000"/>
              </a:solidFill>
              <a:latin typeface="Arial"/>
              <a:ea typeface="Arial"/>
              <a:cs typeface="Arial"/>
              <a:sym typeface="Arial"/>
            </a:endParaRPr>
          </a:p>
        </p:txBody>
      </p:sp>
      <p:sp>
        <p:nvSpPr>
          <p:cNvPr id="342" name="Google Shape;342;g3993719c3f7_2_72"/>
          <p:cNvSpPr txBox="1"/>
          <p:nvPr/>
        </p:nvSpPr>
        <p:spPr>
          <a:xfrm>
            <a:off x="8220015" y="6801447"/>
            <a:ext cx="11367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CA3AF"/>
                </a:solidFill>
                <a:latin typeface="Arial"/>
                <a:ea typeface="Arial"/>
                <a:cs typeface="Arial"/>
                <a:sym typeface="Arial"/>
              </a:rPr>
              <a:t>// guardar.php</a:t>
            </a:r>
            <a:endParaRPr b="0" i="0" sz="1836" u="none" cap="none" strike="noStrike">
              <a:solidFill>
                <a:srgbClr val="000000"/>
              </a:solidFill>
              <a:latin typeface="Arial"/>
              <a:ea typeface="Arial"/>
              <a:cs typeface="Arial"/>
              <a:sym typeface="Arial"/>
            </a:endParaRPr>
          </a:p>
        </p:txBody>
      </p:sp>
      <p:sp>
        <p:nvSpPr>
          <p:cNvPr id="343" name="Google Shape;343;g3993719c3f7_2_72"/>
          <p:cNvSpPr txBox="1"/>
          <p:nvPr/>
        </p:nvSpPr>
        <p:spPr>
          <a:xfrm>
            <a:off x="8220015" y="7045028"/>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$ruta_imagen_guardada</a:t>
            </a:r>
            <a:endParaRPr b="0" i="0" sz="1836" u="none" cap="none" strike="noStrike">
              <a:solidFill>
                <a:srgbClr val="000000"/>
              </a:solidFill>
              <a:latin typeface="Arial"/>
              <a:ea typeface="Arial"/>
              <a:cs typeface="Arial"/>
              <a:sym typeface="Arial"/>
            </a:endParaRPr>
          </a:p>
        </p:txBody>
      </p:sp>
      <p:sp>
        <p:nvSpPr>
          <p:cNvPr id="344" name="Google Shape;344;g3993719c3f7_2_72"/>
          <p:cNvSpPr txBox="1"/>
          <p:nvPr/>
        </p:nvSpPr>
        <p:spPr>
          <a:xfrm>
            <a:off x="10168669" y="7045028"/>
            <a:ext cx="3249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NULL</a:t>
            </a:r>
            <a:endParaRPr b="0" i="0" sz="1836" u="none" cap="none" strike="noStrike">
              <a:solidFill>
                <a:srgbClr val="000000"/>
              </a:solidFill>
              <a:latin typeface="Arial"/>
              <a:ea typeface="Arial"/>
              <a:cs typeface="Arial"/>
              <a:sym typeface="Arial"/>
            </a:endParaRPr>
          </a:p>
        </p:txBody>
      </p:sp>
      <p:sp>
        <p:nvSpPr>
          <p:cNvPr id="345" name="Google Shape;345;g3993719c3f7_2_72"/>
          <p:cNvSpPr txBox="1"/>
          <p:nvPr/>
        </p:nvSpPr>
        <p:spPr>
          <a:xfrm>
            <a:off x="8220015" y="7288608"/>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$target_file</a:t>
            </a:r>
            <a:endParaRPr b="0" i="0" sz="1836" u="none" cap="none" strike="noStrike">
              <a:solidFill>
                <a:srgbClr val="000000"/>
              </a:solidFill>
              <a:latin typeface="Arial"/>
              <a:ea typeface="Arial"/>
              <a:cs typeface="Arial"/>
              <a:sym typeface="Arial"/>
            </a:endParaRPr>
          </a:p>
        </p:txBody>
      </p:sp>
      <p:sp>
        <p:nvSpPr>
          <p:cNvPr id="346" name="Google Shape;346;g3993719c3f7_2_72"/>
          <p:cNvSpPr txBox="1"/>
          <p:nvPr/>
        </p:nvSpPr>
        <p:spPr>
          <a:xfrm>
            <a:off x="9437923" y="7288608"/>
            <a:ext cx="8931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$target_dir</a:t>
            </a:r>
            <a:endParaRPr b="0" i="0" sz="1836" u="none" cap="none" strike="noStrike">
              <a:solidFill>
                <a:srgbClr val="000000"/>
              </a:solidFill>
              <a:latin typeface="Arial"/>
              <a:ea typeface="Arial"/>
              <a:cs typeface="Arial"/>
              <a:sym typeface="Arial"/>
            </a:endParaRPr>
          </a:p>
        </p:txBody>
      </p:sp>
      <p:sp>
        <p:nvSpPr>
          <p:cNvPr id="347" name="Google Shape;347;g3993719c3f7_2_72"/>
          <p:cNvSpPr txBox="1"/>
          <p:nvPr/>
        </p:nvSpPr>
        <p:spPr>
          <a:xfrm>
            <a:off x="8220015" y="7532190"/>
            <a:ext cx="6498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FACC15"/>
                </a:solidFill>
                <a:latin typeface="Arial"/>
                <a:ea typeface="Arial"/>
                <a:cs typeface="Arial"/>
                <a:sym typeface="Arial"/>
              </a:rPr>
              <a:t>basename</a:t>
            </a:r>
            <a:endParaRPr b="0" i="0" sz="1836" u="none" cap="none" strike="noStrike">
              <a:solidFill>
                <a:srgbClr val="000000"/>
              </a:solidFill>
              <a:latin typeface="Arial"/>
              <a:ea typeface="Arial"/>
              <a:cs typeface="Arial"/>
              <a:sym typeface="Arial"/>
            </a:endParaRPr>
          </a:p>
        </p:txBody>
      </p:sp>
      <p:sp>
        <p:nvSpPr>
          <p:cNvPr id="348" name="Google Shape;348;g3993719c3f7_2_72"/>
          <p:cNvSpPr txBox="1"/>
          <p:nvPr/>
        </p:nvSpPr>
        <p:spPr>
          <a:xfrm>
            <a:off x="8950759" y="7532190"/>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$_FILES</a:t>
            </a:r>
            <a:endParaRPr b="0" i="0" sz="1836" u="none" cap="none" strike="noStrike">
              <a:solidFill>
                <a:srgbClr val="000000"/>
              </a:solidFill>
              <a:latin typeface="Arial"/>
              <a:ea typeface="Arial"/>
              <a:cs typeface="Arial"/>
              <a:sym typeface="Arial"/>
            </a:endParaRPr>
          </a:p>
        </p:txBody>
      </p:sp>
      <p:sp>
        <p:nvSpPr>
          <p:cNvPr id="349" name="Google Shape;349;g3993719c3f7_2_72"/>
          <p:cNvSpPr txBox="1"/>
          <p:nvPr/>
        </p:nvSpPr>
        <p:spPr>
          <a:xfrm>
            <a:off x="9600311" y="7532190"/>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"imagen"</a:t>
            </a:r>
            <a:endParaRPr b="0" i="0" sz="1836" u="none" cap="none" strike="noStrike">
              <a:solidFill>
                <a:srgbClr val="000000"/>
              </a:solidFill>
              <a:latin typeface="Arial"/>
              <a:ea typeface="Arial"/>
              <a:cs typeface="Arial"/>
              <a:sym typeface="Arial"/>
            </a:endParaRPr>
          </a:p>
        </p:txBody>
      </p:sp>
      <p:sp>
        <p:nvSpPr>
          <p:cNvPr id="350" name="Google Shape;350;g3993719c3f7_2_72"/>
          <p:cNvSpPr txBox="1"/>
          <p:nvPr/>
        </p:nvSpPr>
        <p:spPr>
          <a:xfrm>
            <a:off x="10412250" y="7532190"/>
            <a:ext cx="487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"name"</a:t>
            </a:r>
            <a:endParaRPr b="0" i="0" sz="1836" u="none" cap="none" strike="noStrike">
              <a:solidFill>
                <a:srgbClr val="000000"/>
              </a:solidFill>
              <a:latin typeface="Arial"/>
              <a:ea typeface="Arial"/>
              <a:cs typeface="Arial"/>
              <a:sym typeface="Arial"/>
            </a:endParaRPr>
          </a:p>
        </p:txBody>
      </p:sp>
      <p:sp>
        <p:nvSpPr>
          <p:cNvPr id="351" name="Google Shape;351;g3993719c3f7_2_72"/>
          <p:cNvSpPr txBox="1"/>
          <p:nvPr/>
        </p:nvSpPr>
        <p:spPr>
          <a:xfrm>
            <a:off x="8220015" y="8019352"/>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CA3AF"/>
                </a:solidFill>
                <a:latin typeface="Arial"/>
                <a:ea typeface="Arial"/>
                <a:cs typeface="Arial"/>
                <a:sym typeface="Arial"/>
              </a:rPr>
              <a:t>// Mueve el archivo al servidor</a:t>
            </a:r>
            <a:endParaRPr b="0" i="0" sz="1836" u="none" cap="none" strike="noStrike">
              <a:solidFill>
                <a:srgbClr val="000000"/>
              </a:solidFill>
              <a:latin typeface="Arial"/>
              <a:ea typeface="Arial"/>
              <a:cs typeface="Arial"/>
              <a:sym typeface="Arial"/>
            </a:endParaRPr>
          </a:p>
        </p:txBody>
      </p:sp>
      <p:sp>
        <p:nvSpPr>
          <p:cNvPr id="352" name="Google Shape;352;g3993719c3f7_2_72"/>
          <p:cNvSpPr txBox="1"/>
          <p:nvPr/>
        </p:nvSpPr>
        <p:spPr>
          <a:xfrm>
            <a:off x="8544790" y="8262932"/>
            <a:ext cx="14616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FACC15"/>
                </a:solidFill>
                <a:latin typeface="Arial"/>
                <a:ea typeface="Arial"/>
                <a:cs typeface="Arial"/>
                <a:sym typeface="Arial"/>
              </a:rPr>
              <a:t>move_uploaded_file</a:t>
            </a:r>
            <a:endParaRPr b="0" i="0" sz="1836" u="none" cap="none" strike="noStrike">
              <a:solidFill>
                <a:srgbClr val="000000"/>
              </a:solidFill>
              <a:latin typeface="Arial"/>
              <a:ea typeface="Arial"/>
              <a:cs typeface="Arial"/>
              <a:sym typeface="Arial"/>
            </a:endParaRPr>
          </a:p>
        </p:txBody>
      </p:sp>
      <p:sp>
        <p:nvSpPr>
          <p:cNvPr id="353" name="Google Shape;353;g3993719c3f7_2_72"/>
          <p:cNvSpPr txBox="1"/>
          <p:nvPr/>
        </p:nvSpPr>
        <p:spPr>
          <a:xfrm>
            <a:off x="10087474" y="8262932"/>
            <a:ext cx="5685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$_FILES</a:t>
            </a:r>
            <a:endParaRPr b="0" i="0" sz="1836" u="none" cap="none" strike="noStrike">
              <a:solidFill>
                <a:srgbClr val="000000"/>
              </a:solidFill>
              <a:latin typeface="Arial"/>
              <a:ea typeface="Arial"/>
              <a:cs typeface="Arial"/>
              <a:sym typeface="Arial"/>
            </a:endParaRPr>
          </a:p>
        </p:txBody>
      </p:sp>
      <p:sp>
        <p:nvSpPr>
          <p:cNvPr id="354" name="Google Shape;354;g3993719c3f7_2_72"/>
          <p:cNvSpPr txBox="1"/>
          <p:nvPr/>
        </p:nvSpPr>
        <p:spPr>
          <a:xfrm>
            <a:off x="10737026" y="8262932"/>
            <a:ext cx="6498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"imagen"</a:t>
            </a:r>
            <a:endParaRPr b="0" i="0" sz="1836" u="none" cap="none" strike="noStrike">
              <a:solidFill>
                <a:srgbClr val="000000"/>
              </a:solidFill>
              <a:latin typeface="Arial"/>
              <a:ea typeface="Arial"/>
              <a:cs typeface="Arial"/>
              <a:sym typeface="Arial"/>
            </a:endParaRPr>
          </a:p>
        </p:txBody>
      </p:sp>
      <p:sp>
        <p:nvSpPr>
          <p:cNvPr id="355" name="Google Shape;355;g3993719c3f7_2_72"/>
          <p:cNvSpPr txBox="1"/>
          <p:nvPr/>
        </p:nvSpPr>
        <p:spPr>
          <a:xfrm>
            <a:off x="8301208" y="8506513"/>
            <a:ext cx="8121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A5B4FC"/>
                </a:solidFill>
                <a:latin typeface="Arial"/>
                <a:ea typeface="Arial"/>
                <a:cs typeface="Arial"/>
                <a:sym typeface="Arial"/>
              </a:rPr>
              <a:t>"tmp_name"</a:t>
            </a:r>
            <a:endParaRPr b="0" i="0" sz="1836" u="none" cap="none" strike="noStrike">
              <a:solidFill>
                <a:srgbClr val="000000"/>
              </a:solidFill>
              <a:latin typeface="Arial"/>
              <a:ea typeface="Arial"/>
              <a:cs typeface="Arial"/>
              <a:sym typeface="Arial"/>
            </a:endParaRPr>
          </a:p>
        </p:txBody>
      </p:sp>
      <p:sp>
        <p:nvSpPr>
          <p:cNvPr id="356" name="Google Shape;356;g3993719c3f7_2_72"/>
          <p:cNvSpPr txBox="1"/>
          <p:nvPr/>
        </p:nvSpPr>
        <p:spPr>
          <a:xfrm>
            <a:off x="9356730" y="8506513"/>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$target_file</a:t>
            </a:r>
            <a:endParaRPr b="0" i="0" sz="1836" u="none" cap="none" strike="noStrike">
              <a:solidFill>
                <a:srgbClr val="000000"/>
              </a:solidFill>
              <a:latin typeface="Arial"/>
              <a:ea typeface="Arial"/>
              <a:cs typeface="Arial"/>
              <a:sym typeface="Arial"/>
            </a:endParaRPr>
          </a:p>
        </p:txBody>
      </p:sp>
      <p:sp>
        <p:nvSpPr>
          <p:cNvPr id="357" name="Google Shape;357;g3993719c3f7_2_72"/>
          <p:cNvSpPr txBox="1"/>
          <p:nvPr/>
        </p:nvSpPr>
        <p:spPr>
          <a:xfrm>
            <a:off x="8544790" y="8750094"/>
            <a:ext cx="25170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CA3AF"/>
                </a:solidFill>
                <a:latin typeface="Arial"/>
                <a:ea typeface="Arial"/>
                <a:cs typeface="Arial"/>
                <a:sym typeface="Arial"/>
              </a:rPr>
              <a:t>// Guarda solo la RUTA en la BD</a:t>
            </a:r>
            <a:endParaRPr b="0" i="0" sz="1836" u="none" cap="none" strike="noStrike">
              <a:solidFill>
                <a:srgbClr val="000000"/>
              </a:solidFill>
              <a:latin typeface="Arial"/>
              <a:ea typeface="Arial"/>
              <a:cs typeface="Arial"/>
              <a:sym typeface="Arial"/>
            </a:endParaRPr>
          </a:p>
        </p:txBody>
      </p:sp>
      <p:sp>
        <p:nvSpPr>
          <p:cNvPr id="358" name="Google Shape;358;g3993719c3f7_2_72"/>
          <p:cNvSpPr txBox="1"/>
          <p:nvPr/>
        </p:nvSpPr>
        <p:spPr>
          <a:xfrm>
            <a:off x="8544790" y="8993675"/>
            <a:ext cx="1705200" cy="4920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$ruta_imagen_guardada</a:t>
            </a:r>
            <a:endParaRPr b="0" i="0" sz="1836" u="none" cap="none" strike="noStrike">
              <a:solidFill>
                <a:srgbClr val="000000"/>
              </a:solidFill>
              <a:latin typeface="Arial"/>
              <a:ea typeface="Arial"/>
              <a:cs typeface="Arial"/>
              <a:sym typeface="Arial"/>
            </a:endParaRPr>
          </a:p>
        </p:txBody>
      </p:sp>
      <p:sp>
        <p:nvSpPr>
          <p:cNvPr id="359" name="Google Shape;359;g3993719c3f7_2_72"/>
          <p:cNvSpPr txBox="1"/>
          <p:nvPr/>
        </p:nvSpPr>
        <p:spPr>
          <a:xfrm>
            <a:off x="10493445" y="8993675"/>
            <a:ext cx="974400" cy="196800"/>
          </a:xfrm>
          <a:prstGeom prst="rect">
            <a:avLst/>
          </a:prstGeom>
          <a:noFill/>
          <a:ln>
            <a:noFill/>
          </a:ln>
        </p:spPr>
        <p:txBody>
          <a:bodyPr anchorCtr="0" anchor="t" bIns="0" lIns="0" spcFirstLastPara="1" rIns="0" wrap="square" tIns="0">
            <a:spAutoFit/>
          </a:bodyPr>
          <a:lstStyle/>
          <a:p>
            <a:pPr indent="0" lvl="0" marL="0" marR="0" rtl="0" algn="l">
              <a:lnSpc>
                <a:spcPct val="149948"/>
              </a:lnSpc>
              <a:spcBef>
                <a:spcPts val="0"/>
              </a:spcBef>
              <a:spcAft>
                <a:spcPts val="0"/>
              </a:spcAft>
              <a:buClr>
                <a:srgbClr val="000000"/>
              </a:buClr>
              <a:buSzPts val="1278"/>
              <a:buFont typeface="Arial"/>
              <a:buNone/>
            </a:pPr>
            <a:r>
              <a:rPr b="0" i="0" lang="es-CL" sz="1278" u="none" cap="none" strike="noStrike">
                <a:solidFill>
                  <a:srgbClr val="93C5FD"/>
                </a:solidFill>
                <a:latin typeface="Arial"/>
                <a:ea typeface="Arial"/>
                <a:cs typeface="Arial"/>
                <a:sym typeface="Arial"/>
              </a:rPr>
              <a:t>$target_file</a:t>
            </a:r>
            <a:endParaRPr b="0" i="0" sz="1836" u="none" cap="none" strike="noStrike">
              <a:solidFill>
                <a:srgbClr val="000000"/>
              </a:solidFill>
              <a:latin typeface="Arial"/>
              <a:ea typeface="Arial"/>
              <a:cs typeface="Arial"/>
              <a:sym typeface="Arial"/>
            </a:endParaRPr>
          </a:p>
        </p:txBody>
      </p:sp>
      <p:pic>
        <p:nvPicPr>
          <p:cNvPr descr="image.png" id="360" name="Google Shape;360;g3993719c3f7_2_72"/>
          <p:cNvPicPr preferRelativeResize="0"/>
          <p:nvPr/>
        </p:nvPicPr>
        <p:blipFill rotWithShape="1">
          <a:blip r:embed="rId8">
            <a:alphaModFix/>
          </a:blip>
          <a:srcRect b="0" l="0" r="0" t="0"/>
          <a:stretch/>
        </p:blipFill>
        <p:spPr>
          <a:xfrm>
            <a:off x="12890157" y="2078981"/>
            <a:ext cx="380155" cy="492000"/>
          </a:xfrm>
          <a:prstGeom prst="rect">
            <a:avLst/>
          </a:prstGeom>
          <a:noFill/>
          <a:ln>
            <a:noFill/>
          </a:ln>
        </p:spPr>
      </p:pic>
      <p:sp>
        <p:nvSpPr>
          <p:cNvPr id="361" name="Google Shape;361;g3993719c3f7_2_72"/>
          <p:cNvSpPr txBox="1"/>
          <p:nvPr/>
        </p:nvSpPr>
        <p:spPr>
          <a:xfrm>
            <a:off x="12919697" y="2874736"/>
            <a:ext cx="4355100" cy="1404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573"/>
              <a:buFont typeface="Arial"/>
              <a:buNone/>
            </a:pPr>
            <a:r>
              <a:rPr b="0" i="0" lang="es-CL" sz="1573" u="none" cap="none" strike="noStrike">
                <a:solidFill>
                  <a:srgbClr val="CBD5E1"/>
                </a:solidFill>
                <a:latin typeface="Roboto"/>
                <a:ea typeface="Roboto"/>
                <a:cs typeface="Roboto"/>
                <a:sym typeface="Roboto"/>
              </a:rPr>
              <a:t>Se utiliza **Bootstrap 5 y Bootstrap Icons** para unificar el diseño. Esto garantiza una experiencia de usuario (UX) coherente, profesional y **100% responsive**.</a:t>
            </a:r>
            <a:endParaRPr b="0" i="0" sz="1836" u="none" cap="none" strike="noStrike">
              <a:solidFill>
                <a:srgbClr val="000000"/>
              </a:solidFill>
              <a:latin typeface="Arial"/>
              <a:ea typeface="Arial"/>
              <a:cs typeface="Arial"/>
              <a:sym typeface="Arial"/>
            </a:endParaRPr>
          </a:p>
        </p:txBody>
      </p:sp>
      <p:pic>
        <p:nvPicPr>
          <p:cNvPr id="362" name="Google Shape;362;g3993719c3f7_2_72"/>
          <p:cNvPicPr preferRelativeResize="0"/>
          <p:nvPr/>
        </p:nvPicPr>
        <p:blipFill rotWithShape="1">
          <a:blip r:embed="rId9">
            <a:alphaModFix/>
          </a:blip>
          <a:srcRect b="0" l="0" r="0" t="0"/>
          <a:stretch/>
        </p:blipFill>
        <p:spPr>
          <a:xfrm>
            <a:off x="2994522" y="6565227"/>
            <a:ext cx="4038819" cy="3186696"/>
          </a:xfrm>
          <a:prstGeom prst="rect">
            <a:avLst/>
          </a:prstGeom>
          <a:noFill/>
          <a:ln>
            <a:noFill/>
          </a:ln>
        </p:spPr>
      </p:pic>
      <p:pic>
        <p:nvPicPr>
          <p:cNvPr id="363" name="Google Shape;363;g3993719c3f7_2_72"/>
          <p:cNvPicPr preferRelativeResize="0"/>
          <p:nvPr/>
        </p:nvPicPr>
        <p:blipFill rotWithShape="1">
          <a:blip r:embed="rId10">
            <a:alphaModFix/>
          </a:blip>
          <a:srcRect b="0" l="0" r="0" t="0"/>
          <a:stretch/>
        </p:blipFill>
        <p:spPr>
          <a:xfrm>
            <a:off x="13167107" y="4415271"/>
            <a:ext cx="3860275" cy="5129967"/>
          </a:xfrm>
          <a:prstGeom prst="rect">
            <a:avLst/>
          </a:prstGeom>
          <a:noFill/>
          <a:ln>
            <a:noFill/>
          </a:ln>
        </p:spPr>
      </p:pic>
      <p:pic>
        <p:nvPicPr>
          <p:cNvPr id="364" name="Google Shape;364;g3993719c3f7_2_72"/>
          <p:cNvPicPr preferRelativeResize="0"/>
          <p:nvPr/>
        </p:nvPicPr>
        <p:blipFill rotWithShape="1">
          <a:blip r:embed="rId11">
            <a:alphaModFix/>
          </a:blip>
          <a:srcRect b="0" l="0" r="0" t="0"/>
          <a:stretch/>
        </p:blipFill>
        <p:spPr>
          <a:xfrm>
            <a:off x="8147914" y="6565227"/>
            <a:ext cx="3860274" cy="3186697"/>
          </a:xfrm>
          <a:prstGeom prst="rect">
            <a:avLst/>
          </a:prstGeom>
          <a:noFill/>
          <a:ln>
            <a:noFill/>
          </a:ln>
        </p:spPr>
      </p:pic>
      <p:sp>
        <p:nvSpPr>
          <p:cNvPr id="365" name="Google Shape;365;g3993719c3f7_2_72"/>
          <p:cNvSpPr txBox="1"/>
          <p:nvPr/>
        </p:nvSpPr>
        <p:spPr>
          <a:xfrm>
            <a:off x="4972363" y="591725"/>
            <a:ext cx="10211400" cy="118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1" i="0" lang="es-CL" sz="4800" u="none" cap="none" strike="noStrike">
                <a:solidFill>
                  <a:srgbClr val="000000"/>
                </a:solidFill>
                <a:latin typeface="Calibri"/>
                <a:ea typeface="Calibri"/>
                <a:cs typeface="Calibri"/>
                <a:sym typeface="Calibri"/>
              </a:rPr>
              <a:t>Funciones Clave de la Aplicación (PHP)</a:t>
            </a:r>
            <a:endParaRPr b="1" i="0" sz="4800" u="none" cap="none" strike="noStrike">
              <a:solidFill>
                <a:srgbClr val="000000"/>
              </a:solidFill>
              <a:latin typeface="Calibri"/>
              <a:ea typeface="Calibri"/>
              <a:cs typeface="Calibri"/>
              <a:sym typeface="Calibri"/>
            </a:endParaRPr>
          </a:p>
        </p:txBody>
      </p:sp>
      <p:cxnSp>
        <p:nvCxnSpPr>
          <p:cNvPr id="366" name="Google Shape;366;g3993719c3f7_2_72"/>
          <p:cNvCxnSpPr/>
          <p:nvPr/>
        </p:nvCxnSpPr>
        <p:spPr>
          <a:xfrm>
            <a:off x="4941450" y="1411925"/>
            <a:ext cx="10035000" cy="354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pic>
        <p:nvPicPr>
          <p:cNvPr descr="image.png" id="371" name="Google Shape;371;g3a2ea1eac06_0_57"/>
          <p:cNvPicPr preferRelativeResize="0"/>
          <p:nvPr/>
        </p:nvPicPr>
        <p:blipFill rotWithShape="1">
          <a:blip r:embed="rId3">
            <a:alphaModFix/>
          </a:blip>
          <a:srcRect b="0" l="0" r="0" t="0"/>
          <a:stretch/>
        </p:blipFill>
        <p:spPr>
          <a:xfrm>
            <a:off x="9750550" y="5360150"/>
            <a:ext cx="4770376" cy="4351399"/>
          </a:xfrm>
          <a:prstGeom prst="rect">
            <a:avLst/>
          </a:prstGeom>
          <a:noFill/>
          <a:ln>
            <a:noFill/>
          </a:ln>
        </p:spPr>
      </p:pic>
      <p:pic>
        <p:nvPicPr>
          <p:cNvPr descr="image.png" id="372" name="Google Shape;372;g3a2ea1eac06_0_57"/>
          <p:cNvPicPr preferRelativeResize="0"/>
          <p:nvPr/>
        </p:nvPicPr>
        <p:blipFill rotWithShape="1">
          <a:blip r:embed="rId4">
            <a:alphaModFix/>
          </a:blip>
          <a:srcRect b="0" l="0" r="0" t="0"/>
          <a:stretch/>
        </p:blipFill>
        <p:spPr>
          <a:xfrm>
            <a:off x="14855699" y="5360150"/>
            <a:ext cx="4770376" cy="4351399"/>
          </a:xfrm>
          <a:prstGeom prst="rect">
            <a:avLst/>
          </a:prstGeom>
          <a:noFill/>
          <a:ln>
            <a:noFill/>
          </a:ln>
        </p:spPr>
      </p:pic>
      <p:sp>
        <p:nvSpPr>
          <p:cNvPr id="373" name="Google Shape;373;g3a2ea1eac06_0_57"/>
          <p:cNvSpPr txBox="1"/>
          <p:nvPr/>
        </p:nvSpPr>
        <p:spPr>
          <a:xfrm>
            <a:off x="10302910" y="5611224"/>
            <a:ext cx="4165200" cy="284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45"/>
              <a:buFont typeface="Arial"/>
              <a:buNone/>
            </a:pPr>
            <a:r>
              <a:rPr b="1" i="0" lang="es-CL" sz="1845" u="none" cap="none" strike="noStrike">
                <a:solidFill>
                  <a:srgbClr val="F39C12"/>
                </a:solidFill>
                <a:latin typeface="Roboto Slab"/>
                <a:ea typeface="Roboto Slab"/>
                <a:cs typeface="Roboto Slab"/>
                <a:sym typeface="Roboto Slab"/>
              </a:rPr>
              <a:t>Tabla: `registros`</a:t>
            </a:r>
            <a:endParaRPr b="0" i="0" sz="1230" u="none" cap="none" strike="noStrike">
              <a:solidFill>
                <a:srgbClr val="000000"/>
              </a:solidFill>
              <a:latin typeface="Arial"/>
              <a:ea typeface="Arial"/>
              <a:cs typeface="Arial"/>
              <a:sym typeface="Arial"/>
            </a:endParaRPr>
          </a:p>
        </p:txBody>
      </p:sp>
      <p:sp>
        <p:nvSpPr>
          <p:cNvPr id="374" name="Google Shape;374;g3a2ea1eac06_0_57"/>
          <p:cNvSpPr/>
          <p:nvPr/>
        </p:nvSpPr>
        <p:spPr>
          <a:xfrm>
            <a:off x="10001623" y="6004574"/>
            <a:ext cx="4268400" cy="17100"/>
          </a:xfrm>
          <a:prstGeom prst="rect">
            <a:avLst/>
          </a:prstGeom>
          <a:solidFill>
            <a:srgbClr val="334155"/>
          </a:solidFill>
          <a:ln>
            <a:noFill/>
          </a:ln>
        </p:spPr>
        <p:txBody>
          <a:bodyPr anchorCtr="0" anchor="ctr" bIns="40150" lIns="80300" spcFirstLastPara="1" rIns="80300" wrap="square" tIns="40150">
            <a:noAutofit/>
          </a:bodyPr>
          <a:lstStyle/>
          <a:p>
            <a:pPr indent="0" lvl="0" marL="0" marR="0" rtl="0" algn="ctr">
              <a:lnSpc>
                <a:spcPct val="100000"/>
              </a:lnSpc>
              <a:spcBef>
                <a:spcPts val="0"/>
              </a:spcBef>
              <a:spcAft>
                <a:spcPts val="0"/>
              </a:spcAft>
              <a:buClr>
                <a:srgbClr val="000000"/>
              </a:buClr>
              <a:buSzPts val="1581"/>
              <a:buFont typeface="Arial"/>
              <a:buNone/>
            </a:pPr>
            <a:r>
              <a:t/>
            </a:r>
            <a:endParaRPr b="0" i="0" sz="1581" u="none" cap="none" strike="noStrike">
              <a:solidFill>
                <a:srgbClr val="000000"/>
              </a:solidFill>
              <a:latin typeface="Calibri"/>
              <a:ea typeface="Calibri"/>
              <a:cs typeface="Calibri"/>
              <a:sym typeface="Calibri"/>
            </a:endParaRPr>
          </a:p>
        </p:txBody>
      </p:sp>
      <p:sp>
        <p:nvSpPr>
          <p:cNvPr id="375" name="Google Shape;375;g3a2ea1eac06_0_57"/>
          <p:cNvSpPr txBox="1"/>
          <p:nvPr/>
        </p:nvSpPr>
        <p:spPr>
          <a:xfrm>
            <a:off x="10001623" y="6146849"/>
            <a:ext cx="4268400" cy="1725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120"/>
              <a:buFont typeface="Arial"/>
              <a:buNone/>
            </a:pPr>
            <a:r>
              <a:rPr b="0" i="1" lang="es-CL" sz="1120" u="none" cap="none" strike="noStrike">
                <a:solidFill>
                  <a:srgbClr val="CBD5E1"/>
                </a:solidFill>
                <a:latin typeface="Roboto"/>
                <a:ea typeface="Roboto"/>
                <a:cs typeface="Roboto"/>
                <a:sym typeface="Roboto"/>
              </a:rPr>
              <a:t>Almacena todas las noticias enviadas por los usuarios.</a:t>
            </a:r>
            <a:endParaRPr b="0" i="0" sz="1230" u="none" cap="none" strike="noStrike">
              <a:solidFill>
                <a:srgbClr val="000000"/>
              </a:solidFill>
              <a:latin typeface="Arial"/>
              <a:ea typeface="Arial"/>
              <a:cs typeface="Arial"/>
              <a:sym typeface="Arial"/>
            </a:endParaRPr>
          </a:p>
        </p:txBody>
      </p:sp>
      <p:sp>
        <p:nvSpPr>
          <p:cNvPr id="376" name="Google Shape;376;g3a2ea1eac06_0_57"/>
          <p:cNvSpPr txBox="1"/>
          <p:nvPr/>
        </p:nvSpPr>
        <p:spPr>
          <a:xfrm>
            <a:off x="15207202" y="5611224"/>
            <a:ext cx="4376100" cy="2841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1845"/>
              <a:buFont typeface="Arial"/>
              <a:buNone/>
            </a:pPr>
            <a:r>
              <a:rPr b="1" i="0" lang="es-CL" sz="1845" u="none" cap="none" strike="noStrike">
                <a:solidFill>
                  <a:srgbClr val="F39C12"/>
                </a:solidFill>
                <a:latin typeface="Roboto Slab"/>
                <a:ea typeface="Roboto Slab"/>
                <a:cs typeface="Roboto Slab"/>
                <a:sym typeface="Roboto Slab"/>
              </a:rPr>
              <a:t>Tabla: `publicidad_solicitudes`</a:t>
            </a:r>
            <a:endParaRPr b="0" i="0" sz="1230" u="none" cap="none" strike="noStrike">
              <a:solidFill>
                <a:srgbClr val="000000"/>
              </a:solidFill>
              <a:latin typeface="Arial"/>
              <a:ea typeface="Arial"/>
              <a:cs typeface="Arial"/>
              <a:sym typeface="Arial"/>
            </a:endParaRPr>
          </a:p>
        </p:txBody>
      </p:sp>
      <p:sp>
        <p:nvSpPr>
          <p:cNvPr id="377" name="Google Shape;377;g3a2ea1eac06_0_57"/>
          <p:cNvSpPr/>
          <p:nvPr/>
        </p:nvSpPr>
        <p:spPr>
          <a:xfrm>
            <a:off x="15106772" y="6004574"/>
            <a:ext cx="4268400" cy="17100"/>
          </a:xfrm>
          <a:prstGeom prst="rect">
            <a:avLst/>
          </a:prstGeom>
          <a:solidFill>
            <a:srgbClr val="334155"/>
          </a:solidFill>
          <a:ln>
            <a:noFill/>
          </a:ln>
        </p:spPr>
        <p:txBody>
          <a:bodyPr anchorCtr="0" anchor="ctr" bIns="40150" lIns="80300" spcFirstLastPara="1" rIns="80300" wrap="square" tIns="40150">
            <a:noAutofit/>
          </a:bodyPr>
          <a:lstStyle/>
          <a:p>
            <a:pPr indent="0" lvl="0" marL="0" marR="0" rtl="0" algn="ctr">
              <a:lnSpc>
                <a:spcPct val="100000"/>
              </a:lnSpc>
              <a:spcBef>
                <a:spcPts val="0"/>
              </a:spcBef>
              <a:spcAft>
                <a:spcPts val="0"/>
              </a:spcAft>
              <a:buClr>
                <a:srgbClr val="000000"/>
              </a:buClr>
              <a:buSzPts val="1581"/>
              <a:buFont typeface="Arial"/>
              <a:buNone/>
            </a:pPr>
            <a:r>
              <a:t/>
            </a:r>
            <a:endParaRPr b="0" i="0" sz="1581" u="none" cap="none" strike="noStrike">
              <a:solidFill>
                <a:srgbClr val="000000"/>
              </a:solidFill>
              <a:latin typeface="Calibri"/>
              <a:ea typeface="Calibri"/>
              <a:cs typeface="Calibri"/>
              <a:sym typeface="Calibri"/>
            </a:endParaRPr>
          </a:p>
        </p:txBody>
      </p:sp>
      <p:sp>
        <p:nvSpPr>
          <p:cNvPr id="378" name="Google Shape;378;g3a2ea1eac06_0_57"/>
          <p:cNvSpPr txBox="1"/>
          <p:nvPr/>
        </p:nvSpPr>
        <p:spPr>
          <a:xfrm>
            <a:off x="15106772" y="6146849"/>
            <a:ext cx="4268400" cy="1725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120"/>
              <a:buFont typeface="Arial"/>
              <a:buNone/>
            </a:pPr>
            <a:r>
              <a:rPr b="0" i="1" lang="es-CL" sz="1120" u="none" cap="none" strike="noStrike">
                <a:solidFill>
                  <a:srgbClr val="CBD5E1"/>
                </a:solidFill>
                <a:latin typeface="Roboto"/>
                <a:ea typeface="Roboto"/>
                <a:cs typeface="Roboto"/>
                <a:sym typeface="Roboto"/>
              </a:rPr>
              <a:t>Gestiona las solicitudes de clientes para publicitar en el sitio.</a:t>
            </a:r>
            <a:endParaRPr b="0" i="0" sz="1230" u="none" cap="none" strike="noStrike">
              <a:solidFill>
                <a:srgbClr val="000000"/>
              </a:solidFill>
              <a:latin typeface="Arial"/>
              <a:ea typeface="Arial"/>
              <a:cs typeface="Arial"/>
              <a:sym typeface="Arial"/>
            </a:endParaRPr>
          </a:p>
        </p:txBody>
      </p:sp>
      <p:sp>
        <p:nvSpPr>
          <p:cNvPr id="379" name="Google Shape;379;g3a2ea1eac06_0_57"/>
          <p:cNvSpPr txBox="1"/>
          <p:nvPr/>
        </p:nvSpPr>
        <p:spPr>
          <a:xfrm>
            <a:off x="10252696" y="6541767"/>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id (PK) INT</a:t>
            </a:r>
            <a:endParaRPr b="0" i="0" sz="1230" u="none" cap="none" strike="noStrike">
              <a:solidFill>
                <a:srgbClr val="000000"/>
              </a:solidFill>
              <a:latin typeface="Arial"/>
              <a:ea typeface="Arial"/>
              <a:cs typeface="Arial"/>
              <a:sym typeface="Arial"/>
            </a:endParaRPr>
          </a:p>
        </p:txBody>
      </p:sp>
      <p:sp>
        <p:nvSpPr>
          <p:cNvPr id="380" name="Google Shape;380;g3a2ea1eac06_0_57"/>
          <p:cNvSpPr txBox="1"/>
          <p:nvPr/>
        </p:nvSpPr>
        <p:spPr>
          <a:xfrm>
            <a:off x="10252696" y="690661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nombre VARCHAR</a:t>
            </a:r>
            <a:endParaRPr b="0" i="0" sz="1230" u="none" cap="none" strike="noStrike">
              <a:solidFill>
                <a:srgbClr val="000000"/>
              </a:solidFill>
              <a:latin typeface="Arial"/>
              <a:ea typeface="Arial"/>
              <a:cs typeface="Arial"/>
              <a:sym typeface="Arial"/>
            </a:endParaRPr>
          </a:p>
        </p:txBody>
      </p:sp>
      <p:sp>
        <p:nvSpPr>
          <p:cNvPr id="381" name="Google Shape;381;g3a2ea1eac06_0_57"/>
          <p:cNvSpPr txBox="1"/>
          <p:nvPr/>
        </p:nvSpPr>
        <p:spPr>
          <a:xfrm>
            <a:off x="10252696" y="7271451"/>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rut VARCHAR</a:t>
            </a:r>
            <a:endParaRPr b="0" i="0" sz="1230" u="none" cap="none" strike="noStrike">
              <a:solidFill>
                <a:srgbClr val="000000"/>
              </a:solidFill>
              <a:latin typeface="Arial"/>
              <a:ea typeface="Arial"/>
              <a:cs typeface="Arial"/>
              <a:sym typeface="Arial"/>
            </a:endParaRPr>
          </a:p>
        </p:txBody>
      </p:sp>
      <p:sp>
        <p:nvSpPr>
          <p:cNvPr id="382" name="Google Shape;382;g3a2ea1eac06_0_57"/>
          <p:cNvSpPr txBox="1"/>
          <p:nvPr/>
        </p:nvSpPr>
        <p:spPr>
          <a:xfrm>
            <a:off x="10252696" y="7636294"/>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correo VARCHAR (NULL)</a:t>
            </a:r>
            <a:endParaRPr b="0" i="0" sz="1230" u="none" cap="none" strike="noStrike">
              <a:solidFill>
                <a:srgbClr val="000000"/>
              </a:solidFill>
              <a:latin typeface="Arial"/>
              <a:ea typeface="Arial"/>
              <a:cs typeface="Arial"/>
              <a:sym typeface="Arial"/>
            </a:endParaRPr>
          </a:p>
        </p:txBody>
      </p:sp>
      <p:sp>
        <p:nvSpPr>
          <p:cNvPr id="383" name="Google Shape;383;g3a2ea1eac06_0_57"/>
          <p:cNvSpPr txBox="1"/>
          <p:nvPr/>
        </p:nvSpPr>
        <p:spPr>
          <a:xfrm>
            <a:off x="10252696" y="8001136"/>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noticia TEXT</a:t>
            </a:r>
            <a:endParaRPr b="0" i="0" sz="1230" u="none" cap="none" strike="noStrike">
              <a:solidFill>
                <a:srgbClr val="000000"/>
              </a:solidFill>
              <a:latin typeface="Arial"/>
              <a:ea typeface="Arial"/>
              <a:cs typeface="Arial"/>
              <a:sym typeface="Arial"/>
            </a:endParaRPr>
          </a:p>
        </p:txBody>
      </p:sp>
      <p:sp>
        <p:nvSpPr>
          <p:cNvPr id="384" name="Google Shape;384;g3a2ea1eac06_0_57"/>
          <p:cNvSpPr txBox="1"/>
          <p:nvPr/>
        </p:nvSpPr>
        <p:spPr>
          <a:xfrm>
            <a:off x="10252696" y="8365978"/>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ruta_imagen VARCHAR (NULL)</a:t>
            </a:r>
            <a:endParaRPr b="0" i="0" sz="1230" u="none" cap="none" strike="noStrike">
              <a:solidFill>
                <a:srgbClr val="000000"/>
              </a:solidFill>
              <a:latin typeface="Arial"/>
              <a:ea typeface="Arial"/>
              <a:cs typeface="Arial"/>
              <a:sym typeface="Arial"/>
            </a:endParaRPr>
          </a:p>
        </p:txBody>
      </p:sp>
      <p:sp>
        <p:nvSpPr>
          <p:cNvPr id="385" name="Google Shape;385;g3a2ea1eac06_0_57"/>
          <p:cNvSpPr txBox="1"/>
          <p:nvPr/>
        </p:nvSpPr>
        <p:spPr>
          <a:xfrm>
            <a:off x="10252696" y="873082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ruta_evidencia VARCHAR (NULL)</a:t>
            </a:r>
            <a:endParaRPr b="0" i="0" sz="1230" u="none" cap="none" strike="noStrike">
              <a:solidFill>
                <a:srgbClr val="000000"/>
              </a:solidFill>
              <a:latin typeface="Arial"/>
              <a:ea typeface="Arial"/>
              <a:cs typeface="Arial"/>
              <a:sym typeface="Arial"/>
            </a:endParaRPr>
          </a:p>
        </p:txBody>
      </p:sp>
      <p:sp>
        <p:nvSpPr>
          <p:cNvPr id="386" name="Google Shape;386;g3a2ea1eac06_0_57"/>
          <p:cNvSpPr txBox="1"/>
          <p:nvPr/>
        </p:nvSpPr>
        <p:spPr>
          <a:xfrm>
            <a:off x="10252696" y="9095662"/>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fecha_registro TIMESTAMP</a:t>
            </a:r>
            <a:endParaRPr b="0" i="0" sz="1230" u="none" cap="none" strike="noStrike">
              <a:solidFill>
                <a:srgbClr val="000000"/>
              </a:solidFill>
              <a:latin typeface="Arial"/>
              <a:ea typeface="Arial"/>
              <a:cs typeface="Arial"/>
              <a:sym typeface="Arial"/>
            </a:endParaRPr>
          </a:p>
        </p:txBody>
      </p:sp>
      <p:sp>
        <p:nvSpPr>
          <p:cNvPr id="387" name="Google Shape;387;g3a2ea1eac06_0_57"/>
          <p:cNvSpPr txBox="1"/>
          <p:nvPr/>
        </p:nvSpPr>
        <p:spPr>
          <a:xfrm>
            <a:off x="15357845" y="6541767"/>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id (PK) INT</a:t>
            </a:r>
            <a:endParaRPr b="0" i="0" sz="1230" u="none" cap="none" strike="noStrike">
              <a:solidFill>
                <a:srgbClr val="000000"/>
              </a:solidFill>
              <a:latin typeface="Arial"/>
              <a:ea typeface="Arial"/>
              <a:cs typeface="Arial"/>
              <a:sym typeface="Arial"/>
            </a:endParaRPr>
          </a:p>
        </p:txBody>
      </p:sp>
      <p:sp>
        <p:nvSpPr>
          <p:cNvPr id="388" name="Google Shape;388;g3a2ea1eac06_0_57"/>
          <p:cNvSpPr txBox="1"/>
          <p:nvPr/>
        </p:nvSpPr>
        <p:spPr>
          <a:xfrm>
            <a:off x="15357845" y="690661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nombre_marca VARCHAR</a:t>
            </a:r>
            <a:endParaRPr b="0" i="0" sz="1230" u="none" cap="none" strike="noStrike">
              <a:solidFill>
                <a:srgbClr val="000000"/>
              </a:solidFill>
              <a:latin typeface="Arial"/>
              <a:ea typeface="Arial"/>
              <a:cs typeface="Arial"/>
              <a:sym typeface="Arial"/>
            </a:endParaRPr>
          </a:p>
        </p:txBody>
      </p:sp>
      <p:sp>
        <p:nvSpPr>
          <p:cNvPr id="389" name="Google Shape;389;g3a2ea1eac06_0_57"/>
          <p:cNvSpPr txBox="1"/>
          <p:nvPr/>
        </p:nvSpPr>
        <p:spPr>
          <a:xfrm>
            <a:off x="15357845" y="7271451"/>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contacto_telefono VARCHAR</a:t>
            </a:r>
            <a:endParaRPr b="0" i="0" sz="1230" u="none" cap="none" strike="noStrike">
              <a:solidFill>
                <a:srgbClr val="000000"/>
              </a:solidFill>
              <a:latin typeface="Arial"/>
              <a:ea typeface="Arial"/>
              <a:cs typeface="Arial"/>
              <a:sym typeface="Arial"/>
            </a:endParaRPr>
          </a:p>
        </p:txBody>
      </p:sp>
      <p:sp>
        <p:nvSpPr>
          <p:cNvPr id="390" name="Google Shape;390;g3a2ea1eac06_0_57"/>
          <p:cNvSpPr txBox="1"/>
          <p:nvPr/>
        </p:nvSpPr>
        <p:spPr>
          <a:xfrm>
            <a:off x="15357845" y="7636294"/>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contacto_email VARCHAR</a:t>
            </a:r>
            <a:endParaRPr b="0" i="0" sz="1230" u="none" cap="none" strike="noStrike">
              <a:solidFill>
                <a:srgbClr val="000000"/>
              </a:solidFill>
              <a:latin typeface="Arial"/>
              <a:ea typeface="Arial"/>
              <a:cs typeface="Arial"/>
              <a:sym typeface="Arial"/>
            </a:endParaRPr>
          </a:p>
        </p:txBody>
      </p:sp>
      <p:sp>
        <p:nvSpPr>
          <p:cNvPr id="391" name="Google Shape;391;g3a2ea1eac06_0_57"/>
          <p:cNvSpPr txBox="1"/>
          <p:nvPr/>
        </p:nvSpPr>
        <p:spPr>
          <a:xfrm>
            <a:off x="15357845" y="8001136"/>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duracion VARCHAR</a:t>
            </a:r>
            <a:endParaRPr b="0" i="0" sz="1230" u="none" cap="none" strike="noStrike">
              <a:solidFill>
                <a:srgbClr val="000000"/>
              </a:solidFill>
              <a:latin typeface="Arial"/>
              <a:ea typeface="Arial"/>
              <a:cs typeface="Arial"/>
              <a:sym typeface="Arial"/>
            </a:endParaRPr>
          </a:p>
        </p:txBody>
      </p:sp>
      <p:sp>
        <p:nvSpPr>
          <p:cNvPr id="392" name="Google Shape;392;g3a2ea1eac06_0_57"/>
          <p:cNvSpPr txBox="1"/>
          <p:nvPr/>
        </p:nvSpPr>
        <p:spPr>
          <a:xfrm>
            <a:off x="15357845" y="8365978"/>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mensaje_publicitario TEXT (NULL)</a:t>
            </a:r>
            <a:endParaRPr b="0" i="0" sz="1230" u="none" cap="none" strike="noStrike">
              <a:solidFill>
                <a:srgbClr val="000000"/>
              </a:solidFill>
              <a:latin typeface="Arial"/>
              <a:ea typeface="Arial"/>
              <a:cs typeface="Arial"/>
              <a:sym typeface="Arial"/>
            </a:endParaRPr>
          </a:p>
        </p:txBody>
      </p:sp>
      <p:sp>
        <p:nvSpPr>
          <p:cNvPr id="393" name="Google Shape;393;g3a2ea1eac06_0_57"/>
          <p:cNvSpPr txBox="1"/>
          <p:nvPr/>
        </p:nvSpPr>
        <p:spPr>
          <a:xfrm>
            <a:off x="15357845" y="8730820"/>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ruta_foto VARCHAR (NULL)</a:t>
            </a:r>
            <a:endParaRPr b="0" i="0" sz="1230" u="none" cap="none" strike="noStrike">
              <a:solidFill>
                <a:srgbClr val="000000"/>
              </a:solidFill>
              <a:latin typeface="Arial"/>
              <a:ea typeface="Arial"/>
              <a:cs typeface="Arial"/>
              <a:sym typeface="Arial"/>
            </a:endParaRPr>
          </a:p>
        </p:txBody>
      </p:sp>
      <p:sp>
        <p:nvSpPr>
          <p:cNvPr id="394" name="Google Shape;394;g3a2ea1eac06_0_57"/>
          <p:cNvSpPr txBox="1"/>
          <p:nvPr/>
        </p:nvSpPr>
        <p:spPr>
          <a:xfrm>
            <a:off x="15357845" y="9095662"/>
            <a:ext cx="4017300" cy="162300"/>
          </a:xfrm>
          <a:prstGeom prst="rect">
            <a:avLst/>
          </a:prstGeom>
          <a:noFill/>
          <a:ln>
            <a:noFill/>
          </a:ln>
        </p:spPr>
        <p:txBody>
          <a:bodyPr anchorCtr="0" anchor="ctr" bIns="0" lIns="0" spcFirstLastPara="1" rIns="0" wrap="square" tIns="0">
            <a:spAutoFit/>
          </a:bodyPr>
          <a:lstStyle/>
          <a:p>
            <a:pPr indent="0" lvl="0" marL="0" marR="0" rtl="0" algn="l">
              <a:lnSpc>
                <a:spcPct val="160000"/>
              </a:lnSpc>
              <a:spcBef>
                <a:spcPts val="0"/>
              </a:spcBef>
              <a:spcAft>
                <a:spcPts val="0"/>
              </a:spcAft>
              <a:buClr>
                <a:srgbClr val="000000"/>
              </a:buClr>
              <a:buSzPts val="1054"/>
              <a:buFont typeface="Arial"/>
              <a:buNone/>
            </a:pPr>
            <a:r>
              <a:rPr b="0" i="0" lang="es-CL" sz="1054" u="none" cap="none" strike="noStrike">
                <a:solidFill>
                  <a:srgbClr val="CBD5E1"/>
                </a:solidFill>
                <a:latin typeface="Roboto"/>
                <a:ea typeface="Roboto"/>
                <a:cs typeface="Roboto"/>
                <a:sym typeface="Roboto"/>
              </a:rPr>
              <a:t>fecha_solicitud TIMESTAMP</a:t>
            </a:r>
            <a:endParaRPr b="0" i="0" sz="1230" u="none" cap="none" strike="noStrike">
              <a:solidFill>
                <a:srgbClr val="000000"/>
              </a:solidFill>
              <a:latin typeface="Arial"/>
              <a:ea typeface="Arial"/>
              <a:cs typeface="Arial"/>
              <a:sym typeface="Arial"/>
            </a:endParaRPr>
          </a:p>
        </p:txBody>
      </p:sp>
      <p:pic>
        <p:nvPicPr>
          <p:cNvPr descr="image.png" id="395" name="Google Shape;395;g3a2ea1eac06_0_57"/>
          <p:cNvPicPr preferRelativeResize="0"/>
          <p:nvPr/>
        </p:nvPicPr>
        <p:blipFill rotWithShape="1">
          <a:blip r:embed="rId5">
            <a:alphaModFix/>
          </a:blip>
          <a:srcRect b="0" l="0" r="0" t="0"/>
          <a:stretch/>
        </p:blipFill>
        <p:spPr>
          <a:xfrm>
            <a:off x="15106772" y="6607021"/>
            <a:ext cx="167382" cy="133906"/>
          </a:xfrm>
          <a:prstGeom prst="rect">
            <a:avLst/>
          </a:prstGeom>
          <a:noFill/>
          <a:ln>
            <a:noFill/>
          </a:ln>
        </p:spPr>
      </p:pic>
      <p:pic>
        <p:nvPicPr>
          <p:cNvPr descr="image.png" id="396" name="Google Shape;396;g3a2ea1eac06_0_57"/>
          <p:cNvPicPr preferRelativeResize="0"/>
          <p:nvPr/>
        </p:nvPicPr>
        <p:blipFill rotWithShape="1">
          <a:blip r:embed="rId6">
            <a:alphaModFix/>
          </a:blip>
          <a:srcRect b="0" l="0" r="0" t="0"/>
          <a:stretch/>
        </p:blipFill>
        <p:spPr>
          <a:xfrm>
            <a:off x="15106772" y="6971863"/>
            <a:ext cx="167382" cy="133906"/>
          </a:xfrm>
          <a:prstGeom prst="rect">
            <a:avLst/>
          </a:prstGeom>
          <a:noFill/>
          <a:ln>
            <a:noFill/>
          </a:ln>
        </p:spPr>
      </p:pic>
      <p:pic>
        <p:nvPicPr>
          <p:cNvPr descr="image.png" id="397" name="Google Shape;397;g3a2ea1eac06_0_57"/>
          <p:cNvPicPr preferRelativeResize="0"/>
          <p:nvPr/>
        </p:nvPicPr>
        <p:blipFill rotWithShape="1">
          <a:blip r:embed="rId7">
            <a:alphaModFix/>
          </a:blip>
          <a:srcRect b="0" l="0" r="0" t="0"/>
          <a:stretch/>
        </p:blipFill>
        <p:spPr>
          <a:xfrm>
            <a:off x="15106772" y="7336705"/>
            <a:ext cx="167382" cy="133906"/>
          </a:xfrm>
          <a:prstGeom prst="rect">
            <a:avLst/>
          </a:prstGeom>
          <a:noFill/>
          <a:ln>
            <a:noFill/>
          </a:ln>
        </p:spPr>
      </p:pic>
      <p:pic>
        <p:nvPicPr>
          <p:cNvPr descr="image.png" id="398" name="Google Shape;398;g3a2ea1eac06_0_57"/>
          <p:cNvPicPr preferRelativeResize="0"/>
          <p:nvPr/>
        </p:nvPicPr>
        <p:blipFill rotWithShape="1">
          <a:blip r:embed="rId8">
            <a:alphaModFix/>
          </a:blip>
          <a:srcRect b="0" l="0" r="0" t="0"/>
          <a:stretch/>
        </p:blipFill>
        <p:spPr>
          <a:xfrm>
            <a:off x="15106772" y="7701547"/>
            <a:ext cx="167382" cy="133906"/>
          </a:xfrm>
          <a:prstGeom prst="rect">
            <a:avLst/>
          </a:prstGeom>
          <a:noFill/>
          <a:ln>
            <a:noFill/>
          </a:ln>
        </p:spPr>
      </p:pic>
      <p:pic>
        <p:nvPicPr>
          <p:cNvPr descr="image.png" id="399" name="Google Shape;399;g3a2ea1eac06_0_57"/>
          <p:cNvPicPr preferRelativeResize="0"/>
          <p:nvPr/>
        </p:nvPicPr>
        <p:blipFill rotWithShape="1">
          <a:blip r:embed="rId9">
            <a:alphaModFix/>
          </a:blip>
          <a:srcRect b="0" l="0" r="0" t="0"/>
          <a:stretch/>
        </p:blipFill>
        <p:spPr>
          <a:xfrm>
            <a:off x="15106772" y="8066389"/>
            <a:ext cx="167382" cy="133906"/>
          </a:xfrm>
          <a:prstGeom prst="rect">
            <a:avLst/>
          </a:prstGeom>
          <a:noFill/>
          <a:ln>
            <a:noFill/>
          </a:ln>
        </p:spPr>
      </p:pic>
      <p:pic>
        <p:nvPicPr>
          <p:cNvPr descr="image.png" id="400" name="Google Shape;400;g3a2ea1eac06_0_57"/>
          <p:cNvPicPr preferRelativeResize="0"/>
          <p:nvPr/>
        </p:nvPicPr>
        <p:blipFill rotWithShape="1">
          <a:blip r:embed="rId10">
            <a:alphaModFix/>
          </a:blip>
          <a:srcRect b="0" l="0" r="0" t="0"/>
          <a:stretch/>
        </p:blipFill>
        <p:spPr>
          <a:xfrm>
            <a:off x="15106772" y="8431231"/>
            <a:ext cx="167382" cy="133906"/>
          </a:xfrm>
          <a:prstGeom prst="rect">
            <a:avLst/>
          </a:prstGeom>
          <a:noFill/>
          <a:ln>
            <a:noFill/>
          </a:ln>
        </p:spPr>
      </p:pic>
      <p:pic>
        <p:nvPicPr>
          <p:cNvPr descr="image.png" id="401" name="Google Shape;401;g3a2ea1eac06_0_57"/>
          <p:cNvPicPr preferRelativeResize="0"/>
          <p:nvPr/>
        </p:nvPicPr>
        <p:blipFill rotWithShape="1">
          <a:blip r:embed="rId11">
            <a:alphaModFix/>
          </a:blip>
          <a:srcRect b="0" l="0" r="0" t="0"/>
          <a:stretch/>
        </p:blipFill>
        <p:spPr>
          <a:xfrm>
            <a:off x="15106772" y="8796073"/>
            <a:ext cx="167382" cy="133906"/>
          </a:xfrm>
          <a:prstGeom prst="rect">
            <a:avLst/>
          </a:prstGeom>
          <a:noFill/>
          <a:ln>
            <a:noFill/>
          </a:ln>
        </p:spPr>
      </p:pic>
      <p:pic>
        <p:nvPicPr>
          <p:cNvPr descr="image.png" id="402" name="Google Shape;402;g3a2ea1eac06_0_57"/>
          <p:cNvPicPr preferRelativeResize="0"/>
          <p:nvPr/>
        </p:nvPicPr>
        <p:blipFill rotWithShape="1">
          <a:blip r:embed="rId12">
            <a:alphaModFix/>
          </a:blip>
          <a:srcRect b="0" l="0" r="0" t="0"/>
          <a:stretch/>
        </p:blipFill>
        <p:spPr>
          <a:xfrm>
            <a:off x="15106772" y="9160915"/>
            <a:ext cx="167382" cy="133906"/>
          </a:xfrm>
          <a:prstGeom prst="rect">
            <a:avLst/>
          </a:prstGeom>
          <a:noFill/>
          <a:ln>
            <a:noFill/>
          </a:ln>
        </p:spPr>
      </p:pic>
      <p:sp>
        <p:nvSpPr>
          <p:cNvPr id="403" name="Google Shape;403;g3a2ea1eac06_0_57"/>
          <p:cNvSpPr txBox="1"/>
          <p:nvPr/>
        </p:nvSpPr>
        <p:spPr>
          <a:xfrm>
            <a:off x="0" y="2402788"/>
            <a:ext cx="133518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CL" sz="2300" u="none" cap="none" strike="noStrike">
                <a:solidFill>
                  <a:schemeClr val="dk1"/>
                </a:solidFill>
                <a:latin typeface="Arial"/>
                <a:ea typeface="Arial"/>
                <a:cs typeface="Arial"/>
                <a:sym typeface="Arial"/>
              </a:rPr>
              <a:t>Se diseñó una base de datos MySQL centrada en la </a:t>
            </a:r>
            <a:r>
              <a:rPr b="1" i="0" lang="es-CL" sz="2300" u="none" cap="none" strike="noStrike">
                <a:solidFill>
                  <a:schemeClr val="dk1"/>
                </a:solidFill>
                <a:latin typeface="Arial"/>
                <a:ea typeface="Arial"/>
                <a:cs typeface="Arial"/>
                <a:sym typeface="Arial"/>
              </a:rPr>
              <a:t>separación lógica</a:t>
            </a:r>
            <a:r>
              <a:rPr b="0" i="0" lang="es-CL" sz="2300" u="none" cap="none" strike="noStrike">
                <a:solidFill>
                  <a:schemeClr val="dk1"/>
                </a:solidFill>
                <a:latin typeface="Arial"/>
                <a:ea typeface="Arial"/>
                <a:cs typeface="Arial"/>
                <a:sym typeface="Arial"/>
              </a:rPr>
              <a:t>, creando tablas independientes para </a:t>
            </a:r>
            <a:r>
              <a:rPr b="0" i="0" lang="es-CL" sz="2300" u="none" cap="none" strike="noStrike">
                <a:solidFill>
                  <a:srgbClr val="188038"/>
                </a:solidFill>
                <a:latin typeface="Arial"/>
                <a:ea typeface="Arial"/>
                <a:cs typeface="Arial"/>
                <a:sym typeface="Arial"/>
              </a:rPr>
              <a:t>Noticias</a:t>
            </a:r>
            <a:r>
              <a:rPr b="0" i="0" lang="es-CL" sz="2300" u="none" cap="none" strike="noStrike">
                <a:solidFill>
                  <a:schemeClr val="dk1"/>
                </a:solidFill>
                <a:latin typeface="Arial"/>
                <a:ea typeface="Arial"/>
                <a:cs typeface="Arial"/>
                <a:sym typeface="Arial"/>
              </a:rPr>
              <a:t> (</a:t>
            </a:r>
            <a:r>
              <a:rPr b="0" i="0" lang="es-CL" sz="2300" u="none" cap="none" strike="noStrike">
                <a:solidFill>
                  <a:srgbClr val="188038"/>
                </a:solidFill>
                <a:latin typeface="Arial"/>
                <a:ea typeface="Arial"/>
                <a:cs typeface="Arial"/>
                <a:sym typeface="Arial"/>
              </a:rPr>
              <a:t>registros</a:t>
            </a:r>
            <a:r>
              <a:rPr b="0" i="0" lang="es-CL" sz="2300" u="none" cap="none" strike="noStrike">
                <a:solidFill>
                  <a:schemeClr val="dk1"/>
                </a:solidFill>
                <a:latin typeface="Arial"/>
                <a:ea typeface="Arial"/>
                <a:cs typeface="Arial"/>
                <a:sym typeface="Arial"/>
              </a:rPr>
              <a:t>) y </a:t>
            </a:r>
            <a:r>
              <a:rPr b="0" i="0" lang="es-CL" sz="2300" u="none" cap="none" strike="noStrike">
                <a:solidFill>
                  <a:srgbClr val="188038"/>
                </a:solidFill>
                <a:latin typeface="Arial"/>
                <a:ea typeface="Arial"/>
                <a:cs typeface="Arial"/>
                <a:sym typeface="Arial"/>
              </a:rPr>
              <a:t>Solicitudes de Publicidad</a:t>
            </a:r>
            <a:endParaRPr b="0" i="0" sz="2300" u="none" cap="none" strike="noStrike">
              <a:solidFill>
                <a:srgbClr val="000000"/>
              </a:solidFill>
              <a:latin typeface="Arial"/>
              <a:ea typeface="Arial"/>
              <a:cs typeface="Arial"/>
              <a:sym typeface="Arial"/>
            </a:endParaRPr>
          </a:p>
        </p:txBody>
      </p:sp>
      <p:sp>
        <p:nvSpPr>
          <p:cNvPr id="404" name="Google Shape;404;g3a2ea1eac06_0_57"/>
          <p:cNvSpPr txBox="1"/>
          <p:nvPr/>
        </p:nvSpPr>
        <p:spPr>
          <a:xfrm>
            <a:off x="0" y="3401913"/>
            <a:ext cx="12992700" cy="8928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300"/>
              <a:buFont typeface="Arial"/>
              <a:buNone/>
            </a:pPr>
            <a:r>
              <a:rPr b="0" i="0" lang="es-CL" sz="2300" u="none" cap="none" strike="noStrike">
                <a:solidFill>
                  <a:schemeClr val="dk1"/>
                </a:solidFill>
                <a:latin typeface="Arial"/>
                <a:ea typeface="Arial"/>
                <a:cs typeface="Arial"/>
                <a:sym typeface="Arial"/>
              </a:rPr>
              <a:t>Este enfoque es clave: </a:t>
            </a:r>
            <a:r>
              <a:rPr b="1" i="0" lang="es-CL" sz="2300" u="none" cap="none" strike="noStrike">
                <a:solidFill>
                  <a:schemeClr val="dk1"/>
                </a:solidFill>
                <a:latin typeface="Arial"/>
                <a:ea typeface="Arial"/>
                <a:cs typeface="Arial"/>
                <a:sym typeface="Arial"/>
              </a:rPr>
              <a:t>simplifica la gestión</a:t>
            </a:r>
            <a:r>
              <a:rPr b="0" i="0" lang="es-CL" sz="2300" u="none" cap="none" strike="noStrike">
                <a:solidFill>
                  <a:schemeClr val="dk1"/>
                </a:solidFill>
                <a:latin typeface="Arial"/>
                <a:ea typeface="Arial"/>
                <a:cs typeface="Arial"/>
                <a:sym typeface="Arial"/>
              </a:rPr>
              <a:t> de cada módulo y asegura que la aplicación pueda </a:t>
            </a:r>
            <a:r>
              <a:rPr b="1" i="0" lang="es-CL" sz="2300" u="none" cap="none" strike="noStrike">
                <a:solidFill>
                  <a:schemeClr val="dk1"/>
                </a:solidFill>
                <a:latin typeface="Arial"/>
                <a:ea typeface="Arial"/>
                <a:cs typeface="Arial"/>
                <a:sym typeface="Arial"/>
              </a:rPr>
              <a:t>escalar a futuro</a:t>
            </a:r>
            <a:r>
              <a:rPr b="0" i="0" lang="es-CL" sz="2300" u="none" cap="none" strike="noStrike">
                <a:solidFill>
                  <a:schemeClr val="dk1"/>
                </a:solidFill>
                <a:latin typeface="Arial"/>
                <a:ea typeface="Arial"/>
                <a:cs typeface="Arial"/>
                <a:sym typeface="Arial"/>
              </a:rPr>
              <a:t> sin complicaciones.</a:t>
            </a:r>
            <a:endParaRPr b="0" i="0" sz="2300" u="none" cap="none" strike="noStrike">
              <a:solidFill>
                <a:srgbClr val="000000"/>
              </a:solidFill>
              <a:latin typeface="Arial"/>
              <a:ea typeface="Arial"/>
              <a:cs typeface="Arial"/>
              <a:sym typeface="Arial"/>
            </a:endParaRPr>
          </a:p>
        </p:txBody>
      </p:sp>
      <p:pic>
        <p:nvPicPr>
          <p:cNvPr descr="image.png" id="405" name="Google Shape;405;g3a2ea1eac06_0_57"/>
          <p:cNvPicPr preferRelativeResize="0"/>
          <p:nvPr/>
        </p:nvPicPr>
        <p:blipFill rotWithShape="1">
          <a:blip r:embed="rId13">
            <a:alphaModFix/>
          </a:blip>
          <a:srcRect b="0" l="0" r="0" t="0"/>
          <a:stretch/>
        </p:blipFill>
        <p:spPr>
          <a:xfrm>
            <a:off x="263725" y="4827363"/>
            <a:ext cx="8991600" cy="762000"/>
          </a:xfrm>
          <a:prstGeom prst="rect">
            <a:avLst/>
          </a:prstGeom>
          <a:noFill/>
          <a:ln>
            <a:noFill/>
          </a:ln>
        </p:spPr>
      </p:pic>
      <p:pic>
        <p:nvPicPr>
          <p:cNvPr descr="image.png" id="406" name="Google Shape;406;g3a2ea1eac06_0_57"/>
          <p:cNvPicPr preferRelativeResize="0"/>
          <p:nvPr/>
        </p:nvPicPr>
        <p:blipFill rotWithShape="1">
          <a:blip r:embed="rId14">
            <a:alphaModFix/>
          </a:blip>
          <a:srcRect b="0" l="0" r="0" t="0"/>
          <a:stretch/>
        </p:blipFill>
        <p:spPr>
          <a:xfrm>
            <a:off x="263725" y="6303738"/>
            <a:ext cx="8991600" cy="1887735"/>
          </a:xfrm>
          <a:prstGeom prst="rect">
            <a:avLst/>
          </a:prstGeom>
          <a:noFill/>
          <a:ln>
            <a:noFill/>
          </a:ln>
        </p:spPr>
      </p:pic>
      <p:pic>
        <p:nvPicPr>
          <p:cNvPr descr="image.png" id="407" name="Google Shape;407;g3a2ea1eac06_0_57"/>
          <p:cNvPicPr preferRelativeResize="0"/>
          <p:nvPr/>
        </p:nvPicPr>
        <p:blipFill rotWithShape="1">
          <a:blip r:embed="rId15">
            <a:alphaModFix/>
          </a:blip>
          <a:srcRect b="0" l="0" r="0" t="0"/>
          <a:stretch/>
        </p:blipFill>
        <p:spPr>
          <a:xfrm>
            <a:off x="263725" y="8905848"/>
            <a:ext cx="8991600" cy="1887735"/>
          </a:xfrm>
          <a:prstGeom prst="rect">
            <a:avLst/>
          </a:prstGeom>
          <a:noFill/>
          <a:ln>
            <a:noFill/>
          </a:ln>
        </p:spPr>
      </p:pic>
      <p:pic>
        <p:nvPicPr>
          <p:cNvPr descr="image.png" id="408" name="Google Shape;408;g3a2ea1eac06_0_57"/>
          <p:cNvPicPr preferRelativeResize="0"/>
          <p:nvPr/>
        </p:nvPicPr>
        <p:blipFill rotWithShape="1">
          <a:blip r:embed="rId16">
            <a:alphaModFix/>
          </a:blip>
          <a:srcRect b="0" l="0" r="0" t="0"/>
          <a:stretch/>
        </p:blipFill>
        <p:spPr>
          <a:xfrm>
            <a:off x="473275" y="6856188"/>
            <a:ext cx="4191000" cy="1125735"/>
          </a:xfrm>
          <a:prstGeom prst="rect">
            <a:avLst/>
          </a:prstGeom>
          <a:noFill/>
          <a:ln>
            <a:noFill/>
          </a:ln>
        </p:spPr>
      </p:pic>
      <p:pic>
        <p:nvPicPr>
          <p:cNvPr descr="image.png" id="409" name="Google Shape;409;g3a2ea1eac06_0_57"/>
          <p:cNvPicPr preferRelativeResize="0"/>
          <p:nvPr/>
        </p:nvPicPr>
        <p:blipFill rotWithShape="1">
          <a:blip r:embed="rId16">
            <a:alphaModFix/>
          </a:blip>
          <a:srcRect b="0" l="0" r="0" t="0"/>
          <a:stretch/>
        </p:blipFill>
        <p:spPr>
          <a:xfrm>
            <a:off x="4854775" y="6856188"/>
            <a:ext cx="4191000" cy="1125735"/>
          </a:xfrm>
          <a:prstGeom prst="rect">
            <a:avLst/>
          </a:prstGeom>
          <a:noFill/>
          <a:ln>
            <a:noFill/>
          </a:ln>
        </p:spPr>
      </p:pic>
      <p:pic>
        <p:nvPicPr>
          <p:cNvPr descr="image.png" id="410" name="Google Shape;410;g3a2ea1eac06_0_57"/>
          <p:cNvPicPr preferRelativeResize="0"/>
          <p:nvPr/>
        </p:nvPicPr>
        <p:blipFill rotWithShape="1">
          <a:blip r:embed="rId17">
            <a:alphaModFix/>
          </a:blip>
          <a:srcRect b="0" l="0" r="0" t="0"/>
          <a:stretch/>
        </p:blipFill>
        <p:spPr>
          <a:xfrm>
            <a:off x="473275" y="9458298"/>
            <a:ext cx="4191000" cy="1125735"/>
          </a:xfrm>
          <a:prstGeom prst="rect">
            <a:avLst/>
          </a:prstGeom>
          <a:noFill/>
          <a:ln>
            <a:noFill/>
          </a:ln>
        </p:spPr>
      </p:pic>
      <p:pic>
        <p:nvPicPr>
          <p:cNvPr descr="image.png" id="411" name="Google Shape;411;g3a2ea1eac06_0_57"/>
          <p:cNvPicPr preferRelativeResize="0"/>
          <p:nvPr/>
        </p:nvPicPr>
        <p:blipFill rotWithShape="1">
          <a:blip r:embed="rId16">
            <a:alphaModFix/>
          </a:blip>
          <a:srcRect b="0" l="0" r="0" t="0"/>
          <a:stretch/>
        </p:blipFill>
        <p:spPr>
          <a:xfrm>
            <a:off x="4854775" y="9458298"/>
            <a:ext cx="4191000" cy="1125735"/>
          </a:xfrm>
          <a:prstGeom prst="rect">
            <a:avLst/>
          </a:prstGeom>
          <a:noFill/>
          <a:ln>
            <a:noFill/>
          </a:ln>
        </p:spPr>
      </p:pic>
      <p:sp>
        <p:nvSpPr>
          <p:cNvPr id="412" name="Google Shape;412;g3a2ea1eac06_0_57"/>
          <p:cNvSpPr txBox="1"/>
          <p:nvPr/>
        </p:nvSpPr>
        <p:spPr>
          <a:xfrm>
            <a:off x="258962" y="5036913"/>
            <a:ext cx="9001200" cy="231000"/>
          </a:xfrm>
          <a:prstGeom prst="rect">
            <a:avLst/>
          </a:prstGeom>
          <a:noFill/>
          <a:ln>
            <a:noFill/>
          </a:ln>
        </p:spPr>
        <p:txBody>
          <a:bodyPr anchorCtr="0" anchor="t" bIns="0" lIns="19050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s-CL" sz="1500" u="none" cap="none" strike="noStrike">
                <a:solidFill>
                  <a:srgbClr val="1D4A79"/>
                </a:solidFill>
                <a:latin typeface="Roboto Slab"/>
                <a:ea typeface="Roboto Slab"/>
                <a:cs typeface="Roboto Slab"/>
                <a:sym typeface="Roboto Slab"/>
              </a:rPr>
              <a:t>CAPA DE HOSTING (cPanel)</a:t>
            </a:r>
            <a:endParaRPr b="0" i="0" sz="1400" u="none" cap="none" strike="noStrike">
              <a:solidFill>
                <a:srgbClr val="000000"/>
              </a:solidFill>
              <a:latin typeface="Arial"/>
              <a:ea typeface="Arial"/>
              <a:cs typeface="Arial"/>
              <a:sym typeface="Arial"/>
            </a:endParaRPr>
          </a:p>
        </p:txBody>
      </p:sp>
      <p:pic>
        <p:nvPicPr>
          <p:cNvPr descr="image.png" id="413" name="Google Shape;413;g3a2ea1eac06_0_57"/>
          <p:cNvPicPr preferRelativeResize="0"/>
          <p:nvPr/>
        </p:nvPicPr>
        <p:blipFill rotWithShape="1">
          <a:blip r:embed="rId18">
            <a:alphaModFix/>
          </a:blip>
          <a:srcRect b="0" l="0" r="0" t="0"/>
          <a:stretch/>
        </p:blipFill>
        <p:spPr>
          <a:xfrm>
            <a:off x="4649987" y="5894163"/>
            <a:ext cx="219075" cy="285750"/>
          </a:xfrm>
          <a:prstGeom prst="rect">
            <a:avLst/>
          </a:prstGeom>
          <a:noFill/>
          <a:ln>
            <a:noFill/>
          </a:ln>
        </p:spPr>
      </p:pic>
      <p:sp>
        <p:nvSpPr>
          <p:cNvPr id="414" name="Google Shape;414;g3a2ea1eac06_0_57"/>
          <p:cNvSpPr txBox="1"/>
          <p:nvPr/>
        </p:nvSpPr>
        <p:spPr>
          <a:xfrm>
            <a:off x="258962" y="6513288"/>
            <a:ext cx="9001200" cy="231000"/>
          </a:xfrm>
          <a:prstGeom prst="rect">
            <a:avLst/>
          </a:prstGeom>
          <a:noFill/>
          <a:ln>
            <a:noFill/>
          </a:ln>
        </p:spPr>
        <p:txBody>
          <a:bodyPr anchorCtr="0" anchor="t" bIns="0" lIns="171450"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s-CL" sz="1500" u="none" cap="none" strike="noStrike">
                <a:solidFill>
                  <a:srgbClr val="1D4A79"/>
                </a:solidFill>
                <a:latin typeface="Roboto Slab"/>
                <a:ea typeface="Roboto Slab"/>
                <a:cs typeface="Roboto Slab"/>
                <a:sym typeface="Roboto Slab"/>
              </a:rPr>
              <a:t>CAPA DE DATOS (Servidor MySQL)</a:t>
            </a:r>
            <a:endParaRPr b="0" i="0" sz="1400" u="none" cap="none" strike="noStrike">
              <a:solidFill>
                <a:srgbClr val="000000"/>
              </a:solidFill>
              <a:latin typeface="Arial"/>
              <a:ea typeface="Arial"/>
              <a:cs typeface="Arial"/>
              <a:sym typeface="Arial"/>
            </a:endParaRPr>
          </a:p>
        </p:txBody>
      </p:sp>
      <p:pic>
        <p:nvPicPr>
          <p:cNvPr descr="image.png" id="415" name="Google Shape;415;g3a2ea1eac06_0_57"/>
          <p:cNvPicPr preferRelativeResize="0"/>
          <p:nvPr/>
        </p:nvPicPr>
        <p:blipFill rotWithShape="1">
          <a:blip r:embed="rId19">
            <a:alphaModFix/>
          </a:blip>
          <a:srcRect b="0" l="0" r="0" t="0"/>
          <a:stretch/>
        </p:blipFill>
        <p:spPr>
          <a:xfrm>
            <a:off x="4649987" y="8496273"/>
            <a:ext cx="219075" cy="285750"/>
          </a:xfrm>
          <a:prstGeom prst="rect">
            <a:avLst/>
          </a:prstGeom>
          <a:noFill/>
          <a:ln>
            <a:noFill/>
          </a:ln>
        </p:spPr>
      </p:pic>
      <p:sp>
        <p:nvSpPr>
          <p:cNvPr id="416" name="Google Shape;416;g3a2ea1eac06_0_57"/>
          <p:cNvSpPr txBox="1"/>
          <p:nvPr/>
        </p:nvSpPr>
        <p:spPr>
          <a:xfrm>
            <a:off x="258962" y="9115398"/>
            <a:ext cx="9001200" cy="231000"/>
          </a:xfrm>
          <a:prstGeom prst="rect">
            <a:avLst/>
          </a:prstGeom>
          <a:noFill/>
          <a:ln>
            <a:noFill/>
          </a:ln>
        </p:spPr>
        <p:txBody>
          <a:bodyPr anchorCtr="0" anchor="t" bIns="0" lIns="219075" spcFirstLastPara="1" rIns="0" wrap="square" tIns="0">
            <a:spAutoFit/>
          </a:bodyPr>
          <a:lstStyle/>
          <a:p>
            <a:pPr indent="0" lvl="0" marL="0" marR="0" rtl="0" algn="ctr">
              <a:lnSpc>
                <a:spcPct val="100000"/>
              </a:lnSpc>
              <a:spcBef>
                <a:spcPts val="0"/>
              </a:spcBef>
              <a:spcAft>
                <a:spcPts val="0"/>
              </a:spcAft>
              <a:buClr>
                <a:srgbClr val="000000"/>
              </a:buClr>
              <a:buSzPts val="1500"/>
              <a:buFont typeface="Arial"/>
              <a:buNone/>
            </a:pPr>
            <a:r>
              <a:rPr b="1" i="0" lang="es-CL" sz="1500" u="none" cap="none" strike="noStrike">
                <a:solidFill>
                  <a:srgbClr val="1D4A79"/>
                </a:solidFill>
                <a:latin typeface="Roboto Slab"/>
                <a:ea typeface="Roboto Slab"/>
                <a:cs typeface="Roboto Slab"/>
                <a:sym typeface="Roboto Slab"/>
              </a:rPr>
              <a:t>CAPA DE APLICACIÓN (Desacoplada)</a:t>
            </a:r>
            <a:endParaRPr b="0" i="0" sz="1400" u="none" cap="none" strike="noStrike">
              <a:solidFill>
                <a:srgbClr val="000000"/>
              </a:solidFill>
              <a:latin typeface="Arial"/>
              <a:ea typeface="Arial"/>
              <a:cs typeface="Arial"/>
              <a:sym typeface="Arial"/>
            </a:endParaRPr>
          </a:p>
        </p:txBody>
      </p:sp>
      <p:pic>
        <p:nvPicPr>
          <p:cNvPr descr="image.png" id="417" name="Google Shape;417;g3a2ea1eac06_0_57"/>
          <p:cNvPicPr preferRelativeResize="0"/>
          <p:nvPr/>
        </p:nvPicPr>
        <p:blipFill rotWithShape="1">
          <a:blip r:embed="rId20">
            <a:alphaModFix/>
          </a:blip>
          <a:srcRect b="0" l="0" r="0" t="0"/>
          <a:stretch/>
        </p:blipFill>
        <p:spPr>
          <a:xfrm>
            <a:off x="3368875" y="5075013"/>
            <a:ext cx="190500" cy="190500"/>
          </a:xfrm>
          <a:prstGeom prst="rect">
            <a:avLst/>
          </a:prstGeom>
          <a:noFill/>
          <a:ln>
            <a:noFill/>
          </a:ln>
        </p:spPr>
      </p:pic>
      <p:pic>
        <p:nvPicPr>
          <p:cNvPr descr="image.png" id="418" name="Google Shape;418;g3a2ea1eac06_0_57"/>
          <p:cNvPicPr preferRelativeResize="0"/>
          <p:nvPr/>
        </p:nvPicPr>
        <p:blipFill rotWithShape="1">
          <a:blip r:embed="rId21">
            <a:alphaModFix/>
          </a:blip>
          <a:srcRect b="0" l="0" r="0" t="0"/>
          <a:stretch/>
        </p:blipFill>
        <p:spPr>
          <a:xfrm>
            <a:off x="3054550" y="6551388"/>
            <a:ext cx="171450" cy="190500"/>
          </a:xfrm>
          <a:prstGeom prst="rect">
            <a:avLst/>
          </a:prstGeom>
          <a:noFill/>
          <a:ln>
            <a:noFill/>
          </a:ln>
        </p:spPr>
      </p:pic>
      <p:pic>
        <p:nvPicPr>
          <p:cNvPr descr="image.png" id="419" name="Google Shape;419;g3a2ea1eac06_0_57"/>
          <p:cNvPicPr preferRelativeResize="0"/>
          <p:nvPr/>
        </p:nvPicPr>
        <p:blipFill rotWithShape="1">
          <a:blip r:embed="rId22">
            <a:alphaModFix/>
          </a:blip>
          <a:srcRect b="0" l="0" r="0" t="0"/>
          <a:stretch/>
        </p:blipFill>
        <p:spPr>
          <a:xfrm>
            <a:off x="2940250" y="9153498"/>
            <a:ext cx="219075" cy="190500"/>
          </a:xfrm>
          <a:prstGeom prst="rect">
            <a:avLst/>
          </a:prstGeom>
          <a:noFill/>
          <a:ln>
            <a:noFill/>
          </a:ln>
        </p:spPr>
      </p:pic>
      <p:sp>
        <p:nvSpPr>
          <p:cNvPr id="420" name="Google Shape;420;g3a2ea1eac06_0_57"/>
          <p:cNvSpPr txBox="1"/>
          <p:nvPr/>
        </p:nvSpPr>
        <p:spPr>
          <a:xfrm>
            <a:off x="528519" y="7008588"/>
            <a:ext cx="40806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s-CL" sz="1350" u="none" cap="none" strike="noStrike">
                <a:solidFill>
                  <a:srgbClr val="F39C12"/>
                </a:solidFill>
                <a:latin typeface="Roboto Slab"/>
                <a:ea typeface="Roboto Slab"/>
                <a:cs typeface="Roboto Slab"/>
                <a:sym typeface="Roboto Slab"/>
              </a:rPr>
              <a:t>Base de Datos 1</a:t>
            </a:r>
            <a:endParaRPr b="0" i="0" sz="1400" u="none" cap="none" strike="noStrike">
              <a:solidFill>
                <a:srgbClr val="000000"/>
              </a:solidFill>
              <a:latin typeface="Arial"/>
              <a:ea typeface="Arial"/>
              <a:cs typeface="Arial"/>
              <a:sym typeface="Arial"/>
            </a:endParaRPr>
          </a:p>
        </p:txBody>
      </p:sp>
      <p:sp>
        <p:nvSpPr>
          <p:cNvPr id="421" name="Google Shape;421;g3a2ea1eac06_0_57"/>
          <p:cNvSpPr txBox="1"/>
          <p:nvPr/>
        </p:nvSpPr>
        <p:spPr>
          <a:xfrm>
            <a:off x="625675" y="733243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zhwmxmyk_wp_2vdgb</a:t>
            </a:r>
            <a:endParaRPr b="0" i="0" sz="1400" u="none" cap="none" strike="noStrike">
              <a:solidFill>
                <a:srgbClr val="000000"/>
              </a:solidFill>
              <a:latin typeface="Arial"/>
              <a:ea typeface="Arial"/>
              <a:cs typeface="Arial"/>
              <a:sym typeface="Arial"/>
            </a:endParaRPr>
          </a:p>
        </p:txBody>
      </p:sp>
      <p:sp>
        <p:nvSpPr>
          <p:cNvPr id="422" name="Google Shape;422;g3a2ea1eac06_0_57"/>
          <p:cNvSpPr txBox="1"/>
          <p:nvPr/>
        </p:nvSpPr>
        <p:spPr>
          <a:xfrm>
            <a:off x="625675" y="7585743"/>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(Datos de WordPress)</a:t>
            </a:r>
            <a:endParaRPr b="0" i="0" sz="1400" u="none" cap="none" strike="noStrike">
              <a:solidFill>
                <a:srgbClr val="000000"/>
              </a:solidFill>
              <a:latin typeface="Arial"/>
              <a:ea typeface="Arial"/>
              <a:cs typeface="Arial"/>
              <a:sym typeface="Arial"/>
            </a:endParaRPr>
          </a:p>
        </p:txBody>
      </p:sp>
      <p:sp>
        <p:nvSpPr>
          <p:cNvPr id="423" name="Google Shape;423;g3a2ea1eac06_0_57"/>
          <p:cNvSpPr txBox="1"/>
          <p:nvPr/>
        </p:nvSpPr>
        <p:spPr>
          <a:xfrm>
            <a:off x="4910020" y="7008588"/>
            <a:ext cx="40806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s-CL" sz="1350" u="none" cap="none" strike="noStrike">
                <a:solidFill>
                  <a:srgbClr val="F39C12"/>
                </a:solidFill>
                <a:latin typeface="Roboto Slab"/>
                <a:ea typeface="Roboto Slab"/>
                <a:cs typeface="Roboto Slab"/>
                <a:sym typeface="Roboto Slab"/>
              </a:rPr>
              <a:t>Base de Datos 2</a:t>
            </a:r>
            <a:endParaRPr b="0" i="0" sz="1400" u="none" cap="none" strike="noStrike">
              <a:solidFill>
                <a:srgbClr val="000000"/>
              </a:solidFill>
              <a:latin typeface="Arial"/>
              <a:ea typeface="Arial"/>
              <a:cs typeface="Arial"/>
              <a:sym typeface="Arial"/>
            </a:endParaRPr>
          </a:p>
        </p:txBody>
      </p:sp>
      <p:sp>
        <p:nvSpPr>
          <p:cNvPr id="424" name="Google Shape;424;g3a2ea1eac06_0_57"/>
          <p:cNvSpPr txBox="1"/>
          <p:nvPr/>
        </p:nvSpPr>
        <p:spPr>
          <a:xfrm>
            <a:off x="5007175" y="733243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zhwmxmyk_form_datos</a:t>
            </a:r>
            <a:endParaRPr b="0" i="0" sz="1400" u="none" cap="none" strike="noStrike">
              <a:solidFill>
                <a:srgbClr val="000000"/>
              </a:solidFill>
              <a:latin typeface="Arial"/>
              <a:ea typeface="Arial"/>
              <a:cs typeface="Arial"/>
              <a:sym typeface="Arial"/>
            </a:endParaRPr>
          </a:p>
        </p:txBody>
      </p:sp>
      <p:sp>
        <p:nvSpPr>
          <p:cNvPr id="425" name="Google Shape;425;g3a2ea1eac06_0_57"/>
          <p:cNvSpPr txBox="1"/>
          <p:nvPr/>
        </p:nvSpPr>
        <p:spPr>
          <a:xfrm>
            <a:off x="5007175" y="7585743"/>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(Datos de la App PHP)</a:t>
            </a:r>
            <a:endParaRPr b="0" i="0" sz="1400" u="none" cap="none" strike="noStrike">
              <a:solidFill>
                <a:srgbClr val="000000"/>
              </a:solidFill>
              <a:latin typeface="Arial"/>
              <a:ea typeface="Arial"/>
              <a:cs typeface="Arial"/>
              <a:sym typeface="Arial"/>
            </a:endParaRPr>
          </a:p>
        </p:txBody>
      </p:sp>
      <p:sp>
        <p:nvSpPr>
          <p:cNvPr id="426" name="Google Shape;426;g3a2ea1eac06_0_57"/>
          <p:cNvSpPr txBox="1"/>
          <p:nvPr/>
        </p:nvSpPr>
        <p:spPr>
          <a:xfrm>
            <a:off x="528519" y="9610698"/>
            <a:ext cx="40806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s-CL" sz="1350" u="none" cap="none" strike="noStrike">
                <a:solidFill>
                  <a:srgbClr val="F39C12"/>
                </a:solidFill>
                <a:latin typeface="Roboto Slab"/>
                <a:ea typeface="Roboto Slab"/>
                <a:cs typeface="Roboto Slab"/>
                <a:sym typeface="Roboto Slab"/>
              </a:rPr>
              <a:t>Sistema A: Portal Público</a:t>
            </a:r>
            <a:endParaRPr b="0" i="0" sz="1400" u="none" cap="none" strike="noStrike">
              <a:solidFill>
                <a:srgbClr val="000000"/>
              </a:solidFill>
              <a:latin typeface="Arial"/>
              <a:ea typeface="Arial"/>
              <a:cs typeface="Arial"/>
              <a:sym typeface="Arial"/>
            </a:endParaRPr>
          </a:p>
        </p:txBody>
      </p:sp>
      <p:sp>
        <p:nvSpPr>
          <p:cNvPr id="427" name="Google Shape;427;g3a2ea1eac06_0_57"/>
          <p:cNvSpPr txBox="1"/>
          <p:nvPr/>
        </p:nvSpPr>
        <p:spPr>
          <a:xfrm>
            <a:off x="625675" y="993454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tropezon.space</a:t>
            </a:r>
            <a:endParaRPr b="0" i="0" sz="1400" u="none" cap="none" strike="noStrike">
              <a:solidFill>
                <a:srgbClr val="000000"/>
              </a:solidFill>
              <a:latin typeface="Arial"/>
              <a:ea typeface="Arial"/>
              <a:cs typeface="Arial"/>
              <a:sym typeface="Arial"/>
            </a:endParaRPr>
          </a:p>
        </p:txBody>
      </p:sp>
      <p:sp>
        <p:nvSpPr>
          <p:cNvPr id="428" name="Google Shape;428;g3a2ea1eac06_0_57"/>
          <p:cNvSpPr txBox="1"/>
          <p:nvPr/>
        </p:nvSpPr>
        <p:spPr>
          <a:xfrm>
            <a:off x="625675" y="10187854"/>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(WordPress + Elementor)</a:t>
            </a:r>
            <a:endParaRPr b="0" i="0" sz="1400" u="none" cap="none" strike="noStrike">
              <a:solidFill>
                <a:srgbClr val="000000"/>
              </a:solidFill>
              <a:latin typeface="Arial"/>
              <a:ea typeface="Arial"/>
              <a:cs typeface="Arial"/>
              <a:sym typeface="Arial"/>
            </a:endParaRPr>
          </a:p>
        </p:txBody>
      </p:sp>
      <p:sp>
        <p:nvSpPr>
          <p:cNvPr id="429" name="Google Shape;429;g3a2ea1eac06_0_57"/>
          <p:cNvSpPr txBox="1"/>
          <p:nvPr/>
        </p:nvSpPr>
        <p:spPr>
          <a:xfrm>
            <a:off x="4910020" y="9610698"/>
            <a:ext cx="4080600" cy="2079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1350"/>
              <a:buFont typeface="Arial"/>
              <a:buNone/>
            </a:pPr>
            <a:r>
              <a:rPr b="1" i="0" lang="es-CL" sz="1350" u="none" cap="none" strike="noStrike">
                <a:solidFill>
                  <a:srgbClr val="F39C12"/>
                </a:solidFill>
                <a:latin typeface="Roboto Slab"/>
                <a:ea typeface="Roboto Slab"/>
                <a:cs typeface="Roboto Slab"/>
                <a:sym typeface="Roboto Slab"/>
              </a:rPr>
              <a:t>Sistema B: App de Datos</a:t>
            </a:r>
            <a:endParaRPr b="0" i="0" sz="1400" u="none" cap="none" strike="noStrike">
              <a:solidFill>
                <a:srgbClr val="000000"/>
              </a:solidFill>
              <a:latin typeface="Arial"/>
              <a:ea typeface="Arial"/>
              <a:cs typeface="Arial"/>
              <a:sym typeface="Arial"/>
            </a:endParaRPr>
          </a:p>
        </p:txBody>
      </p:sp>
      <p:sp>
        <p:nvSpPr>
          <p:cNvPr id="430" name="Google Shape;430;g3a2ea1eac06_0_57"/>
          <p:cNvSpPr txBox="1"/>
          <p:nvPr/>
        </p:nvSpPr>
        <p:spPr>
          <a:xfrm>
            <a:off x="5007175" y="9934548"/>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form.tropezon.space</a:t>
            </a:r>
            <a:endParaRPr b="0" i="0" sz="1400" u="none" cap="none" strike="noStrike">
              <a:solidFill>
                <a:srgbClr val="000000"/>
              </a:solidFill>
              <a:latin typeface="Arial"/>
              <a:ea typeface="Arial"/>
              <a:cs typeface="Arial"/>
              <a:sym typeface="Arial"/>
            </a:endParaRPr>
          </a:p>
        </p:txBody>
      </p:sp>
      <p:sp>
        <p:nvSpPr>
          <p:cNvPr id="431" name="Google Shape;431;g3a2ea1eac06_0_57"/>
          <p:cNvSpPr txBox="1"/>
          <p:nvPr/>
        </p:nvSpPr>
        <p:spPr>
          <a:xfrm>
            <a:off x="5007175" y="10187854"/>
            <a:ext cx="3886200" cy="1848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200"/>
              <a:buFont typeface="Arial"/>
              <a:buNone/>
            </a:pPr>
            <a:r>
              <a:rPr b="0" i="0" lang="es-CL" sz="1200" u="none" cap="none" strike="noStrike">
                <a:solidFill>
                  <a:srgbClr val="475569"/>
                </a:solidFill>
                <a:latin typeface="Roboto"/>
                <a:ea typeface="Roboto"/>
                <a:cs typeface="Roboto"/>
                <a:sym typeface="Roboto"/>
              </a:rPr>
              <a:t>(PHP Nativo + Bootstrap)</a:t>
            </a:r>
            <a:endParaRPr b="0" i="0" sz="1400" u="none" cap="none" strike="noStrike">
              <a:solidFill>
                <a:srgbClr val="000000"/>
              </a:solidFill>
              <a:latin typeface="Arial"/>
              <a:ea typeface="Arial"/>
              <a:cs typeface="Arial"/>
              <a:sym typeface="Arial"/>
            </a:endParaRPr>
          </a:p>
        </p:txBody>
      </p:sp>
      <p:sp>
        <p:nvSpPr>
          <p:cNvPr id="432" name="Google Shape;432;g3a2ea1eac06_0_57"/>
          <p:cNvSpPr txBox="1"/>
          <p:nvPr>
            <p:ph idx="4294967295" type="body"/>
          </p:nvPr>
        </p:nvSpPr>
        <p:spPr>
          <a:xfrm>
            <a:off x="6803050" y="664525"/>
            <a:ext cx="6498000" cy="7851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b="1" lang="es-CL" sz="5100"/>
              <a:t>Base de datos (MySQL) </a:t>
            </a:r>
            <a:endParaRPr b="1" sz="5100"/>
          </a:p>
        </p:txBody>
      </p:sp>
      <p:cxnSp>
        <p:nvCxnSpPr>
          <p:cNvPr id="433" name="Google Shape;433;g3a2ea1eac06_0_57"/>
          <p:cNvCxnSpPr/>
          <p:nvPr/>
        </p:nvCxnSpPr>
        <p:spPr>
          <a:xfrm flipH="1" rot="10800000">
            <a:off x="6739625" y="1507500"/>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993719c3f7_1_2"/>
          <p:cNvSpPr txBox="1"/>
          <p:nvPr/>
        </p:nvSpPr>
        <p:spPr>
          <a:xfrm>
            <a:off x="10345450" y="511225"/>
            <a:ext cx="947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image.png" id="440" name="Google Shape;440;g3993719c3f7_1_2"/>
          <p:cNvPicPr preferRelativeResize="0"/>
          <p:nvPr/>
        </p:nvPicPr>
        <p:blipFill rotWithShape="1">
          <a:blip r:embed="rId3">
            <a:alphaModFix/>
          </a:blip>
          <a:srcRect b="0" l="0" r="0" t="0"/>
          <a:stretch/>
        </p:blipFill>
        <p:spPr>
          <a:xfrm>
            <a:off x="12418875" y="1600825"/>
            <a:ext cx="4491201" cy="7345800"/>
          </a:xfrm>
          <a:prstGeom prst="rect">
            <a:avLst/>
          </a:prstGeom>
          <a:noFill/>
          <a:ln>
            <a:noFill/>
          </a:ln>
        </p:spPr>
      </p:pic>
      <p:pic>
        <p:nvPicPr>
          <p:cNvPr descr="image.png" id="441" name="Google Shape;441;g3993719c3f7_1_2"/>
          <p:cNvPicPr preferRelativeResize="0"/>
          <p:nvPr/>
        </p:nvPicPr>
        <p:blipFill rotWithShape="1">
          <a:blip r:embed="rId3">
            <a:alphaModFix/>
          </a:blip>
          <a:srcRect b="0" l="0" r="0" t="0"/>
          <a:stretch/>
        </p:blipFill>
        <p:spPr>
          <a:xfrm>
            <a:off x="6706750" y="1600803"/>
            <a:ext cx="4336600" cy="7409273"/>
          </a:xfrm>
          <a:prstGeom prst="rect">
            <a:avLst/>
          </a:prstGeom>
          <a:noFill/>
          <a:ln>
            <a:noFill/>
          </a:ln>
        </p:spPr>
      </p:pic>
      <p:pic>
        <p:nvPicPr>
          <p:cNvPr descr="image.png" id="442" name="Google Shape;442;g3993719c3f7_1_2"/>
          <p:cNvPicPr preferRelativeResize="0"/>
          <p:nvPr/>
        </p:nvPicPr>
        <p:blipFill rotWithShape="1">
          <a:blip r:embed="rId3">
            <a:alphaModFix/>
          </a:blip>
          <a:srcRect b="0" l="0" r="0" t="0"/>
          <a:stretch/>
        </p:blipFill>
        <p:spPr>
          <a:xfrm>
            <a:off x="1089677" y="1600825"/>
            <a:ext cx="4336600" cy="7409250"/>
          </a:xfrm>
          <a:prstGeom prst="rect">
            <a:avLst/>
          </a:prstGeom>
          <a:noFill/>
          <a:ln>
            <a:noFill/>
          </a:ln>
        </p:spPr>
      </p:pic>
      <p:sp>
        <p:nvSpPr>
          <p:cNvPr id="443" name="Google Shape;443;g3993719c3f7_1_2"/>
          <p:cNvSpPr txBox="1"/>
          <p:nvPr/>
        </p:nvSpPr>
        <p:spPr>
          <a:xfrm>
            <a:off x="1389690" y="1979627"/>
            <a:ext cx="3736500" cy="1235400"/>
          </a:xfrm>
          <a:prstGeom prst="rect">
            <a:avLst/>
          </a:prstGeom>
          <a:noFill/>
          <a:ln>
            <a:noFill/>
          </a:ln>
        </p:spPr>
        <p:txBody>
          <a:bodyPr anchorCtr="0" anchor="t" bIns="109725" lIns="109725" spcFirstLastPara="1" rIns="109725" wrap="square" tIns="109725">
            <a:noAutofit/>
          </a:bodyPr>
          <a:lstStyle/>
          <a:p>
            <a:pPr indent="0" lvl="0" marL="0" marR="0" rtl="0" algn="ctr">
              <a:lnSpc>
                <a:spcPct val="115000"/>
              </a:lnSpc>
              <a:spcBef>
                <a:spcPts val="2160"/>
              </a:spcBef>
              <a:spcAft>
                <a:spcPts val="480"/>
              </a:spcAft>
              <a:buClr>
                <a:schemeClr val="dk1"/>
              </a:buClr>
              <a:buSzPts val="1100"/>
              <a:buFont typeface="Arial"/>
              <a:buNone/>
            </a:pPr>
            <a:r>
              <a:rPr b="1" i="0" lang="es-CL" sz="2880" u="none" cap="none" strike="noStrike">
                <a:solidFill>
                  <a:schemeClr val="lt1"/>
                </a:solidFill>
                <a:latin typeface="Calibri"/>
                <a:ea typeface="Calibri"/>
                <a:cs typeface="Calibri"/>
                <a:sym typeface="Calibri"/>
              </a:rPr>
              <a:t>Datos personales (Chile) - Ley 21.719</a:t>
            </a:r>
            <a:endParaRPr b="0" i="0" sz="2160" u="none" cap="none" strike="noStrike">
              <a:solidFill>
                <a:schemeClr val="lt1"/>
              </a:solidFill>
              <a:latin typeface="Calibri"/>
              <a:ea typeface="Calibri"/>
              <a:cs typeface="Calibri"/>
              <a:sym typeface="Calibri"/>
            </a:endParaRPr>
          </a:p>
        </p:txBody>
      </p:sp>
      <p:sp>
        <p:nvSpPr>
          <p:cNvPr id="444" name="Google Shape;444;g3993719c3f7_1_2"/>
          <p:cNvSpPr txBox="1"/>
          <p:nvPr/>
        </p:nvSpPr>
        <p:spPr>
          <a:xfrm>
            <a:off x="1289190" y="3413164"/>
            <a:ext cx="3858300" cy="4834500"/>
          </a:xfrm>
          <a:prstGeom prst="rect">
            <a:avLst/>
          </a:prstGeom>
          <a:noFill/>
          <a:ln>
            <a:noFill/>
          </a:ln>
        </p:spPr>
        <p:txBody>
          <a:bodyPr anchorCtr="0" anchor="t" bIns="109725" lIns="109725" spcFirstLastPara="1" rIns="109725" wrap="square" tIns="109725">
            <a:noAutofit/>
          </a:bodyPr>
          <a:lstStyle/>
          <a:p>
            <a:pPr indent="-381052" lvl="0" marL="548716" marR="0" rtl="0" algn="l">
              <a:lnSpc>
                <a:spcPct val="100000"/>
              </a:lnSpc>
              <a:spcBef>
                <a:spcPts val="1440"/>
              </a:spcBef>
              <a:spcAft>
                <a:spcPts val="0"/>
              </a:spcAft>
              <a:buClr>
                <a:schemeClr val="lt1"/>
              </a:buClr>
              <a:buSzPts val="1680"/>
              <a:buFont typeface="Calibri"/>
              <a:buChar char="●"/>
            </a:pPr>
            <a:r>
              <a:rPr b="0" i="0" lang="es-CL" sz="1679" u="none" cap="none" strike="noStrike">
                <a:solidFill>
                  <a:schemeClr val="lt1"/>
                </a:solidFill>
                <a:latin typeface="Calibri"/>
                <a:ea typeface="Calibri"/>
                <a:cs typeface="Calibri"/>
                <a:sym typeface="Calibri"/>
              </a:rPr>
              <a:t>Regula el tratamiento de datos y crea la Agencia de Protección de Datos.</a:t>
            </a:r>
            <a:br>
              <a:rPr b="0" i="0" lang="es-CL" sz="1679" u="none" cap="none" strike="noStrike">
                <a:solidFill>
                  <a:schemeClr val="lt1"/>
                </a:solidFill>
                <a:latin typeface="Calibri"/>
                <a:ea typeface="Calibri"/>
                <a:cs typeface="Calibri"/>
                <a:sym typeface="Calibri"/>
              </a:rPr>
            </a:br>
            <a:endParaRPr b="0" i="0" sz="1679" u="none" cap="none" strike="noStrike">
              <a:solidFill>
                <a:schemeClr val="lt1"/>
              </a:solidFill>
              <a:latin typeface="Calibri"/>
              <a:ea typeface="Calibri"/>
              <a:cs typeface="Calibri"/>
              <a:sym typeface="Calibri"/>
            </a:endParaRPr>
          </a:p>
          <a:p>
            <a:pPr indent="-381052" lvl="0" marL="548716" marR="0" rtl="0" algn="l">
              <a:lnSpc>
                <a:spcPct val="100000"/>
              </a:lnSpc>
              <a:spcBef>
                <a:spcPts val="0"/>
              </a:spcBef>
              <a:spcAft>
                <a:spcPts val="0"/>
              </a:spcAft>
              <a:buClr>
                <a:schemeClr val="lt1"/>
              </a:buClr>
              <a:buSzPts val="1680"/>
              <a:buFont typeface="Calibri"/>
              <a:buChar char="●"/>
            </a:pPr>
            <a:r>
              <a:rPr b="0" i="0" lang="es-CL" sz="1679" u="none" cap="none" strike="noStrike">
                <a:solidFill>
                  <a:schemeClr val="lt1"/>
                </a:solidFill>
                <a:latin typeface="Calibri"/>
                <a:ea typeface="Calibri"/>
                <a:cs typeface="Calibri"/>
                <a:sym typeface="Calibri"/>
              </a:rPr>
              <a:t>Exige medidas de seguridad “desde el diseño” y transparencia.</a:t>
            </a:r>
            <a:br>
              <a:rPr b="0" i="0" lang="es-CL" sz="1679" u="none" cap="none" strike="noStrike">
                <a:solidFill>
                  <a:schemeClr val="lt1"/>
                </a:solidFill>
                <a:latin typeface="Calibri"/>
                <a:ea typeface="Calibri"/>
                <a:cs typeface="Calibri"/>
                <a:sym typeface="Calibri"/>
              </a:rPr>
            </a:br>
            <a:endParaRPr b="0" i="0" sz="1679" u="none" cap="none" strike="noStrike">
              <a:solidFill>
                <a:schemeClr val="lt1"/>
              </a:solidFill>
              <a:latin typeface="Calibri"/>
              <a:ea typeface="Calibri"/>
              <a:cs typeface="Calibri"/>
              <a:sym typeface="Calibri"/>
            </a:endParaRPr>
          </a:p>
          <a:p>
            <a:pPr indent="-381052" lvl="0" marL="548716" marR="0" rtl="0" algn="l">
              <a:lnSpc>
                <a:spcPct val="100000"/>
              </a:lnSpc>
              <a:spcBef>
                <a:spcPts val="0"/>
              </a:spcBef>
              <a:spcAft>
                <a:spcPts val="0"/>
              </a:spcAft>
              <a:buClr>
                <a:schemeClr val="lt1"/>
              </a:buClr>
              <a:buSzPts val="1680"/>
              <a:buFont typeface="Calibri"/>
              <a:buChar char="●"/>
            </a:pPr>
            <a:r>
              <a:rPr b="0" i="0" lang="es-CL" sz="1679" u="none" cap="none" strike="noStrike">
                <a:solidFill>
                  <a:schemeClr val="lt1"/>
                </a:solidFill>
                <a:latin typeface="Calibri"/>
                <a:ea typeface="Calibri"/>
                <a:cs typeface="Calibri"/>
                <a:sym typeface="Calibri"/>
              </a:rPr>
              <a:t>Principios clave: licitud, finalidad, proporcionalidad y responsabilidad.</a:t>
            </a:r>
            <a:br>
              <a:rPr b="0" i="0" lang="es-CL" sz="1679" u="none" cap="none" strike="noStrike">
                <a:solidFill>
                  <a:schemeClr val="lt1"/>
                </a:solidFill>
                <a:latin typeface="Calibri"/>
                <a:ea typeface="Calibri"/>
                <a:cs typeface="Calibri"/>
                <a:sym typeface="Calibri"/>
              </a:rPr>
            </a:br>
            <a:endParaRPr b="0" i="0" sz="1679" u="none" cap="none" strike="noStrike">
              <a:solidFill>
                <a:schemeClr val="lt1"/>
              </a:solidFill>
              <a:latin typeface="Calibri"/>
              <a:ea typeface="Calibri"/>
              <a:cs typeface="Calibri"/>
              <a:sym typeface="Calibri"/>
            </a:endParaRPr>
          </a:p>
          <a:p>
            <a:pPr indent="-381052" lvl="0" marL="548716" marR="0" rtl="0" algn="l">
              <a:lnSpc>
                <a:spcPct val="100000"/>
              </a:lnSpc>
              <a:spcBef>
                <a:spcPts val="0"/>
              </a:spcBef>
              <a:spcAft>
                <a:spcPts val="0"/>
              </a:spcAft>
              <a:buClr>
                <a:schemeClr val="lt1"/>
              </a:buClr>
              <a:buSzPts val="1680"/>
              <a:buFont typeface="Arial"/>
              <a:buChar char="●"/>
            </a:pPr>
            <a:r>
              <a:rPr b="0" i="0" lang="es-CL" sz="1679" u="none" cap="none" strike="noStrike">
                <a:solidFill>
                  <a:schemeClr val="lt1"/>
                </a:solidFill>
                <a:latin typeface="Calibri"/>
                <a:ea typeface="Calibri"/>
                <a:cs typeface="Calibri"/>
                <a:sym typeface="Calibri"/>
              </a:rPr>
              <a:t>Sanciones hasta </a:t>
            </a:r>
            <a:r>
              <a:rPr b="1" i="0" lang="es-CL" sz="1679" u="none" cap="none" strike="noStrike">
                <a:solidFill>
                  <a:schemeClr val="lt1"/>
                </a:solidFill>
                <a:latin typeface="Calibri"/>
                <a:ea typeface="Calibri"/>
                <a:cs typeface="Calibri"/>
                <a:sym typeface="Calibri"/>
              </a:rPr>
              <a:t>20.000 UTM</a:t>
            </a:r>
            <a:r>
              <a:rPr b="0" i="0" lang="es-CL" sz="1679" u="none" cap="none" strike="noStrike">
                <a:solidFill>
                  <a:schemeClr val="lt1"/>
                </a:solidFill>
                <a:latin typeface="Calibri"/>
                <a:ea typeface="Calibri"/>
                <a:cs typeface="Calibri"/>
                <a:sym typeface="Calibri"/>
              </a:rPr>
              <a:t> y registro nacional de sanciones.</a:t>
            </a:r>
            <a:br>
              <a:rPr b="0" i="0" lang="es-CL" sz="1679" u="none" cap="none" strike="noStrike">
                <a:solidFill>
                  <a:schemeClr val="lt1"/>
                </a:solidFill>
                <a:latin typeface="Calibri"/>
                <a:ea typeface="Calibri"/>
                <a:cs typeface="Calibri"/>
                <a:sym typeface="Calibri"/>
              </a:rPr>
            </a:br>
            <a:endParaRPr b="0" i="0" sz="1679" u="none" cap="none" strike="noStrike">
              <a:solidFill>
                <a:schemeClr val="lt1"/>
              </a:solidFill>
              <a:latin typeface="Calibri"/>
              <a:ea typeface="Calibri"/>
              <a:cs typeface="Calibri"/>
              <a:sym typeface="Calibri"/>
            </a:endParaRPr>
          </a:p>
          <a:p>
            <a:pPr indent="-381052" lvl="0" marL="548716" marR="0" rtl="0" algn="l">
              <a:lnSpc>
                <a:spcPct val="100000"/>
              </a:lnSpc>
              <a:spcBef>
                <a:spcPts val="0"/>
              </a:spcBef>
              <a:spcAft>
                <a:spcPts val="0"/>
              </a:spcAft>
              <a:buClr>
                <a:schemeClr val="lt1"/>
              </a:buClr>
              <a:buSzPts val="1680"/>
              <a:buFont typeface="Calibri"/>
              <a:buChar char="●"/>
            </a:pPr>
            <a:r>
              <a:rPr b="0" i="0" lang="es-CL" sz="1679" u="none" cap="none" strike="noStrike">
                <a:solidFill>
                  <a:schemeClr val="lt1"/>
                </a:solidFill>
                <a:latin typeface="Calibri"/>
                <a:ea typeface="Calibri"/>
                <a:cs typeface="Calibri"/>
                <a:sym typeface="Calibri"/>
              </a:rPr>
              <a:t>Alineada con estándares internacionales (similar a GDPR).</a:t>
            </a:r>
            <a:endParaRPr b="0" i="0" sz="1679" u="none" cap="none" strike="noStrike">
              <a:solidFill>
                <a:schemeClr val="lt1"/>
              </a:solidFill>
              <a:latin typeface="Calibri"/>
              <a:ea typeface="Calibri"/>
              <a:cs typeface="Calibri"/>
              <a:sym typeface="Calibri"/>
            </a:endParaRPr>
          </a:p>
          <a:p>
            <a:pPr indent="0" lvl="0" marL="0" marR="0" rtl="0" algn="l">
              <a:lnSpc>
                <a:spcPct val="100000"/>
              </a:lnSpc>
              <a:spcBef>
                <a:spcPts val="1440"/>
              </a:spcBef>
              <a:spcAft>
                <a:spcPts val="0"/>
              </a:spcAft>
              <a:buClr>
                <a:srgbClr val="000000"/>
              </a:buClr>
              <a:buSzPts val="2160"/>
              <a:buFont typeface="Arial"/>
              <a:buNone/>
            </a:pPr>
            <a:r>
              <a:t/>
            </a:r>
            <a:endParaRPr b="0" i="0" sz="2160" u="none" cap="none" strike="noStrike">
              <a:solidFill>
                <a:schemeClr val="lt1"/>
              </a:solidFill>
              <a:latin typeface="Calibri"/>
              <a:ea typeface="Calibri"/>
              <a:cs typeface="Calibri"/>
              <a:sym typeface="Calibri"/>
            </a:endParaRPr>
          </a:p>
        </p:txBody>
      </p:sp>
      <p:sp>
        <p:nvSpPr>
          <p:cNvPr id="445" name="Google Shape;445;g3993719c3f7_1_2"/>
          <p:cNvSpPr txBox="1"/>
          <p:nvPr/>
        </p:nvSpPr>
        <p:spPr>
          <a:xfrm>
            <a:off x="6801353" y="2095332"/>
            <a:ext cx="4084800" cy="1235400"/>
          </a:xfrm>
          <a:prstGeom prst="rect">
            <a:avLst/>
          </a:prstGeom>
          <a:noFill/>
          <a:ln>
            <a:noFill/>
          </a:ln>
        </p:spPr>
        <p:txBody>
          <a:bodyPr anchorCtr="0" anchor="t" bIns="109725" lIns="109725" spcFirstLastPara="1" rIns="109725" wrap="square" tIns="109725">
            <a:noAutofit/>
          </a:bodyPr>
          <a:lstStyle/>
          <a:p>
            <a:pPr indent="0" lvl="0" marL="0" marR="0" rtl="0" algn="ctr">
              <a:lnSpc>
                <a:spcPct val="115000"/>
              </a:lnSpc>
              <a:spcBef>
                <a:spcPts val="2160"/>
              </a:spcBef>
              <a:spcAft>
                <a:spcPts val="480"/>
              </a:spcAft>
              <a:buClr>
                <a:schemeClr val="dk1"/>
              </a:buClr>
              <a:buSzPts val="1100"/>
              <a:buFont typeface="Arial"/>
              <a:buNone/>
            </a:pPr>
            <a:r>
              <a:rPr b="1" i="0" lang="es-CL" sz="2880" u="none" cap="none" strike="noStrike">
                <a:solidFill>
                  <a:schemeClr val="lt1"/>
                </a:solidFill>
                <a:latin typeface="Calibri"/>
                <a:ea typeface="Calibri"/>
                <a:cs typeface="Calibri"/>
                <a:sym typeface="Calibri"/>
              </a:rPr>
              <a:t>Ciberseguridad y delitos informáticos (Chile)</a:t>
            </a:r>
            <a:endParaRPr b="0" i="0" sz="2160" u="none" cap="none" strike="noStrike">
              <a:solidFill>
                <a:schemeClr val="lt1"/>
              </a:solidFill>
              <a:latin typeface="Calibri"/>
              <a:ea typeface="Calibri"/>
              <a:cs typeface="Calibri"/>
              <a:sym typeface="Calibri"/>
            </a:endParaRPr>
          </a:p>
        </p:txBody>
      </p:sp>
      <p:sp>
        <p:nvSpPr>
          <p:cNvPr id="446" name="Google Shape;446;g3993719c3f7_1_2"/>
          <p:cNvSpPr txBox="1"/>
          <p:nvPr/>
        </p:nvSpPr>
        <p:spPr>
          <a:xfrm>
            <a:off x="6945899" y="3528859"/>
            <a:ext cx="3858300" cy="4834500"/>
          </a:xfrm>
          <a:prstGeom prst="rect">
            <a:avLst/>
          </a:prstGeom>
          <a:noFill/>
          <a:ln>
            <a:noFill/>
          </a:ln>
        </p:spPr>
        <p:txBody>
          <a:bodyPr anchorCtr="0" anchor="t" bIns="109725" lIns="109725" spcFirstLastPara="1" rIns="109725" wrap="square" tIns="109725">
            <a:noAutofit/>
          </a:bodyPr>
          <a:lstStyle/>
          <a:p>
            <a:pPr indent="-396296" lvl="0" marL="548717" marR="0" rtl="0" algn="l">
              <a:lnSpc>
                <a:spcPct val="100000"/>
              </a:lnSpc>
              <a:spcBef>
                <a:spcPts val="0"/>
              </a:spcBef>
              <a:spcAft>
                <a:spcPts val="0"/>
              </a:spcAft>
              <a:buClr>
                <a:schemeClr val="lt1"/>
              </a:buClr>
              <a:buSzPts val="1920"/>
              <a:buFont typeface="Calibri"/>
              <a:buChar char="●"/>
            </a:pPr>
            <a:r>
              <a:rPr b="0" i="0" lang="es-CL" sz="1920" u="none" cap="none" strike="noStrike">
                <a:solidFill>
                  <a:schemeClr val="lt1"/>
                </a:solidFill>
                <a:latin typeface="Calibri"/>
                <a:ea typeface="Calibri"/>
                <a:cs typeface="Calibri"/>
                <a:sym typeface="Calibri"/>
              </a:rPr>
              <a:t>Actualiza delitos informáticos según el </a:t>
            </a:r>
            <a:r>
              <a:rPr b="1" i="0" lang="es-CL" sz="1920" u="none" cap="none" strike="noStrike">
                <a:solidFill>
                  <a:schemeClr val="lt1"/>
                </a:solidFill>
                <a:latin typeface="Calibri"/>
                <a:ea typeface="Calibri"/>
                <a:cs typeface="Calibri"/>
                <a:sym typeface="Calibri"/>
              </a:rPr>
              <a:t>Convenio de Budapest</a:t>
            </a:r>
            <a:r>
              <a:rPr b="0" i="0" lang="es-CL" sz="1920" u="none" cap="none" strike="noStrike">
                <a:solidFill>
                  <a:schemeClr val="lt1"/>
                </a:solidFill>
                <a:latin typeface="Calibri"/>
                <a:ea typeface="Calibri"/>
                <a:cs typeface="Calibri"/>
                <a:sym typeface="Calibri"/>
              </a:rPr>
              <a:t>.</a:t>
            </a:r>
            <a:br>
              <a:rPr b="0" i="0" lang="es-CL" sz="1920" u="none" cap="none" strike="noStrike">
                <a:solidFill>
                  <a:schemeClr val="lt1"/>
                </a:solidFill>
                <a:latin typeface="Calibri"/>
                <a:ea typeface="Calibri"/>
                <a:cs typeface="Calibri"/>
                <a:sym typeface="Calibri"/>
              </a:rPr>
            </a:br>
            <a:endParaRPr b="0" i="0" sz="1920" u="none" cap="none" strike="noStrike">
              <a:solidFill>
                <a:schemeClr val="lt1"/>
              </a:solidFill>
              <a:latin typeface="Calibri"/>
              <a:ea typeface="Calibri"/>
              <a:cs typeface="Calibri"/>
              <a:sym typeface="Calibri"/>
            </a:endParaRPr>
          </a:p>
          <a:p>
            <a:pPr indent="-396296" lvl="0" marL="548717" marR="0" rtl="0" algn="l">
              <a:lnSpc>
                <a:spcPct val="100000"/>
              </a:lnSpc>
              <a:spcBef>
                <a:spcPts val="0"/>
              </a:spcBef>
              <a:spcAft>
                <a:spcPts val="0"/>
              </a:spcAft>
              <a:buClr>
                <a:schemeClr val="lt1"/>
              </a:buClr>
              <a:buSzPts val="1920"/>
              <a:buFont typeface="Calibri"/>
              <a:buChar char="●"/>
            </a:pPr>
            <a:r>
              <a:rPr b="0" i="0" lang="es-CL" sz="1920" u="none" cap="none" strike="noStrike">
                <a:solidFill>
                  <a:schemeClr val="lt1"/>
                </a:solidFill>
                <a:latin typeface="Calibri"/>
                <a:ea typeface="Calibri"/>
                <a:cs typeface="Calibri"/>
                <a:sym typeface="Calibri"/>
              </a:rPr>
              <a:t>Tipifica: acceso ilícito, interceptación, ataques a sistemas/datos, falsificación y fraude informático.</a:t>
            </a:r>
            <a:br>
              <a:rPr b="0" i="0" lang="es-CL" sz="1920" u="none" cap="none" strike="noStrike">
                <a:solidFill>
                  <a:schemeClr val="lt1"/>
                </a:solidFill>
                <a:latin typeface="Calibri"/>
                <a:ea typeface="Calibri"/>
                <a:cs typeface="Calibri"/>
                <a:sym typeface="Calibri"/>
              </a:rPr>
            </a:br>
            <a:endParaRPr b="0" i="0" sz="1920" u="none" cap="none" strike="noStrike">
              <a:solidFill>
                <a:schemeClr val="lt1"/>
              </a:solidFill>
              <a:latin typeface="Calibri"/>
              <a:ea typeface="Calibri"/>
              <a:cs typeface="Calibri"/>
              <a:sym typeface="Calibri"/>
            </a:endParaRPr>
          </a:p>
          <a:p>
            <a:pPr indent="-396296" lvl="0" marL="548717" marR="0" rtl="0" algn="l">
              <a:lnSpc>
                <a:spcPct val="100000"/>
              </a:lnSpc>
              <a:spcBef>
                <a:spcPts val="0"/>
              </a:spcBef>
              <a:spcAft>
                <a:spcPts val="0"/>
              </a:spcAft>
              <a:buClr>
                <a:schemeClr val="lt1"/>
              </a:buClr>
              <a:buSzPts val="1920"/>
              <a:buFont typeface="Calibri"/>
              <a:buChar char="●"/>
            </a:pPr>
            <a:r>
              <a:rPr b="0" i="0" lang="es-CL" sz="1920" u="none" cap="none" strike="noStrike">
                <a:solidFill>
                  <a:schemeClr val="lt1"/>
                </a:solidFill>
                <a:latin typeface="Calibri"/>
                <a:ea typeface="Calibri"/>
                <a:cs typeface="Calibri"/>
                <a:sym typeface="Calibri"/>
              </a:rPr>
              <a:t>Refuerza investigación, trazabilidad y preservación de evidencias.</a:t>
            </a:r>
            <a:endParaRPr b="0" i="0" sz="192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80"/>
              <a:buFont typeface="Arial"/>
              <a:buNone/>
            </a:pPr>
            <a:r>
              <a:t/>
            </a:r>
            <a:endParaRPr b="0" i="0" sz="1679" u="none" cap="none" strike="noStrike">
              <a:solidFill>
                <a:schemeClr val="lt1"/>
              </a:solidFill>
              <a:latin typeface="Calibri"/>
              <a:ea typeface="Calibri"/>
              <a:cs typeface="Calibri"/>
              <a:sym typeface="Calibri"/>
            </a:endParaRPr>
          </a:p>
        </p:txBody>
      </p:sp>
      <p:sp>
        <p:nvSpPr>
          <p:cNvPr id="447" name="Google Shape;447;g3993719c3f7_1_2"/>
          <p:cNvSpPr txBox="1"/>
          <p:nvPr/>
        </p:nvSpPr>
        <p:spPr>
          <a:xfrm>
            <a:off x="12589975" y="2051875"/>
            <a:ext cx="4180200" cy="1224900"/>
          </a:xfrm>
          <a:prstGeom prst="rect">
            <a:avLst/>
          </a:prstGeom>
          <a:noFill/>
          <a:ln>
            <a:noFill/>
          </a:ln>
        </p:spPr>
        <p:txBody>
          <a:bodyPr anchorCtr="0" anchor="t" bIns="108775" lIns="108775" spcFirstLastPara="1" rIns="108775" wrap="square" tIns="108775">
            <a:noAutofit/>
          </a:bodyPr>
          <a:lstStyle/>
          <a:p>
            <a:pPr indent="0" lvl="0" marL="0" marR="0" rtl="0" algn="l">
              <a:lnSpc>
                <a:spcPct val="115000"/>
              </a:lnSpc>
              <a:spcBef>
                <a:spcPts val="2142"/>
              </a:spcBef>
              <a:spcAft>
                <a:spcPts val="0"/>
              </a:spcAft>
              <a:buClr>
                <a:schemeClr val="dk1"/>
              </a:buClr>
              <a:buSzPts val="1100"/>
              <a:buFont typeface="Arial"/>
              <a:buNone/>
            </a:pPr>
            <a:r>
              <a:rPr b="1" i="0" lang="es-CL" sz="2855" u="none" cap="none" strike="noStrike">
                <a:solidFill>
                  <a:schemeClr val="lt1"/>
                </a:solidFill>
                <a:latin typeface="Calibri"/>
                <a:ea typeface="Calibri"/>
                <a:cs typeface="Calibri"/>
                <a:sym typeface="Calibri"/>
              </a:rPr>
              <a:t>Propiedad intelectual y derechos de autor (Chile)</a:t>
            </a:r>
            <a:endParaRPr b="1" i="0" sz="2855" u="none" cap="none" strike="noStrike">
              <a:solidFill>
                <a:schemeClr val="lt1"/>
              </a:solidFill>
              <a:latin typeface="Calibri"/>
              <a:ea typeface="Calibri"/>
              <a:cs typeface="Calibri"/>
              <a:sym typeface="Calibri"/>
            </a:endParaRPr>
          </a:p>
          <a:p>
            <a:pPr indent="0" lvl="0" marL="0" marR="0" rtl="0" algn="ctr">
              <a:lnSpc>
                <a:spcPct val="115000"/>
              </a:lnSpc>
              <a:spcBef>
                <a:spcPts val="2142"/>
              </a:spcBef>
              <a:spcAft>
                <a:spcPts val="476"/>
              </a:spcAft>
              <a:buClr>
                <a:srgbClr val="000000"/>
              </a:buClr>
              <a:buSzPts val="2855"/>
              <a:buFont typeface="Arial"/>
              <a:buNone/>
            </a:pPr>
            <a:r>
              <a:t/>
            </a:r>
            <a:endParaRPr b="1" i="0" sz="2855" u="none" cap="none" strike="noStrike">
              <a:solidFill>
                <a:schemeClr val="lt1"/>
              </a:solidFill>
              <a:latin typeface="Calibri"/>
              <a:ea typeface="Calibri"/>
              <a:cs typeface="Calibri"/>
              <a:sym typeface="Calibri"/>
            </a:endParaRPr>
          </a:p>
        </p:txBody>
      </p:sp>
      <p:sp>
        <p:nvSpPr>
          <p:cNvPr id="448" name="Google Shape;448;g3993719c3f7_1_2"/>
          <p:cNvSpPr txBox="1"/>
          <p:nvPr/>
        </p:nvSpPr>
        <p:spPr>
          <a:xfrm>
            <a:off x="12621012" y="3433878"/>
            <a:ext cx="3825300" cy="4793100"/>
          </a:xfrm>
          <a:prstGeom prst="rect">
            <a:avLst/>
          </a:prstGeom>
          <a:noFill/>
          <a:ln>
            <a:noFill/>
          </a:ln>
        </p:spPr>
        <p:txBody>
          <a:bodyPr anchorCtr="0" anchor="t" bIns="108775" lIns="108775" spcFirstLastPara="1" rIns="108775" wrap="square" tIns="108775">
            <a:noAutofit/>
          </a:bodyPr>
          <a:lstStyle/>
          <a:p>
            <a:pPr indent="-355122" lvl="0" marL="544017" marR="0" rtl="0" algn="l">
              <a:lnSpc>
                <a:spcPct val="100000"/>
              </a:lnSpc>
              <a:spcBef>
                <a:spcPts val="1428"/>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Protege obras y software; define derechos morales y patrimoniales.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355122" lvl="0" marL="544017" marR="0" rtl="0" algn="l">
              <a:lnSpc>
                <a:spcPct val="100000"/>
              </a:lnSpc>
              <a:spcBef>
                <a:spcPts val="0"/>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Incluye excepciones bajo la regla de tres pasos.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355122" lvl="0" marL="544017" marR="0" rtl="0" algn="l">
              <a:lnSpc>
                <a:spcPct val="100000"/>
              </a:lnSpc>
              <a:spcBef>
                <a:spcPts val="0"/>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Normas de responsabilidad para proveedores de Internet y medidas civiles/penales.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0" lvl="0" marL="0" marR="0" rtl="0" algn="l">
              <a:lnSpc>
                <a:spcPct val="100000"/>
              </a:lnSpc>
              <a:spcBef>
                <a:spcPts val="1428"/>
              </a:spcBef>
              <a:spcAft>
                <a:spcPts val="0"/>
              </a:spcAft>
              <a:buClr>
                <a:srgbClr val="000000"/>
              </a:buClr>
              <a:buSzPts val="1903"/>
              <a:buFont typeface="Arial"/>
              <a:buNone/>
            </a:pPr>
            <a:r>
              <a:t/>
            </a:r>
            <a:endParaRPr b="0" i="0" sz="1903" u="none" cap="none" strike="noStrike">
              <a:solidFill>
                <a:schemeClr val="lt1"/>
              </a:solidFill>
              <a:latin typeface="Calibri"/>
              <a:ea typeface="Calibri"/>
              <a:cs typeface="Calibri"/>
              <a:sym typeface="Calibri"/>
            </a:endParaRPr>
          </a:p>
        </p:txBody>
      </p:sp>
      <p:sp>
        <p:nvSpPr>
          <p:cNvPr id="449" name="Google Shape;449;g3993719c3f7_1_2"/>
          <p:cNvSpPr/>
          <p:nvPr/>
        </p:nvSpPr>
        <p:spPr>
          <a:xfrm>
            <a:off x="7473800" y="7498000"/>
            <a:ext cx="2760000" cy="27408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50" name="Google Shape;450;g3993719c3f7_1_2"/>
          <p:cNvCxnSpPr/>
          <p:nvPr/>
        </p:nvCxnSpPr>
        <p:spPr>
          <a:xfrm flipH="1" rot="10800000">
            <a:off x="6973100" y="3292050"/>
            <a:ext cx="3710400" cy="12600"/>
          </a:xfrm>
          <a:prstGeom prst="straightConnector1">
            <a:avLst/>
          </a:prstGeom>
          <a:noFill/>
          <a:ln cap="flat" cmpd="sng" w="9525">
            <a:solidFill>
              <a:srgbClr val="F39C12"/>
            </a:solidFill>
            <a:prstDash val="solid"/>
            <a:round/>
            <a:headEnd len="sm" w="sm" type="none"/>
            <a:tailEnd len="sm" w="sm" type="none"/>
          </a:ln>
        </p:spPr>
      </p:cxnSp>
      <p:cxnSp>
        <p:nvCxnSpPr>
          <p:cNvPr id="451" name="Google Shape;451;g3993719c3f7_1_2"/>
          <p:cNvCxnSpPr/>
          <p:nvPr/>
        </p:nvCxnSpPr>
        <p:spPr>
          <a:xfrm flipH="1" rot="10800000">
            <a:off x="1449725" y="3292050"/>
            <a:ext cx="3710400" cy="12600"/>
          </a:xfrm>
          <a:prstGeom prst="straightConnector1">
            <a:avLst/>
          </a:prstGeom>
          <a:noFill/>
          <a:ln cap="flat" cmpd="sng" w="9525">
            <a:solidFill>
              <a:srgbClr val="F39C12"/>
            </a:solidFill>
            <a:prstDash val="solid"/>
            <a:round/>
            <a:headEnd len="sm" w="sm" type="none"/>
            <a:tailEnd len="sm" w="sm" type="none"/>
          </a:ln>
        </p:spPr>
      </p:cxnSp>
      <p:cxnSp>
        <p:nvCxnSpPr>
          <p:cNvPr id="452" name="Google Shape;452;g3993719c3f7_1_2"/>
          <p:cNvCxnSpPr/>
          <p:nvPr/>
        </p:nvCxnSpPr>
        <p:spPr>
          <a:xfrm flipH="1" rot="10800000">
            <a:off x="12678450" y="3292050"/>
            <a:ext cx="3710400" cy="12600"/>
          </a:xfrm>
          <a:prstGeom prst="straightConnector1">
            <a:avLst/>
          </a:prstGeom>
          <a:noFill/>
          <a:ln cap="flat" cmpd="sng" w="9525">
            <a:solidFill>
              <a:srgbClr val="F39C12"/>
            </a:solidFill>
            <a:prstDash val="solid"/>
            <a:round/>
            <a:headEnd len="sm" w="sm" type="none"/>
            <a:tailEnd len="sm" w="sm" type="none"/>
          </a:ln>
        </p:spPr>
      </p:cxnSp>
      <p:sp>
        <p:nvSpPr>
          <p:cNvPr id="453" name="Google Shape;453;g3993719c3f7_1_2"/>
          <p:cNvSpPr/>
          <p:nvPr/>
        </p:nvSpPr>
        <p:spPr>
          <a:xfrm>
            <a:off x="13377500" y="7574250"/>
            <a:ext cx="2760000" cy="26010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54" name="Google Shape;454;g3993719c3f7_1_2"/>
          <p:cNvSpPr/>
          <p:nvPr/>
        </p:nvSpPr>
        <p:spPr>
          <a:xfrm>
            <a:off x="1982050" y="7811850"/>
            <a:ext cx="2472600" cy="23634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pic>
        <p:nvPicPr>
          <p:cNvPr descr="book signed by author icon vector outline illustration (proporcionado por Getty Images)" id="455" name="Google Shape;455;g3993719c3f7_1_2"/>
          <p:cNvPicPr preferRelativeResize="0"/>
          <p:nvPr/>
        </p:nvPicPr>
        <p:blipFill rotWithShape="1">
          <a:blip r:embed="rId4">
            <a:alphaModFix/>
          </a:blip>
          <a:srcRect b="0" l="0" r="0" t="0"/>
          <a:stretch/>
        </p:blipFill>
        <p:spPr>
          <a:xfrm>
            <a:off x="13833312" y="7944212"/>
            <a:ext cx="1848376" cy="1848376"/>
          </a:xfrm>
          <a:prstGeom prst="rect">
            <a:avLst/>
          </a:prstGeom>
          <a:noFill/>
          <a:ln>
            <a:noFill/>
          </a:ln>
        </p:spPr>
      </p:pic>
      <p:pic>
        <p:nvPicPr>
          <p:cNvPr descr="Data protection, Code, encryption, security icon (proporcionado por Getty Images)" id="456" name="Google Shape;456;g3993719c3f7_1_2"/>
          <p:cNvPicPr preferRelativeResize="0"/>
          <p:nvPr/>
        </p:nvPicPr>
        <p:blipFill rotWithShape="1">
          <a:blip r:embed="rId5">
            <a:alphaModFix/>
          </a:blip>
          <a:srcRect b="12695" l="11877" r="11593" t="12976"/>
          <a:stretch/>
        </p:blipFill>
        <p:spPr>
          <a:xfrm>
            <a:off x="7932702" y="7950550"/>
            <a:ext cx="1903099" cy="1848402"/>
          </a:xfrm>
          <a:prstGeom prst="rect">
            <a:avLst/>
          </a:prstGeom>
          <a:noFill/>
          <a:ln>
            <a:noFill/>
          </a:ln>
        </p:spPr>
      </p:pic>
      <p:pic>
        <p:nvPicPr>
          <p:cNvPr descr="Business identity card black icon, user, office id card (proporcionado por Getty Images)" id="457" name="Google Shape;457;g3993719c3f7_1_2"/>
          <p:cNvPicPr preferRelativeResize="0"/>
          <p:nvPr/>
        </p:nvPicPr>
        <p:blipFill rotWithShape="1">
          <a:blip r:embed="rId6">
            <a:alphaModFix/>
          </a:blip>
          <a:srcRect b="0" l="0" r="0" t="0"/>
          <a:stretch/>
        </p:blipFill>
        <p:spPr>
          <a:xfrm>
            <a:off x="2414963" y="8190163"/>
            <a:ext cx="1606774" cy="1606774"/>
          </a:xfrm>
          <a:prstGeom prst="rect">
            <a:avLst/>
          </a:prstGeom>
          <a:noFill/>
          <a:ln>
            <a:noFill/>
          </a:ln>
        </p:spPr>
      </p:pic>
      <p:sp>
        <p:nvSpPr>
          <p:cNvPr id="458" name="Google Shape;458;g3993719c3f7_1_2"/>
          <p:cNvSpPr txBox="1"/>
          <p:nvPr/>
        </p:nvSpPr>
        <p:spPr>
          <a:xfrm>
            <a:off x="3847125" y="310100"/>
            <a:ext cx="9378000" cy="58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800"/>
              <a:buFont typeface="Arial"/>
              <a:buNone/>
            </a:pPr>
            <a:r>
              <a:rPr b="1" i="0" lang="es-CL" sz="5800" u="none" cap="none" strike="noStrike">
                <a:solidFill>
                  <a:srgbClr val="000000"/>
                </a:solidFill>
                <a:latin typeface="Calibri"/>
                <a:ea typeface="Calibri"/>
                <a:cs typeface="Calibri"/>
                <a:sym typeface="Calibri"/>
              </a:rPr>
              <a:t>Leyes Chilenas Consideradas</a:t>
            </a:r>
            <a:endParaRPr b="1" i="0" sz="5800" u="none" cap="none" strike="noStrike">
              <a:solidFill>
                <a:srgbClr val="000000"/>
              </a:solidFill>
              <a:latin typeface="Calibri"/>
              <a:ea typeface="Calibri"/>
              <a:cs typeface="Calibri"/>
              <a:sym typeface="Calibri"/>
            </a:endParaRPr>
          </a:p>
        </p:txBody>
      </p:sp>
      <p:cxnSp>
        <p:nvCxnSpPr>
          <p:cNvPr id="459" name="Google Shape;459;g3993719c3f7_1_2"/>
          <p:cNvCxnSpPr/>
          <p:nvPr/>
        </p:nvCxnSpPr>
        <p:spPr>
          <a:xfrm flipH="1" rot="10800000">
            <a:off x="4200550" y="1291800"/>
            <a:ext cx="8719800" cy="7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g3a2ea1eac06_0_28"/>
          <p:cNvSpPr txBox="1"/>
          <p:nvPr/>
        </p:nvSpPr>
        <p:spPr>
          <a:xfrm>
            <a:off x="10345450" y="511225"/>
            <a:ext cx="94713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pic>
        <p:nvPicPr>
          <p:cNvPr descr="image.png" id="466" name="Google Shape;466;g3a2ea1eac06_0_28"/>
          <p:cNvPicPr preferRelativeResize="0"/>
          <p:nvPr/>
        </p:nvPicPr>
        <p:blipFill rotWithShape="1">
          <a:blip r:embed="rId3">
            <a:alphaModFix/>
          </a:blip>
          <a:srcRect b="0" l="0" r="0" t="0"/>
          <a:stretch/>
        </p:blipFill>
        <p:spPr>
          <a:xfrm>
            <a:off x="12418875" y="1600825"/>
            <a:ext cx="4491201" cy="7345800"/>
          </a:xfrm>
          <a:prstGeom prst="rect">
            <a:avLst/>
          </a:prstGeom>
          <a:noFill/>
          <a:ln>
            <a:noFill/>
          </a:ln>
        </p:spPr>
      </p:pic>
      <p:pic>
        <p:nvPicPr>
          <p:cNvPr descr="image.png" id="467" name="Google Shape;467;g3a2ea1eac06_0_28"/>
          <p:cNvPicPr preferRelativeResize="0"/>
          <p:nvPr/>
        </p:nvPicPr>
        <p:blipFill rotWithShape="1">
          <a:blip r:embed="rId3">
            <a:alphaModFix/>
          </a:blip>
          <a:srcRect b="0" l="0" r="0" t="0"/>
          <a:stretch/>
        </p:blipFill>
        <p:spPr>
          <a:xfrm>
            <a:off x="6706750" y="1600803"/>
            <a:ext cx="4336600" cy="7409273"/>
          </a:xfrm>
          <a:prstGeom prst="rect">
            <a:avLst/>
          </a:prstGeom>
          <a:noFill/>
          <a:ln>
            <a:noFill/>
          </a:ln>
        </p:spPr>
      </p:pic>
      <p:pic>
        <p:nvPicPr>
          <p:cNvPr descr="image.png" id="468" name="Google Shape;468;g3a2ea1eac06_0_28"/>
          <p:cNvPicPr preferRelativeResize="0"/>
          <p:nvPr/>
        </p:nvPicPr>
        <p:blipFill rotWithShape="1">
          <a:blip r:embed="rId3">
            <a:alphaModFix/>
          </a:blip>
          <a:srcRect b="0" l="0" r="0" t="0"/>
          <a:stretch/>
        </p:blipFill>
        <p:spPr>
          <a:xfrm>
            <a:off x="1089677" y="1600825"/>
            <a:ext cx="4336600" cy="7409250"/>
          </a:xfrm>
          <a:prstGeom prst="rect">
            <a:avLst/>
          </a:prstGeom>
          <a:noFill/>
          <a:ln>
            <a:noFill/>
          </a:ln>
        </p:spPr>
      </p:pic>
      <p:sp>
        <p:nvSpPr>
          <p:cNvPr id="469" name="Google Shape;469;g3a2ea1eac06_0_28"/>
          <p:cNvSpPr txBox="1"/>
          <p:nvPr/>
        </p:nvSpPr>
        <p:spPr>
          <a:xfrm>
            <a:off x="1389690" y="1979627"/>
            <a:ext cx="3736500" cy="1235400"/>
          </a:xfrm>
          <a:prstGeom prst="rect">
            <a:avLst/>
          </a:prstGeom>
          <a:noFill/>
          <a:ln>
            <a:noFill/>
          </a:ln>
        </p:spPr>
        <p:txBody>
          <a:bodyPr anchorCtr="0" anchor="t" bIns="109725" lIns="109725" spcFirstLastPara="1" rIns="109725" wrap="square" tIns="109725">
            <a:noAutofit/>
          </a:bodyPr>
          <a:lstStyle/>
          <a:p>
            <a:pPr indent="0" lvl="0" marL="0" marR="0" rtl="0" algn="ctr">
              <a:lnSpc>
                <a:spcPct val="115000"/>
              </a:lnSpc>
              <a:spcBef>
                <a:spcPts val="2160"/>
              </a:spcBef>
              <a:spcAft>
                <a:spcPts val="480"/>
              </a:spcAft>
              <a:buClr>
                <a:srgbClr val="000000"/>
              </a:buClr>
              <a:buSzPts val="2880"/>
              <a:buFont typeface="Arial"/>
              <a:buNone/>
            </a:pPr>
            <a:r>
              <a:rPr b="1" i="0" lang="es-CL" sz="2880" u="none" cap="none" strike="noStrike">
                <a:solidFill>
                  <a:schemeClr val="lt1"/>
                </a:solidFill>
                <a:latin typeface="Calibri"/>
                <a:ea typeface="Calibri"/>
                <a:cs typeface="Calibri"/>
                <a:sym typeface="Calibri"/>
              </a:rPr>
              <a:t> ISO 27001 – Seguridad de la Información</a:t>
            </a:r>
            <a:endParaRPr b="0" i="0" sz="2160" u="none" cap="none" strike="noStrike">
              <a:solidFill>
                <a:schemeClr val="lt1"/>
              </a:solidFill>
              <a:latin typeface="Calibri"/>
              <a:ea typeface="Calibri"/>
              <a:cs typeface="Calibri"/>
              <a:sym typeface="Calibri"/>
            </a:endParaRPr>
          </a:p>
        </p:txBody>
      </p:sp>
      <p:sp>
        <p:nvSpPr>
          <p:cNvPr id="470" name="Google Shape;470;g3a2ea1eac06_0_28"/>
          <p:cNvSpPr txBox="1"/>
          <p:nvPr/>
        </p:nvSpPr>
        <p:spPr>
          <a:xfrm>
            <a:off x="1270790" y="3528839"/>
            <a:ext cx="3858300" cy="4834500"/>
          </a:xfrm>
          <a:prstGeom prst="rect">
            <a:avLst/>
          </a:prstGeom>
          <a:noFill/>
          <a:ln>
            <a:noFill/>
          </a:ln>
        </p:spPr>
        <p:txBody>
          <a:bodyPr anchorCtr="0" anchor="t" bIns="109725" lIns="109725" spcFirstLastPara="1" rIns="109725" wrap="square" tIns="109725">
            <a:noAutofit/>
          </a:bodyPr>
          <a:lstStyle/>
          <a:p>
            <a:pPr indent="-349250" lvl="0" marL="457200" marR="0" rtl="0" algn="l">
              <a:lnSpc>
                <a:spcPct val="100000"/>
              </a:lnSpc>
              <a:spcBef>
                <a:spcPts val="0"/>
              </a:spcBef>
              <a:spcAft>
                <a:spcPts val="0"/>
              </a:spcAft>
              <a:buClr>
                <a:schemeClr val="lt1"/>
              </a:buClr>
              <a:buSzPts val="1900"/>
              <a:buFont typeface="Arial"/>
              <a:buChar char="●"/>
            </a:pPr>
            <a:r>
              <a:rPr b="0" i="0" lang="es-CL" sz="1900" u="none" cap="none" strike="noStrike">
                <a:solidFill>
                  <a:schemeClr val="lt1"/>
                </a:solidFill>
                <a:latin typeface="Arial"/>
                <a:ea typeface="Arial"/>
                <a:cs typeface="Arial"/>
                <a:sym typeface="Arial"/>
              </a:rPr>
              <a:t>Estándar internacional para implementar un </a:t>
            </a:r>
            <a:r>
              <a:rPr b="1" i="0" lang="es-CL" sz="1900" u="none" cap="none" strike="noStrike">
                <a:solidFill>
                  <a:schemeClr val="lt1"/>
                </a:solidFill>
                <a:latin typeface="Arial"/>
                <a:ea typeface="Arial"/>
                <a:cs typeface="Arial"/>
                <a:sym typeface="Arial"/>
              </a:rPr>
              <a:t>Sistema de Gestión de Seguridad de la Información (SGSI)</a:t>
            </a:r>
            <a:r>
              <a:rPr b="0" i="0" lang="es-CL" sz="1900" u="none" cap="none" strike="noStrike">
                <a:solidFill>
                  <a:schemeClr val="lt1"/>
                </a:solidFill>
                <a:latin typeface="Arial"/>
                <a:ea typeface="Arial"/>
                <a:cs typeface="Arial"/>
                <a:sym typeface="Arial"/>
              </a:rPr>
              <a:t>.</a:t>
            </a:r>
            <a:br>
              <a:rPr b="0" i="0" lang="es-CL" sz="1900" u="none" cap="none" strike="noStrike">
                <a:solidFill>
                  <a:schemeClr val="lt1"/>
                </a:solidFill>
                <a:latin typeface="Arial"/>
                <a:ea typeface="Arial"/>
                <a:cs typeface="Arial"/>
                <a:sym typeface="Arial"/>
              </a:rPr>
            </a:br>
            <a:endParaRPr b="0" i="0" sz="1900" u="none" cap="none" strike="noStrike">
              <a:solidFill>
                <a:schemeClr val="lt1"/>
              </a:solidFill>
              <a:latin typeface="Arial"/>
              <a:ea typeface="Arial"/>
              <a:cs typeface="Arial"/>
              <a:sym typeface="Arial"/>
            </a:endParaRPr>
          </a:p>
          <a:p>
            <a:pPr indent="-349250" lvl="0" marL="457200" marR="0" rtl="0" algn="l">
              <a:lnSpc>
                <a:spcPct val="100000"/>
              </a:lnSpc>
              <a:spcBef>
                <a:spcPts val="0"/>
              </a:spcBef>
              <a:spcAft>
                <a:spcPts val="0"/>
              </a:spcAft>
              <a:buClr>
                <a:schemeClr val="lt1"/>
              </a:buClr>
              <a:buSzPts val="1900"/>
              <a:buFont typeface="Arial"/>
              <a:buChar char="●"/>
            </a:pPr>
            <a:r>
              <a:rPr b="0" i="0" lang="es-CL" sz="1900" u="none" cap="none" strike="noStrike">
                <a:solidFill>
                  <a:schemeClr val="lt1"/>
                </a:solidFill>
                <a:latin typeface="Arial"/>
                <a:ea typeface="Arial"/>
                <a:cs typeface="Arial"/>
                <a:sym typeface="Arial"/>
              </a:rPr>
              <a:t>Define controles para proteger </a:t>
            </a:r>
            <a:r>
              <a:rPr b="1" i="0" lang="es-CL" sz="1900" u="none" cap="none" strike="noStrike">
                <a:solidFill>
                  <a:schemeClr val="lt1"/>
                </a:solidFill>
                <a:latin typeface="Arial"/>
                <a:ea typeface="Arial"/>
                <a:cs typeface="Arial"/>
                <a:sym typeface="Arial"/>
              </a:rPr>
              <a:t>confidencialidad, integridad y disponibilidad</a:t>
            </a:r>
            <a:r>
              <a:rPr b="0" i="0" lang="es-CL" sz="1900" u="none" cap="none" strike="noStrike">
                <a:solidFill>
                  <a:schemeClr val="lt1"/>
                </a:solidFill>
                <a:latin typeface="Arial"/>
                <a:ea typeface="Arial"/>
                <a:cs typeface="Arial"/>
                <a:sym typeface="Arial"/>
              </a:rPr>
              <a:t> de la información.</a:t>
            </a:r>
            <a:br>
              <a:rPr b="0" i="0" lang="es-CL" sz="1900" u="none" cap="none" strike="noStrike">
                <a:solidFill>
                  <a:schemeClr val="lt1"/>
                </a:solidFill>
                <a:latin typeface="Arial"/>
                <a:ea typeface="Arial"/>
                <a:cs typeface="Arial"/>
                <a:sym typeface="Arial"/>
              </a:rPr>
            </a:br>
            <a:endParaRPr b="0" i="0" sz="1900" u="none" cap="none" strike="noStrike">
              <a:solidFill>
                <a:schemeClr val="lt1"/>
              </a:solidFill>
              <a:latin typeface="Arial"/>
              <a:ea typeface="Arial"/>
              <a:cs typeface="Arial"/>
              <a:sym typeface="Arial"/>
            </a:endParaRPr>
          </a:p>
          <a:p>
            <a:pPr indent="-349250" lvl="0" marL="457200" marR="0" rtl="0" algn="l">
              <a:lnSpc>
                <a:spcPct val="100000"/>
              </a:lnSpc>
              <a:spcBef>
                <a:spcPts val="0"/>
              </a:spcBef>
              <a:spcAft>
                <a:spcPts val="0"/>
              </a:spcAft>
              <a:buClr>
                <a:schemeClr val="lt1"/>
              </a:buClr>
              <a:buSzPts val="1900"/>
              <a:buFont typeface="Arial"/>
              <a:buChar char="●"/>
            </a:pPr>
            <a:r>
              <a:rPr b="0" i="0" lang="es-CL" sz="1900" u="none" cap="none" strike="noStrike">
                <a:solidFill>
                  <a:schemeClr val="lt1"/>
                </a:solidFill>
                <a:latin typeface="Arial"/>
                <a:ea typeface="Arial"/>
                <a:cs typeface="Arial"/>
                <a:sym typeface="Arial"/>
              </a:rPr>
              <a:t>Base de la mayoría de las buenas prácticas actuales.</a:t>
            </a:r>
            <a:endParaRPr b="0" i="0" sz="19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480"/>
              <a:buFont typeface="Arial"/>
              <a:buNone/>
            </a:pPr>
            <a:r>
              <a:t/>
            </a:r>
            <a:endParaRPr b="0" i="0" sz="2480" u="none" cap="none" strike="noStrike">
              <a:solidFill>
                <a:schemeClr val="lt1"/>
              </a:solidFill>
              <a:latin typeface="Calibri"/>
              <a:ea typeface="Calibri"/>
              <a:cs typeface="Calibri"/>
              <a:sym typeface="Calibri"/>
            </a:endParaRPr>
          </a:p>
        </p:txBody>
      </p:sp>
      <p:sp>
        <p:nvSpPr>
          <p:cNvPr id="471" name="Google Shape;471;g3a2ea1eac06_0_28"/>
          <p:cNvSpPr txBox="1"/>
          <p:nvPr/>
        </p:nvSpPr>
        <p:spPr>
          <a:xfrm>
            <a:off x="6801353" y="2095332"/>
            <a:ext cx="4084800" cy="1235400"/>
          </a:xfrm>
          <a:prstGeom prst="rect">
            <a:avLst/>
          </a:prstGeom>
          <a:noFill/>
          <a:ln>
            <a:noFill/>
          </a:ln>
        </p:spPr>
        <p:txBody>
          <a:bodyPr anchorCtr="0" anchor="t" bIns="109725" lIns="109725" spcFirstLastPara="1" rIns="109725" wrap="square" tIns="109725">
            <a:noAutofit/>
          </a:bodyPr>
          <a:lstStyle/>
          <a:p>
            <a:pPr indent="0" lvl="0" marL="0" marR="0" rtl="0" algn="ctr">
              <a:lnSpc>
                <a:spcPct val="115000"/>
              </a:lnSpc>
              <a:spcBef>
                <a:spcPts val="2160"/>
              </a:spcBef>
              <a:spcAft>
                <a:spcPts val="480"/>
              </a:spcAft>
              <a:buClr>
                <a:srgbClr val="000000"/>
              </a:buClr>
              <a:buSzPts val="2880"/>
              <a:buFont typeface="Arial"/>
              <a:buNone/>
            </a:pPr>
            <a:r>
              <a:rPr b="1" i="0" lang="es-CL" sz="2880" u="none" cap="none" strike="noStrike">
                <a:solidFill>
                  <a:schemeClr val="lt1"/>
                </a:solidFill>
                <a:latin typeface="Calibri"/>
                <a:ea typeface="Calibri"/>
                <a:cs typeface="Calibri"/>
                <a:sym typeface="Calibri"/>
              </a:rPr>
              <a:t>ISO 9001 - Gestión de calidad</a:t>
            </a:r>
            <a:endParaRPr b="0" i="0" sz="2160" u="none" cap="none" strike="noStrike">
              <a:solidFill>
                <a:schemeClr val="lt1"/>
              </a:solidFill>
              <a:latin typeface="Calibri"/>
              <a:ea typeface="Calibri"/>
              <a:cs typeface="Calibri"/>
              <a:sym typeface="Calibri"/>
            </a:endParaRPr>
          </a:p>
        </p:txBody>
      </p:sp>
      <p:sp>
        <p:nvSpPr>
          <p:cNvPr id="472" name="Google Shape;472;g3a2ea1eac06_0_28"/>
          <p:cNvSpPr txBox="1"/>
          <p:nvPr/>
        </p:nvSpPr>
        <p:spPr>
          <a:xfrm>
            <a:off x="6945899" y="3528859"/>
            <a:ext cx="3858300" cy="4834500"/>
          </a:xfrm>
          <a:prstGeom prst="rect">
            <a:avLst/>
          </a:prstGeom>
          <a:noFill/>
          <a:ln>
            <a:noFill/>
          </a:ln>
        </p:spPr>
        <p:txBody>
          <a:bodyPr anchorCtr="0" anchor="t" bIns="109725" lIns="109725" spcFirstLastPara="1" rIns="109725" wrap="square" tIns="109725">
            <a:noAutofit/>
          </a:bodyPr>
          <a:lstStyle/>
          <a:p>
            <a:pPr indent="-396296" lvl="0" marL="548717" marR="0" rtl="0" algn="l">
              <a:lnSpc>
                <a:spcPct val="100000"/>
              </a:lnSpc>
              <a:spcBef>
                <a:spcPts val="0"/>
              </a:spcBef>
              <a:spcAft>
                <a:spcPts val="0"/>
              </a:spcAft>
              <a:buClr>
                <a:schemeClr val="lt1"/>
              </a:buClr>
              <a:buSzPts val="1920"/>
              <a:buFont typeface="Calibri"/>
              <a:buChar char="●"/>
            </a:pPr>
            <a:r>
              <a:rPr b="0" i="0" lang="es-CL" sz="1900" u="none" cap="none" strike="noStrike">
                <a:solidFill>
                  <a:schemeClr val="lt1"/>
                </a:solidFill>
                <a:latin typeface="Calibri"/>
                <a:ea typeface="Calibri"/>
                <a:cs typeface="Calibri"/>
                <a:sym typeface="Calibri"/>
              </a:rPr>
              <a:t> Esta norma se centra en los sistemas de gestión de calidad y ayuda a las organizaciones a mejorar su rendimiento</a:t>
            </a:r>
            <a:br>
              <a:rPr b="0" i="0" lang="es-CL" sz="1920" u="none" cap="none" strike="noStrike">
                <a:solidFill>
                  <a:schemeClr val="lt1"/>
                </a:solidFill>
                <a:latin typeface="Calibri"/>
                <a:ea typeface="Calibri"/>
                <a:cs typeface="Calibri"/>
                <a:sym typeface="Calibri"/>
              </a:rPr>
            </a:br>
            <a:endParaRPr b="0" i="0" sz="1920" u="none" cap="none" strike="noStrike">
              <a:solidFill>
                <a:schemeClr val="lt1"/>
              </a:solidFill>
              <a:latin typeface="Calibri"/>
              <a:ea typeface="Calibri"/>
              <a:cs typeface="Calibri"/>
              <a:sym typeface="Calibri"/>
            </a:endParaRPr>
          </a:p>
          <a:p>
            <a:pPr indent="-396296" lvl="0" marL="548717" marR="0" rtl="0" algn="l">
              <a:lnSpc>
                <a:spcPct val="100000"/>
              </a:lnSpc>
              <a:spcBef>
                <a:spcPts val="0"/>
              </a:spcBef>
              <a:spcAft>
                <a:spcPts val="0"/>
              </a:spcAft>
              <a:buClr>
                <a:schemeClr val="lt1"/>
              </a:buClr>
              <a:buSzPts val="1920"/>
              <a:buFont typeface="Calibri"/>
              <a:buChar char="●"/>
            </a:pPr>
            <a:r>
              <a:rPr b="0" i="0" lang="es-CL" sz="1900" u="none" cap="none" strike="noStrike">
                <a:solidFill>
                  <a:schemeClr val="lt1"/>
                </a:solidFill>
                <a:latin typeface="Calibri"/>
                <a:ea typeface="Calibri"/>
                <a:cs typeface="Calibri"/>
                <a:sym typeface="Calibri"/>
              </a:rPr>
              <a:t>cumplir con las regulaciones aplicables</a:t>
            </a:r>
            <a:br>
              <a:rPr b="0" i="0" lang="es-CL" sz="1920" u="none" cap="none" strike="noStrike">
                <a:solidFill>
                  <a:schemeClr val="lt1"/>
                </a:solidFill>
                <a:latin typeface="Calibri"/>
                <a:ea typeface="Calibri"/>
                <a:cs typeface="Calibri"/>
                <a:sym typeface="Calibri"/>
              </a:rPr>
            </a:br>
            <a:endParaRPr b="0" i="0" sz="1920" u="none" cap="none" strike="noStrike">
              <a:solidFill>
                <a:schemeClr val="lt1"/>
              </a:solidFill>
              <a:latin typeface="Calibri"/>
              <a:ea typeface="Calibri"/>
              <a:cs typeface="Calibri"/>
              <a:sym typeface="Calibri"/>
            </a:endParaRPr>
          </a:p>
          <a:p>
            <a:pPr indent="-395008" lvl="0" marL="548717" marR="0" rtl="0" algn="l">
              <a:lnSpc>
                <a:spcPct val="100000"/>
              </a:lnSpc>
              <a:spcBef>
                <a:spcPts val="0"/>
              </a:spcBef>
              <a:spcAft>
                <a:spcPts val="0"/>
              </a:spcAft>
              <a:buClr>
                <a:schemeClr val="lt1"/>
              </a:buClr>
              <a:buSzPts val="1900"/>
              <a:buFont typeface="Calibri"/>
              <a:buChar char="●"/>
            </a:pPr>
            <a:r>
              <a:rPr b="0" i="0" lang="es-CL" sz="1900" u="none" cap="none" strike="noStrike">
                <a:solidFill>
                  <a:schemeClr val="lt1"/>
                </a:solidFill>
                <a:latin typeface="Calibri"/>
                <a:ea typeface="Calibri"/>
                <a:cs typeface="Calibri"/>
                <a:sym typeface="Calibri"/>
              </a:rPr>
              <a:t>implementación de la ISO 9001 puede optimizar los procesos de producción de noticias, edición y publicación.</a:t>
            </a:r>
            <a:endParaRPr b="0" i="0" sz="1900" u="none" cap="none" strike="noStrike">
              <a:solidFill>
                <a:schemeClr val="lt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80"/>
              <a:buFont typeface="Arial"/>
              <a:buNone/>
            </a:pPr>
            <a:r>
              <a:t/>
            </a:r>
            <a:endParaRPr b="0" i="0" sz="1679" u="none" cap="none" strike="noStrike">
              <a:solidFill>
                <a:schemeClr val="lt1"/>
              </a:solidFill>
              <a:latin typeface="Calibri"/>
              <a:ea typeface="Calibri"/>
              <a:cs typeface="Calibri"/>
              <a:sym typeface="Calibri"/>
            </a:endParaRPr>
          </a:p>
        </p:txBody>
      </p:sp>
      <p:sp>
        <p:nvSpPr>
          <p:cNvPr id="473" name="Google Shape;473;g3a2ea1eac06_0_28"/>
          <p:cNvSpPr txBox="1"/>
          <p:nvPr/>
        </p:nvSpPr>
        <p:spPr>
          <a:xfrm>
            <a:off x="12623900" y="2079750"/>
            <a:ext cx="4180200" cy="1224900"/>
          </a:xfrm>
          <a:prstGeom prst="rect">
            <a:avLst/>
          </a:prstGeom>
          <a:noFill/>
          <a:ln>
            <a:noFill/>
          </a:ln>
        </p:spPr>
        <p:txBody>
          <a:bodyPr anchorCtr="0" anchor="t" bIns="108775" lIns="108775" spcFirstLastPara="1" rIns="108775" wrap="square" tIns="108775">
            <a:noAutofit/>
          </a:bodyPr>
          <a:lstStyle/>
          <a:p>
            <a:pPr indent="0" lvl="0" marL="0" marR="0" rtl="0" algn="l">
              <a:lnSpc>
                <a:spcPct val="115000"/>
              </a:lnSpc>
              <a:spcBef>
                <a:spcPts val="2142"/>
              </a:spcBef>
              <a:spcAft>
                <a:spcPts val="0"/>
              </a:spcAft>
              <a:buClr>
                <a:srgbClr val="000000"/>
              </a:buClr>
              <a:buSzPts val="2855"/>
              <a:buFont typeface="Arial"/>
              <a:buNone/>
            </a:pPr>
            <a:r>
              <a:rPr b="1" i="0" lang="es-CL" sz="2855" u="none" cap="none" strike="noStrike">
                <a:solidFill>
                  <a:schemeClr val="lt1"/>
                </a:solidFill>
                <a:latin typeface="Calibri"/>
                <a:ea typeface="Calibri"/>
                <a:cs typeface="Calibri"/>
                <a:sym typeface="Calibri"/>
              </a:rPr>
              <a:t>ISO/IEC - 27032 - CIBERSEGURIDAD</a:t>
            </a:r>
            <a:endParaRPr b="1" i="0" sz="2855" u="none" cap="none" strike="noStrike">
              <a:solidFill>
                <a:schemeClr val="lt1"/>
              </a:solidFill>
              <a:latin typeface="Calibri"/>
              <a:ea typeface="Calibri"/>
              <a:cs typeface="Calibri"/>
              <a:sym typeface="Calibri"/>
            </a:endParaRPr>
          </a:p>
          <a:p>
            <a:pPr indent="0" lvl="0" marL="0" marR="0" rtl="0" algn="ctr">
              <a:lnSpc>
                <a:spcPct val="115000"/>
              </a:lnSpc>
              <a:spcBef>
                <a:spcPts val="2142"/>
              </a:spcBef>
              <a:spcAft>
                <a:spcPts val="476"/>
              </a:spcAft>
              <a:buClr>
                <a:srgbClr val="000000"/>
              </a:buClr>
              <a:buSzPts val="2855"/>
              <a:buFont typeface="Arial"/>
              <a:buNone/>
            </a:pPr>
            <a:r>
              <a:t/>
            </a:r>
            <a:endParaRPr b="1" i="0" sz="2855" u="none" cap="none" strike="noStrike">
              <a:solidFill>
                <a:schemeClr val="lt1"/>
              </a:solidFill>
              <a:latin typeface="Calibri"/>
              <a:ea typeface="Calibri"/>
              <a:cs typeface="Calibri"/>
              <a:sym typeface="Calibri"/>
            </a:endParaRPr>
          </a:p>
        </p:txBody>
      </p:sp>
      <p:sp>
        <p:nvSpPr>
          <p:cNvPr id="474" name="Google Shape;474;g3a2ea1eac06_0_28"/>
          <p:cNvSpPr txBox="1"/>
          <p:nvPr/>
        </p:nvSpPr>
        <p:spPr>
          <a:xfrm>
            <a:off x="12621012" y="3433878"/>
            <a:ext cx="3825300" cy="4793100"/>
          </a:xfrm>
          <a:prstGeom prst="rect">
            <a:avLst/>
          </a:prstGeom>
          <a:noFill/>
          <a:ln>
            <a:noFill/>
          </a:ln>
        </p:spPr>
        <p:txBody>
          <a:bodyPr anchorCtr="0" anchor="t" bIns="108775" lIns="108775" spcFirstLastPara="1" rIns="108775" wrap="square" tIns="108775">
            <a:noAutofit/>
          </a:bodyPr>
          <a:lstStyle/>
          <a:p>
            <a:pPr indent="-355122" lvl="0" marL="544017" marR="0" rtl="0" algn="l">
              <a:lnSpc>
                <a:spcPct val="100000"/>
              </a:lnSpc>
              <a:spcBef>
                <a:spcPts val="1428"/>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Protege obras y software; define derechos morales y patrimoniales.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355122" lvl="0" marL="544017" marR="0" rtl="0" algn="l">
              <a:lnSpc>
                <a:spcPct val="100000"/>
              </a:lnSpc>
              <a:spcBef>
                <a:spcPts val="0"/>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Incluye excepciones bajo la regla de tres pasos.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355122" lvl="0" marL="544017" marR="0" rtl="0" algn="l">
              <a:lnSpc>
                <a:spcPct val="100000"/>
              </a:lnSpc>
              <a:spcBef>
                <a:spcPts val="0"/>
              </a:spcBef>
              <a:spcAft>
                <a:spcPts val="0"/>
              </a:spcAft>
              <a:buClr>
                <a:schemeClr val="lt1"/>
              </a:buClr>
              <a:buSzPts val="1309"/>
              <a:buFont typeface="Arial"/>
              <a:buChar char="●"/>
            </a:pPr>
            <a:r>
              <a:rPr b="0" i="0" lang="es-CL" sz="2260" u="none" cap="none" strike="noStrike">
                <a:solidFill>
                  <a:schemeClr val="lt1"/>
                </a:solidFill>
                <a:latin typeface="Calibri"/>
                <a:ea typeface="Calibri"/>
                <a:cs typeface="Calibri"/>
                <a:sym typeface="Calibri"/>
              </a:rPr>
              <a:t>Normas de responsabilidad para proveedores de Internet y medidas civiles/penales.</a:t>
            </a:r>
            <a:br>
              <a:rPr b="0" i="0" lang="es-CL" sz="2260" u="none" cap="none" strike="noStrike">
                <a:solidFill>
                  <a:schemeClr val="lt1"/>
                </a:solidFill>
                <a:latin typeface="Calibri"/>
                <a:ea typeface="Calibri"/>
                <a:cs typeface="Calibri"/>
                <a:sym typeface="Calibri"/>
              </a:rPr>
            </a:br>
            <a:endParaRPr b="0" i="0" sz="2260" u="none" cap="none" strike="noStrike">
              <a:solidFill>
                <a:schemeClr val="lt1"/>
              </a:solidFill>
              <a:latin typeface="Calibri"/>
              <a:ea typeface="Calibri"/>
              <a:cs typeface="Calibri"/>
              <a:sym typeface="Calibri"/>
            </a:endParaRPr>
          </a:p>
          <a:p>
            <a:pPr indent="0" lvl="0" marL="0" marR="0" rtl="0" algn="l">
              <a:lnSpc>
                <a:spcPct val="100000"/>
              </a:lnSpc>
              <a:spcBef>
                <a:spcPts val="1428"/>
              </a:spcBef>
              <a:spcAft>
                <a:spcPts val="0"/>
              </a:spcAft>
              <a:buClr>
                <a:srgbClr val="000000"/>
              </a:buClr>
              <a:buSzPts val="1903"/>
              <a:buFont typeface="Arial"/>
              <a:buNone/>
            </a:pPr>
            <a:r>
              <a:t/>
            </a:r>
            <a:endParaRPr b="0" i="0" sz="1903" u="none" cap="none" strike="noStrike">
              <a:solidFill>
                <a:schemeClr val="lt1"/>
              </a:solidFill>
              <a:latin typeface="Calibri"/>
              <a:ea typeface="Calibri"/>
              <a:cs typeface="Calibri"/>
              <a:sym typeface="Calibri"/>
            </a:endParaRPr>
          </a:p>
        </p:txBody>
      </p:sp>
      <p:sp>
        <p:nvSpPr>
          <p:cNvPr id="475" name="Google Shape;475;g3a2ea1eac06_0_28"/>
          <p:cNvSpPr/>
          <p:nvPr/>
        </p:nvSpPr>
        <p:spPr>
          <a:xfrm>
            <a:off x="7473800" y="7498000"/>
            <a:ext cx="2760000" cy="27408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cxnSp>
        <p:nvCxnSpPr>
          <p:cNvPr id="476" name="Google Shape;476;g3a2ea1eac06_0_28"/>
          <p:cNvCxnSpPr/>
          <p:nvPr/>
        </p:nvCxnSpPr>
        <p:spPr>
          <a:xfrm flipH="1" rot="10800000">
            <a:off x="6973100" y="3292050"/>
            <a:ext cx="3710400" cy="12600"/>
          </a:xfrm>
          <a:prstGeom prst="straightConnector1">
            <a:avLst/>
          </a:prstGeom>
          <a:noFill/>
          <a:ln cap="flat" cmpd="sng" w="9525">
            <a:solidFill>
              <a:srgbClr val="F39C12"/>
            </a:solidFill>
            <a:prstDash val="solid"/>
            <a:round/>
            <a:headEnd len="sm" w="sm" type="none"/>
            <a:tailEnd len="sm" w="sm" type="none"/>
          </a:ln>
        </p:spPr>
      </p:cxnSp>
      <p:cxnSp>
        <p:nvCxnSpPr>
          <p:cNvPr id="477" name="Google Shape;477;g3a2ea1eac06_0_28"/>
          <p:cNvCxnSpPr/>
          <p:nvPr/>
        </p:nvCxnSpPr>
        <p:spPr>
          <a:xfrm flipH="1" rot="10800000">
            <a:off x="1449725" y="3292050"/>
            <a:ext cx="3710400" cy="12600"/>
          </a:xfrm>
          <a:prstGeom prst="straightConnector1">
            <a:avLst/>
          </a:prstGeom>
          <a:noFill/>
          <a:ln cap="flat" cmpd="sng" w="9525">
            <a:solidFill>
              <a:srgbClr val="F39C12"/>
            </a:solidFill>
            <a:prstDash val="solid"/>
            <a:round/>
            <a:headEnd len="sm" w="sm" type="none"/>
            <a:tailEnd len="sm" w="sm" type="none"/>
          </a:ln>
        </p:spPr>
      </p:cxnSp>
      <p:cxnSp>
        <p:nvCxnSpPr>
          <p:cNvPr id="478" name="Google Shape;478;g3a2ea1eac06_0_28"/>
          <p:cNvCxnSpPr/>
          <p:nvPr/>
        </p:nvCxnSpPr>
        <p:spPr>
          <a:xfrm flipH="1" rot="10800000">
            <a:off x="12678450" y="3292050"/>
            <a:ext cx="3710400" cy="12600"/>
          </a:xfrm>
          <a:prstGeom prst="straightConnector1">
            <a:avLst/>
          </a:prstGeom>
          <a:noFill/>
          <a:ln cap="flat" cmpd="sng" w="9525">
            <a:solidFill>
              <a:srgbClr val="F39C12"/>
            </a:solidFill>
            <a:prstDash val="solid"/>
            <a:round/>
            <a:headEnd len="sm" w="sm" type="none"/>
            <a:tailEnd len="sm" w="sm" type="none"/>
          </a:ln>
        </p:spPr>
      </p:cxnSp>
      <p:sp>
        <p:nvSpPr>
          <p:cNvPr id="479" name="Google Shape;479;g3a2ea1eac06_0_28"/>
          <p:cNvSpPr/>
          <p:nvPr/>
        </p:nvSpPr>
        <p:spPr>
          <a:xfrm>
            <a:off x="13377500" y="7574250"/>
            <a:ext cx="2760000" cy="26010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0" name="Google Shape;480;g3a2ea1eac06_0_28"/>
          <p:cNvSpPr/>
          <p:nvPr/>
        </p:nvSpPr>
        <p:spPr>
          <a:xfrm>
            <a:off x="1982050" y="7811850"/>
            <a:ext cx="2472600" cy="2363400"/>
          </a:xfrm>
          <a:prstGeom prst="ellipse">
            <a:avLst/>
          </a:prstGeom>
          <a:solidFill>
            <a:schemeClr val="lt1"/>
          </a:solidFill>
          <a:ln cap="flat" cmpd="sng" w="9525">
            <a:solidFill>
              <a:srgbClr val="F39C1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81" name="Google Shape;481;g3a2ea1eac06_0_28"/>
          <p:cNvSpPr txBox="1"/>
          <p:nvPr/>
        </p:nvSpPr>
        <p:spPr>
          <a:xfrm>
            <a:off x="3847125" y="310100"/>
            <a:ext cx="9378000" cy="584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800"/>
              <a:buFont typeface="Arial"/>
              <a:buNone/>
            </a:pPr>
            <a:r>
              <a:rPr b="1" i="0" lang="es-CL" sz="5800" u="none" cap="none" strike="noStrike">
                <a:solidFill>
                  <a:srgbClr val="000000"/>
                </a:solidFill>
                <a:latin typeface="Calibri"/>
                <a:ea typeface="Calibri"/>
                <a:cs typeface="Calibri"/>
                <a:sym typeface="Calibri"/>
              </a:rPr>
              <a:t>ISOS Consideradas</a:t>
            </a:r>
            <a:endParaRPr b="1" i="0" sz="5800" u="none" cap="none" strike="noStrike">
              <a:solidFill>
                <a:srgbClr val="000000"/>
              </a:solidFill>
              <a:latin typeface="Calibri"/>
              <a:ea typeface="Calibri"/>
              <a:cs typeface="Calibri"/>
              <a:sym typeface="Calibri"/>
            </a:endParaRPr>
          </a:p>
        </p:txBody>
      </p:sp>
      <p:pic>
        <p:nvPicPr>
          <p:cNvPr descr="Security lock icon / black color (proporcionado por Getty Images)" id="482" name="Google Shape;482;g3a2ea1eac06_0_28"/>
          <p:cNvPicPr preferRelativeResize="0"/>
          <p:nvPr/>
        </p:nvPicPr>
        <p:blipFill rotWithShape="1">
          <a:blip r:embed="rId4">
            <a:alphaModFix/>
          </a:blip>
          <a:srcRect b="0" l="0" r="0" t="0"/>
          <a:stretch/>
        </p:blipFill>
        <p:spPr>
          <a:xfrm>
            <a:off x="2398525" y="8134125"/>
            <a:ext cx="1653274" cy="1653274"/>
          </a:xfrm>
          <a:prstGeom prst="rect">
            <a:avLst/>
          </a:prstGeom>
          <a:noFill/>
          <a:ln>
            <a:noFill/>
          </a:ln>
        </p:spPr>
      </p:pic>
      <p:pic>
        <p:nvPicPr>
          <p:cNvPr descr="Approved, ok, trusted, accepted icon (proporcionado por Getty Images)" id="483" name="Google Shape;483;g3a2ea1eac06_0_28"/>
          <p:cNvPicPr preferRelativeResize="0"/>
          <p:nvPr/>
        </p:nvPicPr>
        <p:blipFill rotWithShape="1">
          <a:blip r:embed="rId5">
            <a:alphaModFix/>
          </a:blip>
          <a:srcRect b="0" l="0" r="0" t="0"/>
          <a:stretch/>
        </p:blipFill>
        <p:spPr>
          <a:xfrm>
            <a:off x="7998376" y="7950550"/>
            <a:ext cx="1848402" cy="1848402"/>
          </a:xfrm>
          <a:prstGeom prst="rect">
            <a:avLst/>
          </a:prstGeom>
          <a:noFill/>
          <a:ln>
            <a:noFill/>
          </a:ln>
        </p:spPr>
      </p:pic>
      <p:pic>
        <p:nvPicPr>
          <p:cNvPr descr="Computer, Desktop PC Icon (proporcionado por Getty Images)" id="484" name="Google Shape;484;g3a2ea1eac06_0_28"/>
          <p:cNvPicPr preferRelativeResize="0"/>
          <p:nvPr/>
        </p:nvPicPr>
        <p:blipFill rotWithShape="1">
          <a:blip r:embed="rId6">
            <a:alphaModFix/>
          </a:blip>
          <a:srcRect b="0" l="0" r="0" t="0"/>
          <a:stretch/>
        </p:blipFill>
        <p:spPr>
          <a:xfrm>
            <a:off x="13833300" y="7944200"/>
            <a:ext cx="1848402" cy="1848402"/>
          </a:xfrm>
          <a:prstGeom prst="rect">
            <a:avLst/>
          </a:prstGeom>
          <a:noFill/>
          <a:ln>
            <a:noFill/>
          </a:ln>
        </p:spPr>
      </p:pic>
      <p:cxnSp>
        <p:nvCxnSpPr>
          <p:cNvPr id="485" name="Google Shape;485;g3a2ea1eac06_0_28"/>
          <p:cNvCxnSpPr/>
          <p:nvPr/>
        </p:nvCxnSpPr>
        <p:spPr>
          <a:xfrm flipH="1" rot="10800000">
            <a:off x="5463675" y="1265725"/>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3992a4233df_1_21"/>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07</a:t>
            </a:r>
            <a:endParaRPr b="0" i="0" sz="1400" u="none" cap="none" strike="noStrike">
              <a:solidFill>
                <a:srgbClr val="000000"/>
              </a:solidFill>
              <a:latin typeface="Arial"/>
              <a:ea typeface="Arial"/>
              <a:cs typeface="Arial"/>
              <a:sym typeface="Arial"/>
            </a:endParaRPr>
          </a:p>
        </p:txBody>
      </p:sp>
      <p:sp>
        <p:nvSpPr>
          <p:cNvPr id="491" name="Google Shape;491;g3992a4233df_1_21"/>
          <p:cNvSpPr txBox="1"/>
          <p:nvPr>
            <p:ph type="title"/>
          </p:nvPr>
        </p:nvSpPr>
        <p:spPr>
          <a:xfrm>
            <a:off x="7549150" y="7250550"/>
            <a:ext cx="9020100" cy="3634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Diseño Frontend y QA</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pic>
        <p:nvPicPr>
          <p:cNvPr descr="image.png" id="497" name="Google Shape;497;g3992a4233df_1_16"/>
          <p:cNvPicPr preferRelativeResize="0"/>
          <p:nvPr/>
        </p:nvPicPr>
        <p:blipFill rotWithShape="1">
          <a:blip r:embed="rId3">
            <a:alphaModFix/>
          </a:blip>
          <a:srcRect b="0" l="0" r="0" t="0"/>
          <a:stretch/>
        </p:blipFill>
        <p:spPr>
          <a:xfrm>
            <a:off x="1150925" y="310550"/>
            <a:ext cx="15141525" cy="2995100"/>
          </a:xfrm>
          <a:prstGeom prst="rect">
            <a:avLst/>
          </a:prstGeom>
          <a:noFill/>
          <a:ln>
            <a:noFill/>
          </a:ln>
        </p:spPr>
      </p:pic>
      <p:sp>
        <p:nvSpPr>
          <p:cNvPr id="498" name="Google Shape;498;g3992a4233df_1_16"/>
          <p:cNvSpPr txBox="1"/>
          <p:nvPr>
            <p:ph idx="1" type="body"/>
          </p:nvPr>
        </p:nvSpPr>
        <p:spPr>
          <a:xfrm>
            <a:off x="1273425" y="590075"/>
            <a:ext cx="14488200" cy="2886000"/>
          </a:xfrm>
          <a:prstGeom prst="rect">
            <a:avLst/>
          </a:prstGeom>
          <a:noFill/>
          <a:ln>
            <a:noFill/>
          </a:ln>
        </p:spPr>
        <p:txBody>
          <a:bodyPr anchorCtr="0" anchor="t" bIns="0" lIns="0" spcFirstLastPara="1" rIns="0" wrap="square" tIns="0">
            <a:spAutoFit/>
          </a:bodyPr>
          <a:lstStyle/>
          <a:p>
            <a:pPr indent="-387350" lvl="0" marL="457200" rtl="0" algn="l">
              <a:lnSpc>
                <a:spcPct val="115000"/>
              </a:lnSpc>
              <a:spcBef>
                <a:spcPts val="0"/>
              </a:spcBef>
              <a:spcAft>
                <a:spcPts val="0"/>
              </a:spcAft>
              <a:buClr>
                <a:schemeClr val="lt1"/>
              </a:buClr>
              <a:buSzPts val="2500"/>
              <a:buFont typeface="Arial"/>
              <a:buChar char="●"/>
            </a:pPr>
            <a:r>
              <a:rPr b="0" lang="es-CL" sz="2500">
                <a:solidFill>
                  <a:schemeClr val="lt1"/>
                </a:solidFill>
              </a:rPr>
              <a:t>Diseño web: Interfaz responsiva, principales categorías con filtros y buscador, carga en menos de 3 segundos, validada en dispositivos y navegadores. Mockups en Figma, estilos con Canva.</a:t>
            </a:r>
            <a:endParaRPr b="0" sz="2500">
              <a:solidFill>
                <a:schemeClr val="lt1"/>
              </a:solidFill>
            </a:endParaRPr>
          </a:p>
          <a:p>
            <a:pPr indent="0" lvl="0" marL="457200" rtl="0" algn="l">
              <a:lnSpc>
                <a:spcPct val="115000"/>
              </a:lnSpc>
              <a:spcBef>
                <a:spcPts val="0"/>
              </a:spcBef>
              <a:spcAft>
                <a:spcPts val="0"/>
              </a:spcAft>
              <a:buSzPts val="1400"/>
              <a:buNone/>
            </a:pPr>
            <a:r>
              <a:t/>
            </a:r>
            <a:endParaRPr b="0" sz="2500">
              <a:solidFill>
                <a:schemeClr val="lt1"/>
              </a:solidFill>
            </a:endParaRPr>
          </a:p>
          <a:p>
            <a:pPr indent="-387350" lvl="0" marL="457200" rtl="0" algn="l">
              <a:lnSpc>
                <a:spcPct val="115000"/>
              </a:lnSpc>
              <a:spcBef>
                <a:spcPts val="0"/>
              </a:spcBef>
              <a:spcAft>
                <a:spcPts val="0"/>
              </a:spcAft>
              <a:buClr>
                <a:schemeClr val="lt1"/>
              </a:buClr>
              <a:buSzPts val="2500"/>
              <a:buFont typeface="Arial"/>
              <a:buChar char="●"/>
            </a:pPr>
            <a:r>
              <a:rPr b="0" lang="es-CL" sz="2500">
                <a:solidFill>
                  <a:schemeClr val="lt1"/>
                </a:solidFill>
              </a:rPr>
              <a:t>Pruebas QA: Checklist de compatibilidad y accesibilidad, flujo real de carga de noticias, reducción &lt;20 minutos por publicación, 80% equipo publica autónomamente, validación Google Mobile Friendly.</a:t>
            </a:r>
            <a:endParaRPr b="0" sz="2500">
              <a:solidFill>
                <a:schemeClr val="lt1"/>
              </a:solidFill>
            </a:endParaRPr>
          </a:p>
          <a:p>
            <a:pPr indent="0" lvl="0" marL="0" rtl="0" algn="r">
              <a:lnSpc>
                <a:spcPct val="100000"/>
              </a:lnSpc>
              <a:spcBef>
                <a:spcPts val="0"/>
              </a:spcBef>
              <a:spcAft>
                <a:spcPts val="0"/>
              </a:spcAft>
              <a:buSzPts val="1400"/>
              <a:buNone/>
            </a:pPr>
            <a:r>
              <a:t/>
            </a:r>
            <a:endParaRPr b="0" sz="1500">
              <a:solidFill>
                <a:schemeClr val="lt1"/>
              </a:solidFill>
              <a:latin typeface="Roboto"/>
              <a:ea typeface="Roboto"/>
              <a:cs typeface="Roboto"/>
              <a:sym typeface="Roboto"/>
            </a:endParaRPr>
          </a:p>
        </p:txBody>
      </p:sp>
      <p:pic>
        <p:nvPicPr>
          <p:cNvPr id="499" name="Google Shape;499;g3992a4233df_1_16"/>
          <p:cNvPicPr preferRelativeResize="0"/>
          <p:nvPr/>
        </p:nvPicPr>
        <p:blipFill rotWithShape="1">
          <a:blip r:embed="rId4">
            <a:alphaModFix/>
          </a:blip>
          <a:srcRect b="0" l="0" r="0" t="0"/>
          <a:stretch/>
        </p:blipFill>
        <p:spPr>
          <a:xfrm>
            <a:off x="11107875" y="3518000"/>
            <a:ext cx="7810999" cy="7342251"/>
          </a:xfrm>
          <a:prstGeom prst="rect">
            <a:avLst/>
          </a:prstGeom>
          <a:noFill/>
          <a:ln>
            <a:noFill/>
          </a:ln>
        </p:spPr>
      </p:pic>
      <p:pic>
        <p:nvPicPr>
          <p:cNvPr id="500" name="Google Shape;500;g3992a4233df_1_16"/>
          <p:cNvPicPr preferRelativeResize="0"/>
          <p:nvPr/>
        </p:nvPicPr>
        <p:blipFill rotWithShape="1">
          <a:blip r:embed="rId5">
            <a:alphaModFix/>
          </a:blip>
          <a:srcRect b="0" l="0" r="0" t="0"/>
          <a:stretch/>
        </p:blipFill>
        <p:spPr>
          <a:xfrm>
            <a:off x="6317375" y="3701713"/>
            <a:ext cx="3158050" cy="6415749"/>
          </a:xfrm>
          <a:prstGeom prst="rect">
            <a:avLst/>
          </a:prstGeom>
          <a:noFill/>
          <a:ln>
            <a:noFill/>
          </a:ln>
        </p:spPr>
      </p:pic>
      <p:pic>
        <p:nvPicPr>
          <p:cNvPr id="501" name="Google Shape;501;g3992a4233df_1_16"/>
          <p:cNvPicPr preferRelativeResize="0"/>
          <p:nvPr/>
        </p:nvPicPr>
        <p:blipFill rotWithShape="1">
          <a:blip r:embed="rId6">
            <a:alphaModFix/>
          </a:blip>
          <a:srcRect b="0" l="0" r="0" t="0"/>
          <a:stretch/>
        </p:blipFill>
        <p:spPr>
          <a:xfrm>
            <a:off x="1655875" y="4805350"/>
            <a:ext cx="3546250" cy="35462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6" name="Shape 506"/>
        <p:cNvGrpSpPr/>
        <p:nvPr/>
      </p:nvGrpSpPr>
      <p:grpSpPr>
        <a:xfrm>
          <a:off x="0" y="0"/>
          <a:ext cx="0" cy="0"/>
          <a:chOff x="0" y="0"/>
          <a:chExt cx="0" cy="0"/>
        </a:xfrm>
      </p:grpSpPr>
      <p:pic>
        <p:nvPicPr>
          <p:cNvPr descr="image.png" id="507" name="Google Shape;507;g3a5555b7c7b_3_0"/>
          <p:cNvPicPr preferRelativeResize="0"/>
          <p:nvPr/>
        </p:nvPicPr>
        <p:blipFill rotWithShape="1">
          <a:blip r:embed="rId3">
            <a:alphaModFix/>
          </a:blip>
          <a:srcRect b="0" l="0" r="0" t="0"/>
          <a:stretch/>
        </p:blipFill>
        <p:spPr>
          <a:xfrm>
            <a:off x="14056550" y="1936475"/>
            <a:ext cx="5549475" cy="5365575"/>
          </a:xfrm>
          <a:prstGeom prst="rect">
            <a:avLst/>
          </a:prstGeom>
          <a:noFill/>
          <a:ln>
            <a:noFill/>
          </a:ln>
          <a:effectLst>
            <a:outerShdw blurRad="57150" rotWithShape="0" algn="bl" dir="5400000" dist="19050">
              <a:srgbClr val="000000">
                <a:alpha val="49803"/>
              </a:srgbClr>
            </a:outerShdw>
          </a:effectLst>
        </p:spPr>
      </p:pic>
      <p:pic>
        <p:nvPicPr>
          <p:cNvPr descr="image.png" id="508" name="Google Shape;508;g3a5555b7c7b_3_0"/>
          <p:cNvPicPr preferRelativeResize="0"/>
          <p:nvPr/>
        </p:nvPicPr>
        <p:blipFill rotWithShape="1">
          <a:blip r:embed="rId3">
            <a:alphaModFix/>
          </a:blip>
          <a:srcRect b="0" l="0" r="0" t="0"/>
          <a:stretch/>
        </p:blipFill>
        <p:spPr>
          <a:xfrm>
            <a:off x="7774911" y="1936475"/>
            <a:ext cx="5203475" cy="5365575"/>
          </a:xfrm>
          <a:prstGeom prst="rect">
            <a:avLst/>
          </a:prstGeom>
          <a:noFill/>
          <a:ln>
            <a:noFill/>
          </a:ln>
          <a:effectLst>
            <a:outerShdw blurRad="57150" rotWithShape="0" algn="bl" dir="5400000" dist="19050">
              <a:srgbClr val="000000">
                <a:alpha val="49803"/>
              </a:srgbClr>
            </a:outerShdw>
          </a:effectLst>
        </p:spPr>
      </p:pic>
      <p:sp>
        <p:nvSpPr>
          <p:cNvPr id="509" name="Google Shape;509;g3a5555b7c7b_3_0"/>
          <p:cNvSpPr txBox="1"/>
          <p:nvPr>
            <p:ph idx="1" type="body"/>
          </p:nvPr>
        </p:nvSpPr>
        <p:spPr>
          <a:xfrm>
            <a:off x="862476" y="755454"/>
            <a:ext cx="16792500" cy="738900"/>
          </a:xfrm>
          <a:prstGeom prst="rect">
            <a:avLst/>
          </a:prstGeom>
          <a:noFill/>
          <a:ln>
            <a:noFill/>
          </a:ln>
          <a:effectLst>
            <a:outerShdw blurRad="57150" rotWithShape="0" algn="bl" dir="5400000" dist="19050">
              <a:srgbClr val="000000">
                <a:alpha val="49803"/>
              </a:srgbClr>
            </a:outerShdw>
          </a:effectLst>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rPr lang="es-CL"/>
              <a:t>Pruebas de Rendimiento Jmeter</a:t>
            </a:r>
            <a:endParaRPr/>
          </a:p>
        </p:txBody>
      </p:sp>
      <p:pic>
        <p:nvPicPr>
          <p:cNvPr descr="image.png" id="510" name="Google Shape;510;g3a5555b7c7b_3_0"/>
          <p:cNvPicPr preferRelativeResize="0"/>
          <p:nvPr/>
        </p:nvPicPr>
        <p:blipFill rotWithShape="1">
          <a:blip r:embed="rId3">
            <a:alphaModFix/>
          </a:blip>
          <a:srcRect b="0" l="0" r="0" t="0"/>
          <a:stretch/>
        </p:blipFill>
        <p:spPr>
          <a:xfrm>
            <a:off x="1333249" y="1936475"/>
            <a:ext cx="5203475" cy="5365575"/>
          </a:xfrm>
          <a:prstGeom prst="rect">
            <a:avLst/>
          </a:prstGeom>
          <a:noFill/>
          <a:ln>
            <a:noFill/>
          </a:ln>
          <a:effectLst>
            <a:outerShdw blurRad="57150" rotWithShape="0" algn="bl" dir="5400000" dist="19050">
              <a:srgbClr val="000000">
                <a:alpha val="49803"/>
              </a:srgbClr>
            </a:outerShdw>
          </a:effectLst>
        </p:spPr>
      </p:pic>
      <p:pic>
        <p:nvPicPr>
          <p:cNvPr id="511" name="Google Shape;511;g3a5555b7c7b_3_0">
            <a:hlinkClick r:id="rId4"/>
          </p:cNvPr>
          <p:cNvPicPr preferRelativeResize="0"/>
          <p:nvPr/>
        </p:nvPicPr>
        <p:blipFill rotWithShape="1">
          <a:blip r:embed="rId5">
            <a:alphaModFix/>
          </a:blip>
          <a:srcRect b="0" l="0" r="0" t="0"/>
          <a:stretch/>
        </p:blipFill>
        <p:spPr>
          <a:xfrm>
            <a:off x="11923781" y="6255775"/>
            <a:ext cx="871931" cy="947200"/>
          </a:xfrm>
          <a:prstGeom prst="rect">
            <a:avLst/>
          </a:prstGeom>
          <a:noFill/>
          <a:ln>
            <a:noFill/>
          </a:ln>
          <a:effectLst>
            <a:outerShdw blurRad="57150" rotWithShape="0" algn="bl" dir="5400000" dist="19050">
              <a:srgbClr val="000000">
                <a:alpha val="49803"/>
              </a:srgbClr>
            </a:outerShdw>
          </a:effectLst>
        </p:spPr>
      </p:pic>
      <p:pic>
        <p:nvPicPr>
          <p:cNvPr descr="image.png" id="512" name="Google Shape;512;g3a5555b7c7b_3_0"/>
          <p:cNvPicPr preferRelativeResize="0"/>
          <p:nvPr/>
        </p:nvPicPr>
        <p:blipFill rotWithShape="1">
          <a:blip r:embed="rId3">
            <a:alphaModFix/>
          </a:blip>
          <a:srcRect b="0" l="0" r="0" t="0"/>
          <a:stretch/>
        </p:blipFill>
        <p:spPr>
          <a:xfrm>
            <a:off x="4330925" y="7744175"/>
            <a:ext cx="12940675" cy="2956750"/>
          </a:xfrm>
          <a:prstGeom prst="rect">
            <a:avLst/>
          </a:prstGeom>
          <a:noFill/>
          <a:ln>
            <a:noFill/>
          </a:ln>
          <a:effectLst>
            <a:outerShdw blurRad="57150" rotWithShape="0" algn="bl" dir="5400000" dist="19050">
              <a:srgbClr val="000000">
                <a:alpha val="49803"/>
              </a:srgbClr>
            </a:outerShdw>
          </a:effectLst>
        </p:spPr>
      </p:pic>
      <p:sp>
        <p:nvSpPr>
          <p:cNvPr id="513" name="Google Shape;513;g3a5555b7c7b_3_0"/>
          <p:cNvSpPr txBox="1"/>
          <p:nvPr/>
        </p:nvSpPr>
        <p:spPr>
          <a:xfrm>
            <a:off x="1655724" y="2867938"/>
            <a:ext cx="4558500" cy="3437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CL" sz="1600" u="none" cap="none" strike="noStrike">
                <a:solidFill>
                  <a:schemeClr val="lt1"/>
                </a:solidFill>
                <a:latin typeface="Arial"/>
                <a:ea typeface="Arial"/>
                <a:cs typeface="Arial"/>
                <a:sym typeface="Arial"/>
              </a:rPr>
              <a:t>En la primera fase de la prueba, se simuló una carga de </a:t>
            </a:r>
            <a:r>
              <a:rPr b="1" i="0" lang="es-CL" sz="1600" u="none" cap="none" strike="noStrike">
                <a:solidFill>
                  <a:schemeClr val="lt1"/>
                </a:solidFill>
                <a:latin typeface="Arial"/>
                <a:ea typeface="Arial"/>
                <a:cs typeface="Arial"/>
                <a:sym typeface="Arial"/>
              </a:rPr>
              <a:t>40 usuarios concurrentes</a:t>
            </a:r>
            <a:r>
              <a:rPr b="0" i="0" lang="es-CL" sz="1600" u="none" cap="none" strike="noStrike">
                <a:solidFill>
                  <a:schemeClr val="lt1"/>
                </a:solidFill>
                <a:latin typeface="Arial"/>
                <a:ea typeface="Arial"/>
                <a:cs typeface="Arial"/>
                <a:sym typeface="Arial"/>
              </a:rPr>
              <a:t>. El sistema manejó esta carga inicial de manera exitosa, como se observa en la tabla de resultados (ViewResultinTable40Usuarios.png), donde todas las 40 solicitudes se completaron sin errores (estado "Success"). Los tiempos de respuesta fueron relativamente estables, con un </a:t>
            </a:r>
            <a:r>
              <a:rPr b="1" i="0" lang="es-CL" sz="1600" u="none" cap="none" strike="noStrike">
                <a:solidFill>
                  <a:schemeClr val="lt1"/>
                </a:solidFill>
                <a:latin typeface="Arial"/>
                <a:ea typeface="Arial"/>
                <a:cs typeface="Arial"/>
                <a:sym typeface="Arial"/>
              </a:rPr>
              <a:t>tiempo promedio de 15,660 ms</a:t>
            </a:r>
            <a:r>
              <a:rPr b="0" i="0" lang="es-CL" sz="1600" u="none" cap="none" strike="noStrike">
                <a:solidFill>
                  <a:schemeClr val="lt1"/>
                </a:solidFill>
                <a:latin typeface="Arial"/>
                <a:ea typeface="Arial"/>
                <a:cs typeface="Arial"/>
                <a:sym typeface="Arial"/>
              </a:rPr>
              <a:t> (aproximadamente 15.7 segundos) y una desviación estándar baja (2,007 ms). Esto indica que el servidor pudo procesar esta carga inicial sin inconvenientes funcionales.</a:t>
            </a:r>
            <a:endParaRPr b="0" i="0" sz="2300" u="none" cap="none" strike="noStrike">
              <a:solidFill>
                <a:schemeClr val="lt1"/>
              </a:solidFill>
              <a:latin typeface="Arial"/>
              <a:ea typeface="Arial"/>
              <a:cs typeface="Arial"/>
              <a:sym typeface="Arial"/>
            </a:endParaRPr>
          </a:p>
        </p:txBody>
      </p:sp>
      <p:sp>
        <p:nvSpPr>
          <p:cNvPr id="514" name="Google Shape;514;g3a5555b7c7b_3_0"/>
          <p:cNvSpPr txBox="1"/>
          <p:nvPr/>
        </p:nvSpPr>
        <p:spPr>
          <a:xfrm>
            <a:off x="5088050" y="8354800"/>
            <a:ext cx="9028800" cy="19602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CL" sz="1800" u="none" cap="none" strike="noStrike">
                <a:solidFill>
                  <a:schemeClr val="lt1"/>
                </a:solidFill>
                <a:latin typeface="Arial"/>
                <a:ea typeface="Arial"/>
                <a:cs typeface="Arial"/>
                <a:sym typeface="Arial"/>
              </a:rPr>
              <a:t>En conclusión, el análisis de las tres fases demuestra que aunque el rendimiento se degrada progresivamente a medida que aumenta la concurrencia, el sistema es capaz de soportar funcionalmente la carga de </a:t>
            </a:r>
            <a:r>
              <a:rPr b="1" i="0" lang="es-CL" sz="1800" u="none" cap="none" strike="noStrike">
                <a:solidFill>
                  <a:schemeClr val="lt1"/>
                </a:solidFill>
                <a:latin typeface="Arial"/>
                <a:ea typeface="Arial"/>
                <a:cs typeface="Arial"/>
                <a:sym typeface="Arial"/>
              </a:rPr>
              <a:t>hasta 200 usuarios concurrentes</a:t>
            </a:r>
            <a:r>
              <a:rPr b="0" i="0" lang="es-CL" sz="1800" u="none" cap="none" strike="noStrike">
                <a:solidFill>
                  <a:schemeClr val="lt1"/>
                </a:solidFill>
                <a:latin typeface="Arial"/>
                <a:ea typeface="Arial"/>
                <a:cs typeface="Arial"/>
                <a:sym typeface="Arial"/>
              </a:rPr>
              <a:t> sin generar errores en las solicitudes. Sin embargo, a este nivel máximo de carga, los tiempos de respuesta son excesivamente altos e inestables, lo que indica que el sistema está operando por encima de su capacidad óptima.</a:t>
            </a:r>
            <a:endParaRPr b="0" i="0" sz="2500" u="none" cap="none" strike="noStrike">
              <a:solidFill>
                <a:schemeClr val="lt1"/>
              </a:solidFill>
              <a:latin typeface="Calibri"/>
              <a:ea typeface="Calibri"/>
              <a:cs typeface="Calibri"/>
              <a:sym typeface="Calibri"/>
            </a:endParaRPr>
          </a:p>
        </p:txBody>
      </p:sp>
      <p:sp>
        <p:nvSpPr>
          <p:cNvPr id="515" name="Google Shape;515;g3a5555b7c7b_3_0"/>
          <p:cNvSpPr txBox="1"/>
          <p:nvPr/>
        </p:nvSpPr>
        <p:spPr>
          <a:xfrm>
            <a:off x="1766136" y="2202775"/>
            <a:ext cx="4337700" cy="489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CL" sz="2100" u="none" cap="none" strike="noStrike">
                <a:solidFill>
                  <a:schemeClr val="lt1"/>
                </a:solidFill>
                <a:latin typeface="Calibri"/>
                <a:ea typeface="Calibri"/>
                <a:cs typeface="Calibri"/>
                <a:sym typeface="Calibri"/>
              </a:rPr>
              <a:t>📈 Fase 1: Prueba de 40 Usuarios</a:t>
            </a:r>
            <a:endParaRPr b="0" i="0" sz="2100" u="none" cap="none" strike="noStrike">
              <a:solidFill>
                <a:schemeClr val="lt1"/>
              </a:solidFill>
              <a:latin typeface="Calibri"/>
              <a:ea typeface="Calibri"/>
              <a:cs typeface="Calibri"/>
              <a:sym typeface="Calibri"/>
            </a:endParaRPr>
          </a:p>
        </p:txBody>
      </p:sp>
      <p:sp>
        <p:nvSpPr>
          <p:cNvPr id="516" name="Google Shape;516;g3a5555b7c7b_3_0"/>
          <p:cNvSpPr txBox="1"/>
          <p:nvPr/>
        </p:nvSpPr>
        <p:spPr>
          <a:xfrm>
            <a:off x="8152574" y="2582288"/>
            <a:ext cx="4558500" cy="3437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s-CL" sz="1600" u="none" cap="none" strike="noStrike">
                <a:solidFill>
                  <a:schemeClr val="lt1"/>
                </a:solidFill>
                <a:latin typeface="Arial"/>
                <a:ea typeface="Arial"/>
                <a:cs typeface="Arial"/>
                <a:sym typeface="Arial"/>
              </a:rPr>
              <a:t>Para la segunda fase, la carga se incrementó significativamente a </a:t>
            </a:r>
            <a:r>
              <a:rPr b="1" i="0" lang="es-CL" sz="1600" u="none" cap="none" strike="noStrike">
                <a:solidFill>
                  <a:schemeClr val="lt1"/>
                </a:solidFill>
                <a:latin typeface="Arial"/>
                <a:ea typeface="Arial"/>
                <a:cs typeface="Arial"/>
                <a:sym typeface="Arial"/>
              </a:rPr>
              <a:t>150 usuarios concurrentes</a:t>
            </a:r>
            <a:r>
              <a:rPr b="0" i="0" lang="es-CL" sz="1600" u="none" cap="none" strike="noStrike">
                <a:solidFill>
                  <a:schemeClr val="lt1"/>
                </a:solidFill>
                <a:latin typeface="Arial"/>
                <a:ea typeface="Arial"/>
                <a:cs typeface="Arial"/>
                <a:sym typeface="Arial"/>
              </a:rPr>
              <a:t> (</a:t>
            </a:r>
            <a:r>
              <a:rPr b="0" i="0" lang="es-CL" sz="1600" u="none" cap="none" strike="noStrike">
                <a:solidFill>
                  <a:schemeClr val="lt1"/>
                </a:solidFill>
                <a:latin typeface="Roboto Mono"/>
                <a:ea typeface="Roboto Mono"/>
                <a:cs typeface="Roboto Mono"/>
                <a:sym typeface="Roboto Mono"/>
              </a:rPr>
              <a:t>Config150Usuarios.png</a:t>
            </a:r>
            <a:r>
              <a:rPr b="0" i="0" lang="es-CL" sz="1600" u="none" cap="none" strike="noStrike">
                <a:solidFill>
                  <a:schemeClr val="lt1"/>
                </a:solidFill>
                <a:latin typeface="Arial"/>
                <a:ea typeface="Arial"/>
                <a:cs typeface="Arial"/>
                <a:sym typeface="Arial"/>
              </a:rPr>
              <a:t>). Aunque el sistema continuó procesando todas las solicitudes sin errores, se observó una degradación notable en el rendimiento. El </a:t>
            </a:r>
            <a:r>
              <a:rPr b="1" i="0" lang="es-CL" sz="1600" u="none" cap="none" strike="noStrike">
                <a:solidFill>
                  <a:schemeClr val="lt1"/>
                </a:solidFill>
                <a:latin typeface="Arial"/>
                <a:ea typeface="Arial"/>
                <a:cs typeface="Arial"/>
                <a:sym typeface="Arial"/>
              </a:rPr>
              <a:t>tiempo de respuesta promedio aumentó a 26,898 ms</a:t>
            </a:r>
            <a:r>
              <a:rPr b="0" i="0" lang="es-CL" sz="1600" u="none" cap="none" strike="noStrike">
                <a:solidFill>
                  <a:schemeClr val="lt1"/>
                </a:solidFill>
                <a:latin typeface="Arial"/>
                <a:ea typeface="Arial"/>
                <a:cs typeface="Arial"/>
                <a:sym typeface="Arial"/>
              </a:rPr>
              <a:t> (casi 27 segundos), con una mediana de 27,064 ms, según el gráfico (</a:t>
            </a:r>
            <a:r>
              <a:rPr b="0" i="0" lang="es-CL" sz="1600" u="none" cap="none" strike="noStrike">
                <a:solidFill>
                  <a:schemeClr val="lt1"/>
                </a:solidFill>
                <a:latin typeface="Roboto Mono"/>
                <a:ea typeface="Roboto Mono"/>
                <a:cs typeface="Roboto Mono"/>
                <a:sym typeface="Roboto Mono"/>
              </a:rPr>
              <a:t>Grafico150Usuarios.png</a:t>
            </a:r>
            <a:r>
              <a:rPr b="0" i="0" lang="es-CL" sz="1600" u="none" cap="none" strike="noStrike">
                <a:solidFill>
                  <a:schemeClr val="lt1"/>
                </a:solidFill>
                <a:latin typeface="Arial"/>
                <a:ea typeface="Arial"/>
                <a:cs typeface="Arial"/>
                <a:sym typeface="Arial"/>
              </a:rPr>
              <a:t>). Esta gráfica muestra una clara tendencia al alza en los tiempos de respuesta, lo que sugiere que el servidor comenzó a experimentar una tensión considerable para manejar el aumento de solicitudes.</a:t>
            </a:r>
            <a:endParaRPr b="0" i="0" sz="1600" u="none" cap="none" strike="noStrike">
              <a:solidFill>
                <a:schemeClr val="lt1"/>
              </a:solidFill>
              <a:latin typeface="Arial"/>
              <a:ea typeface="Arial"/>
              <a:cs typeface="Arial"/>
              <a:sym typeface="Arial"/>
            </a:endParaRPr>
          </a:p>
        </p:txBody>
      </p:sp>
      <p:sp>
        <p:nvSpPr>
          <p:cNvPr id="517" name="Google Shape;517;g3a5555b7c7b_3_0"/>
          <p:cNvSpPr txBox="1"/>
          <p:nvPr/>
        </p:nvSpPr>
        <p:spPr>
          <a:xfrm>
            <a:off x="8207786" y="2093300"/>
            <a:ext cx="4337700" cy="489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CL" sz="2100" u="none" cap="none" strike="noStrike">
                <a:solidFill>
                  <a:schemeClr val="lt1"/>
                </a:solidFill>
                <a:latin typeface="Calibri"/>
                <a:ea typeface="Calibri"/>
                <a:cs typeface="Calibri"/>
                <a:sym typeface="Calibri"/>
              </a:rPr>
              <a:t>💹 Fase 2: Prueba de 150 Usuarios</a:t>
            </a:r>
            <a:endParaRPr b="0" i="0" sz="2100" u="none" cap="none" strike="noStrike">
              <a:solidFill>
                <a:schemeClr val="lt1"/>
              </a:solidFill>
              <a:latin typeface="Calibri"/>
              <a:ea typeface="Calibri"/>
              <a:cs typeface="Calibri"/>
              <a:sym typeface="Calibri"/>
            </a:endParaRPr>
          </a:p>
        </p:txBody>
      </p:sp>
      <p:sp>
        <p:nvSpPr>
          <p:cNvPr id="518" name="Google Shape;518;g3a5555b7c7b_3_0"/>
          <p:cNvSpPr txBox="1"/>
          <p:nvPr/>
        </p:nvSpPr>
        <p:spPr>
          <a:xfrm>
            <a:off x="14295686" y="2631888"/>
            <a:ext cx="4558500" cy="34377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ctr">
              <a:lnSpc>
                <a:spcPct val="115000"/>
              </a:lnSpc>
              <a:spcBef>
                <a:spcPts val="1200"/>
              </a:spcBef>
              <a:spcAft>
                <a:spcPts val="0"/>
              </a:spcAft>
              <a:buClr>
                <a:schemeClr val="dk1"/>
              </a:buClr>
              <a:buSzPts val="1100"/>
              <a:buFont typeface="Arial"/>
              <a:buNone/>
            </a:pPr>
            <a:r>
              <a:rPr b="0" i="0" lang="es-CL" sz="1600" u="none" cap="none" strike="noStrike">
                <a:solidFill>
                  <a:schemeClr val="lt1"/>
                </a:solidFill>
                <a:latin typeface="Arial"/>
                <a:ea typeface="Arial"/>
                <a:cs typeface="Arial"/>
                <a:sym typeface="Arial"/>
              </a:rPr>
              <a:t>La tercera y última fase llevó la prueba a </a:t>
            </a:r>
            <a:r>
              <a:rPr b="1" i="0" lang="es-CL" sz="1600" u="none" cap="none" strike="noStrike">
                <a:solidFill>
                  <a:schemeClr val="lt1"/>
                </a:solidFill>
                <a:latin typeface="Arial"/>
                <a:ea typeface="Arial"/>
                <a:cs typeface="Arial"/>
                <a:sym typeface="Arial"/>
              </a:rPr>
              <a:t>200 usuarios concurrentes</a:t>
            </a:r>
            <a:r>
              <a:rPr b="0" i="0" lang="es-CL" sz="1600" u="none" cap="none" strike="noStrike">
                <a:solidFill>
                  <a:schemeClr val="lt1"/>
                </a:solidFill>
                <a:latin typeface="Arial"/>
                <a:ea typeface="Arial"/>
                <a:cs typeface="Arial"/>
                <a:sym typeface="Arial"/>
              </a:rPr>
              <a:t>. En este punto, si bien la aplicación siguió respondiendo a todas las 200 solicitudes sin fallos (como se ve en </a:t>
            </a:r>
            <a:r>
              <a:rPr b="0" i="0" lang="es-CL" sz="1600" u="none" cap="none" strike="noStrike">
                <a:solidFill>
                  <a:schemeClr val="lt1"/>
                </a:solidFill>
                <a:latin typeface="Roboto Mono"/>
                <a:ea typeface="Roboto Mono"/>
                <a:cs typeface="Roboto Mono"/>
                <a:sym typeface="Roboto Mono"/>
              </a:rPr>
              <a:t>ViewResulTable200Usuarios.png</a:t>
            </a:r>
            <a:r>
              <a:rPr b="0" i="0" lang="es-CL" sz="1600" u="none" cap="none" strike="noStrike">
                <a:solidFill>
                  <a:schemeClr val="lt1"/>
                </a:solidFill>
                <a:latin typeface="Arial"/>
                <a:ea typeface="Arial"/>
                <a:cs typeface="Arial"/>
                <a:sym typeface="Arial"/>
              </a:rPr>
              <a:t>), el impacto en el rendimiento fue severo. El </a:t>
            </a:r>
            <a:r>
              <a:rPr b="1" i="0" lang="es-CL" sz="1600" u="none" cap="none" strike="noStrike">
                <a:solidFill>
                  <a:schemeClr val="lt1"/>
                </a:solidFill>
                <a:latin typeface="Arial"/>
                <a:ea typeface="Arial"/>
                <a:cs typeface="Arial"/>
                <a:sym typeface="Arial"/>
              </a:rPr>
              <a:t>tiempo de respuesta promedio se elevó a 37,880 ms</a:t>
            </a:r>
            <a:r>
              <a:rPr b="0" i="0" lang="es-CL" sz="1600" u="none" cap="none" strike="noStrike">
                <a:solidFill>
                  <a:schemeClr val="lt1"/>
                </a:solidFill>
                <a:latin typeface="Arial"/>
                <a:ea typeface="Arial"/>
                <a:cs typeface="Arial"/>
                <a:sym typeface="Arial"/>
              </a:rPr>
              <a:t> (casi 38 segundos), y la mediana alcanzó los 39,121 ms. Los tiempos se volvieron muy erráticos, con un máximo registrado de 52,204 ms (52 segundos) y una desviación estándar que se disparó a 11,629 ms (</a:t>
            </a:r>
            <a:r>
              <a:rPr b="0" i="0" lang="es-CL" sz="1600" u="none" cap="none" strike="noStrike">
                <a:solidFill>
                  <a:schemeClr val="lt1"/>
                </a:solidFill>
                <a:latin typeface="Roboto Mono"/>
                <a:ea typeface="Roboto Mono"/>
                <a:cs typeface="Roboto Mono"/>
                <a:sym typeface="Roboto Mono"/>
              </a:rPr>
              <a:t>Grafico200Usuarios.png</a:t>
            </a:r>
            <a:r>
              <a:rPr b="0" i="0" lang="es-CL" sz="1600" u="none" cap="none" strike="noStrike">
                <a:solidFill>
                  <a:schemeClr val="lt1"/>
                </a:solidFill>
                <a:latin typeface="Arial"/>
                <a:ea typeface="Arial"/>
                <a:cs typeface="Arial"/>
                <a:sym typeface="Arial"/>
              </a:rPr>
              <a:t>), lo que demuestra una alta inestabilidad y una experiencia de usuario muy degradada.</a:t>
            </a:r>
            <a:endParaRPr b="0" i="0" sz="1600" u="none" cap="none" strike="noStrike">
              <a:solidFill>
                <a:schemeClr val="lt1"/>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1600"/>
              <a:buFont typeface="Arial"/>
              <a:buNone/>
            </a:pPr>
            <a:r>
              <a:t/>
            </a:r>
            <a:endParaRPr b="0" i="0" sz="1600" u="none" cap="none" strike="noStrike">
              <a:solidFill>
                <a:schemeClr val="lt1"/>
              </a:solidFill>
              <a:latin typeface="Arial"/>
              <a:ea typeface="Arial"/>
              <a:cs typeface="Arial"/>
              <a:sym typeface="Arial"/>
            </a:endParaRPr>
          </a:p>
        </p:txBody>
      </p:sp>
      <p:pic>
        <p:nvPicPr>
          <p:cNvPr id="519" name="Google Shape;519;g3a5555b7c7b_3_0"/>
          <p:cNvPicPr preferRelativeResize="0"/>
          <p:nvPr/>
        </p:nvPicPr>
        <p:blipFill rotWithShape="1">
          <a:blip r:embed="rId6">
            <a:alphaModFix/>
          </a:blip>
          <a:srcRect b="0" l="0" r="0" t="0"/>
          <a:stretch/>
        </p:blipFill>
        <p:spPr>
          <a:xfrm>
            <a:off x="14222200" y="8213338"/>
            <a:ext cx="2740602" cy="1690575"/>
          </a:xfrm>
          <a:prstGeom prst="rect">
            <a:avLst/>
          </a:prstGeom>
          <a:noFill/>
          <a:ln>
            <a:noFill/>
          </a:ln>
          <a:effectLst>
            <a:outerShdw blurRad="57150" rotWithShape="0" algn="bl" dir="5400000" dist="19050">
              <a:srgbClr val="000000">
                <a:alpha val="49803"/>
              </a:srgbClr>
            </a:outerShdw>
          </a:effectLst>
        </p:spPr>
      </p:pic>
      <p:sp>
        <p:nvSpPr>
          <p:cNvPr id="520" name="Google Shape;520;g3a5555b7c7b_3_0"/>
          <p:cNvSpPr txBox="1"/>
          <p:nvPr/>
        </p:nvSpPr>
        <p:spPr>
          <a:xfrm>
            <a:off x="14412536" y="2093300"/>
            <a:ext cx="4337700" cy="489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15000"/>
              </a:lnSpc>
              <a:spcBef>
                <a:spcPts val="1400"/>
              </a:spcBef>
              <a:spcAft>
                <a:spcPts val="0"/>
              </a:spcAft>
              <a:buClr>
                <a:schemeClr val="dk1"/>
              </a:buClr>
              <a:buSzPts val="1100"/>
              <a:buFont typeface="Arial"/>
              <a:buNone/>
            </a:pPr>
            <a:r>
              <a:rPr b="0" i="0" lang="es-CL" sz="1900" u="none" cap="none" strike="noStrike">
                <a:solidFill>
                  <a:schemeClr val="lt1"/>
                </a:solidFill>
                <a:latin typeface="Arial"/>
                <a:ea typeface="Arial"/>
                <a:cs typeface="Arial"/>
                <a:sym typeface="Arial"/>
              </a:rPr>
              <a:t>📉 Fase 3: Prueba de 200 Usuarios</a:t>
            </a:r>
            <a:endParaRPr b="0" i="0" sz="1900" u="none" cap="none" strike="noStrike">
              <a:solidFill>
                <a:schemeClr val="lt1"/>
              </a:solidFill>
              <a:latin typeface="Arial"/>
              <a:ea typeface="Arial"/>
              <a:cs typeface="Arial"/>
              <a:sym typeface="Arial"/>
            </a:endParaRPr>
          </a:p>
          <a:p>
            <a:pPr indent="0" lvl="0" marL="0" marR="0" rtl="0" algn="l">
              <a:lnSpc>
                <a:spcPct val="100000"/>
              </a:lnSpc>
              <a:spcBef>
                <a:spcPts val="400"/>
              </a:spcBef>
              <a:spcAft>
                <a:spcPts val="0"/>
              </a:spcAft>
              <a:buClr>
                <a:srgbClr val="000000"/>
              </a:buClr>
              <a:buSzPts val="2100"/>
              <a:buFont typeface="Arial"/>
              <a:buNone/>
            </a:pPr>
            <a:r>
              <a:t/>
            </a:r>
            <a:endParaRPr b="0" i="0" sz="2100" u="none" cap="none" strike="noStrike">
              <a:solidFill>
                <a:schemeClr val="lt1"/>
              </a:solidFill>
              <a:latin typeface="Calibri"/>
              <a:ea typeface="Calibri"/>
              <a:cs typeface="Calibri"/>
              <a:sym typeface="Calibri"/>
            </a:endParaRPr>
          </a:p>
        </p:txBody>
      </p:sp>
      <p:pic>
        <p:nvPicPr>
          <p:cNvPr id="521" name="Google Shape;521;g3a5555b7c7b_3_0">
            <a:hlinkClick r:id="rId7"/>
          </p:cNvPr>
          <p:cNvPicPr preferRelativeResize="0"/>
          <p:nvPr/>
        </p:nvPicPr>
        <p:blipFill rotWithShape="1">
          <a:blip r:embed="rId5">
            <a:alphaModFix/>
          </a:blip>
          <a:srcRect b="0" l="0" r="0" t="0"/>
          <a:stretch/>
        </p:blipFill>
        <p:spPr>
          <a:xfrm>
            <a:off x="18614993" y="6069600"/>
            <a:ext cx="871931" cy="947200"/>
          </a:xfrm>
          <a:prstGeom prst="rect">
            <a:avLst/>
          </a:prstGeom>
          <a:noFill/>
          <a:ln>
            <a:noFill/>
          </a:ln>
          <a:effectLst>
            <a:outerShdw blurRad="57150" rotWithShape="0" algn="bl" dir="5400000" dist="19050">
              <a:srgbClr val="000000">
                <a:alpha val="49803"/>
              </a:srgbClr>
            </a:outerShdw>
          </a:effectLst>
        </p:spPr>
      </p:pic>
      <p:pic>
        <p:nvPicPr>
          <p:cNvPr id="522" name="Google Shape;522;g3a5555b7c7b_3_0">
            <a:hlinkClick r:id="rId8"/>
          </p:cNvPr>
          <p:cNvPicPr preferRelativeResize="0"/>
          <p:nvPr/>
        </p:nvPicPr>
        <p:blipFill rotWithShape="1">
          <a:blip r:embed="rId5">
            <a:alphaModFix/>
          </a:blip>
          <a:srcRect b="0" l="0" r="0" t="0"/>
          <a:stretch/>
        </p:blipFill>
        <p:spPr>
          <a:xfrm>
            <a:off x="5585668" y="6223300"/>
            <a:ext cx="871931" cy="947200"/>
          </a:xfrm>
          <a:prstGeom prst="rect">
            <a:avLst/>
          </a:prstGeom>
          <a:noFill/>
          <a:ln>
            <a:noFill/>
          </a:ln>
          <a:effectLst>
            <a:outerShdw blurRad="57150" rotWithShape="0" algn="bl" dir="5400000" dist="19050">
              <a:srgbClr val="000000">
                <a:alpha val="49803"/>
              </a:srgbClr>
            </a:outerShdw>
          </a:effectLst>
        </p:spPr>
      </p:pic>
      <p:sp>
        <p:nvSpPr>
          <p:cNvPr id="523" name="Google Shape;523;g3a5555b7c7b_3_0"/>
          <p:cNvSpPr txBox="1"/>
          <p:nvPr/>
        </p:nvSpPr>
        <p:spPr>
          <a:xfrm>
            <a:off x="8399436" y="7865800"/>
            <a:ext cx="4337700" cy="489000"/>
          </a:xfrm>
          <a:prstGeom prst="rect">
            <a:avLst/>
          </a:prstGeom>
          <a:no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es-CL" sz="2100" u="none" cap="none" strike="noStrike">
                <a:solidFill>
                  <a:schemeClr val="lt1"/>
                </a:solidFill>
                <a:latin typeface="Calibri"/>
                <a:ea typeface="Calibri"/>
                <a:cs typeface="Calibri"/>
                <a:sym typeface="Calibri"/>
              </a:rPr>
              <a:t>🏁 Conclusión Final</a:t>
            </a:r>
            <a:endParaRPr b="0" i="0" sz="2100" u="none" cap="none" strike="noStrike">
              <a:solidFill>
                <a:schemeClr val="lt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992a4233df_1_4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08</a:t>
            </a:r>
            <a:endParaRPr b="0" i="0" sz="1400" u="none" cap="none" strike="noStrike">
              <a:solidFill>
                <a:srgbClr val="000000"/>
              </a:solidFill>
              <a:latin typeface="Arial"/>
              <a:ea typeface="Arial"/>
              <a:cs typeface="Arial"/>
              <a:sym typeface="Arial"/>
            </a:endParaRPr>
          </a:p>
        </p:txBody>
      </p:sp>
      <p:sp>
        <p:nvSpPr>
          <p:cNvPr id="529" name="Google Shape;529;g3992a4233df_1_40"/>
          <p:cNvSpPr txBox="1"/>
          <p:nvPr>
            <p:ph type="title"/>
          </p:nvPr>
        </p:nvSpPr>
        <p:spPr>
          <a:xfrm>
            <a:off x="7549150" y="7250550"/>
            <a:ext cx="9020100" cy="50337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rgbClr val="FFFFFF"/>
                </a:solidFill>
              </a:rPr>
              <a:t>RACI</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pic>
        <p:nvPicPr>
          <p:cNvPr descr="image.png" id="535" name="Google Shape;535;g3992a4233df_1_35"/>
          <p:cNvPicPr preferRelativeResize="0"/>
          <p:nvPr/>
        </p:nvPicPr>
        <p:blipFill rotWithShape="1">
          <a:blip r:embed="rId4">
            <a:alphaModFix/>
          </a:blip>
          <a:srcRect b="0" l="0" r="0" t="0"/>
          <a:stretch/>
        </p:blipFill>
        <p:spPr>
          <a:xfrm>
            <a:off x="354775" y="310550"/>
            <a:ext cx="15141525" cy="2995100"/>
          </a:xfrm>
          <a:prstGeom prst="rect">
            <a:avLst/>
          </a:prstGeom>
          <a:noFill/>
          <a:ln>
            <a:noFill/>
          </a:ln>
        </p:spPr>
      </p:pic>
      <p:sp>
        <p:nvSpPr>
          <p:cNvPr id="536" name="Google Shape;536;g3992a4233df_1_35"/>
          <p:cNvSpPr txBox="1"/>
          <p:nvPr>
            <p:ph idx="1" type="body"/>
          </p:nvPr>
        </p:nvSpPr>
        <p:spPr>
          <a:xfrm>
            <a:off x="817900" y="659850"/>
            <a:ext cx="13494300" cy="3305400"/>
          </a:xfrm>
          <a:prstGeom prst="rect">
            <a:avLst/>
          </a:prstGeom>
          <a:noFill/>
          <a:ln>
            <a:noFill/>
          </a:ln>
        </p:spPr>
        <p:txBody>
          <a:bodyPr anchorCtr="0" anchor="t" bIns="0" lIns="0" spcFirstLastPara="1" rIns="0" wrap="square" tIns="0">
            <a:spAutoFit/>
          </a:bodyPr>
          <a:lstStyle/>
          <a:p>
            <a:pPr indent="-412750" lvl="0" marL="457200" rtl="0" algn="l">
              <a:lnSpc>
                <a:spcPct val="115000"/>
              </a:lnSpc>
              <a:spcBef>
                <a:spcPts val="0"/>
              </a:spcBef>
              <a:spcAft>
                <a:spcPts val="0"/>
              </a:spcAft>
              <a:buClr>
                <a:schemeClr val="lt1"/>
              </a:buClr>
              <a:buSzPts val="2900"/>
              <a:buFont typeface="Arial"/>
              <a:buChar char="●"/>
            </a:pPr>
            <a:r>
              <a:rPr b="0" lang="es-CL" sz="2900">
                <a:solidFill>
                  <a:schemeClr val="lt1"/>
                </a:solidFill>
              </a:rPr>
              <a:t>Matriz RACI: PO aprueba, SM coordina, DBA asegura integridad, los devs implementan, QA testea.</a:t>
            </a:r>
            <a:endParaRPr b="0" sz="2900">
              <a:solidFill>
                <a:schemeClr val="lt1"/>
              </a:solidFill>
            </a:endParaRPr>
          </a:p>
          <a:p>
            <a:pPr indent="0" lvl="0" marL="457200" rtl="0" algn="l">
              <a:lnSpc>
                <a:spcPct val="115000"/>
              </a:lnSpc>
              <a:spcBef>
                <a:spcPts val="0"/>
              </a:spcBef>
              <a:spcAft>
                <a:spcPts val="0"/>
              </a:spcAft>
              <a:buSzPts val="1400"/>
              <a:buNone/>
            </a:pPr>
            <a:r>
              <a:t/>
            </a:r>
            <a:endParaRPr b="0" sz="2900">
              <a:solidFill>
                <a:schemeClr val="lt1"/>
              </a:solidFill>
            </a:endParaRPr>
          </a:p>
          <a:p>
            <a:pPr indent="-412750" lvl="0" marL="457200" rtl="0" algn="l">
              <a:lnSpc>
                <a:spcPct val="115000"/>
              </a:lnSpc>
              <a:spcBef>
                <a:spcPts val="0"/>
              </a:spcBef>
              <a:spcAft>
                <a:spcPts val="0"/>
              </a:spcAft>
              <a:buClr>
                <a:schemeClr val="lt1"/>
              </a:buClr>
              <a:buSzPts val="2900"/>
              <a:buFont typeface="Arial"/>
              <a:buChar char="●"/>
            </a:pPr>
            <a:r>
              <a:rPr b="0" lang="es-CL" sz="2900">
                <a:solidFill>
                  <a:schemeClr val="lt1"/>
                </a:solidFill>
              </a:rPr>
              <a:t>Product backlog: Listado inicial de historias y tareas priorizadas conforme necesidades editoriales, técnicas y legales.</a:t>
            </a:r>
            <a:endParaRPr b="0" sz="2900">
              <a:solidFill>
                <a:schemeClr val="lt1"/>
              </a:solidFill>
            </a:endParaRPr>
          </a:p>
          <a:p>
            <a:pPr indent="0" lvl="0" marL="0" rtl="0" algn="r">
              <a:lnSpc>
                <a:spcPct val="100000"/>
              </a:lnSpc>
              <a:spcBef>
                <a:spcPts val="0"/>
              </a:spcBef>
              <a:spcAft>
                <a:spcPts val="0"/>
              </a:spcAft>
              <a:buSzPts val="1400"/>
              <a:buNone/>
            </a:pPr>
            <a:r>
              <a:t/>
            </a:r>
            <a:endParaRPr/>
          </a:p>
        </p:txBody>
      </p:sp>
      <p:pic>
        <p:nvPicPr>
          <p:cNvPr id="537" name="Google Shape;537;g3992a4233df_1_35"/>
          <p:cNvPicPr preferRelativeResize="0"/>
          <p:nvPr/>
        </p:nvPicPr>
        <p:blipFill rotWithShape="1">
          <a:blip r:embed="rId5">
            <a:alphaModFix/>
          </a:blip>
          <a:srcRect b="0" l="0" r="0" t="0"/>
          <a:stretch/>
        </p:blipFill>
        <p:spPr>
          <a:xfrm>
            <a:off x="1170950" y="3532150"/>
            <a:ext cx="7687649" cy="6556575"/>
          </a:xfrm>
          <a:prstGeom prst="rect">
            <a:avLst/>
          </a:prstGeom>
          <a:noFill/>
          <a:ln>
            <a:noFill/>
          </a:ln>
        </p:spPr>
      </p:pic>
      <p:pic>
        <p:nvPicPr>
          <p:cNvPr id="538" name="Google Shape;538;g3992a4233df_1_35"/>
          <p:cNvPicPr preferRelativeResize="0"/>
          <p:nvPr/>
        </p:nvPicPr>
        <p:blipFill rotWithShape="1">
          <a:blip r:embed="rId6">
            <a:alphaModFix/>
          </a:blip>
          <a:srcRect b="0" l="0" r="0" t="0"/>
          <a:stretch/>
        </p:blipFill>
        <p:spPr>
          <a:xfrm>
            <a:off x="9011200" y="3637525"/>
            <a:ext cx="10940701" cy="29951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g3992a4233df_1_47"/>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09</a:t>
            </a:r>
            <a:endParaRPr b="0" i="0" sz="1400" u="none" cap="none" strike="noStrike">
              <a:solidFill>
                <a:srgbClr val="000000"/>
              </a:solidFill>
              <a:latin typeface="Arial"/>
              <a:ea typeface="Arial"/>
              <a:cs typeface="Arial"/>
              <a:sym typeface="Arial"/>
            </a:endParaRPr>
          </a:p>
        </p:txBody>
      </p:sp>
      <p:sp>
        <p:nvSpPr>
          <p:cNvPr id="544" name="Google Shape;544;g3992a4233df_1_47"/>
          <p:cNvSpPr txBox="1"/>
          <p:nvPr>
            <p:ph type="title"/>
          </p:nvPr>
        </p:nvSpPr>
        <p:spPr>
          <a:xfrm>
            <a:off x="7549150" y="7250550"/>
            <a:ext cx="9020100" cy="7601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Evidencias y Resultados</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g3a2ea1eac06_2_13"/>
          <p:cNvSpPr txBox="1"/>
          <p:nvPr>
            <p:ph idx="1" type="body"/>
          </p:nvPr>
        </p:nvSpPr>
        <p:spPr>
          <a:xfrm>
            <a:off x="727227" y="755454"/>
            <a:ext cx="16792500" cy="14778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ANTES</a:t>
            </a:r>
            <a:endParaRPr/>
          </a:p>
          <a:p>
            <a:pPr indent="0" lvl="0" marL="0" rtl="0" algn="r">
              <a:lnSpc>
                <a:spcPct val="100000"/>
              </a:lnSpc>
              <a:spcBef>
                <a:spcPts val="0"/>
              </a:spcBef>
              <a:spcAft>
                <a:spcPts val="0"/>
              </a:spcAft>
              <a:buSzPts val="1400"/>
              <a:buNone/>
            </a:pPr>
            <a:r>
              <a:t/>
            </a:r>
            <a:endParaRPr/>
          </a:p>
        </p:txBody>
      </p:sp>
      <p:pic>
        <p:nvPicPr>
          <p:cNvPr descr="image.png" id="551" name="Google Shape;551;g3a2ea1eac06_2_13"/>
          <p:cNvPicPr preferRelativeResize="0"/>
          <p:nvPr/>
        </p:nvPicPr>
        <p:blipFill rotWithShape="1">
          <a:blip r:embed="rId3">
            <a:alphaModFix/>
          </a:blip>
          <a:srcRect b="0" l="0" r="0" t="0"/>
          <a:stretch/>
        </p:blipFill>
        <p:spPr>
          <a:xfrm>
            <a:off x="870100" y="2126150"/>
            <a:ext cx="7848750" cy="7544175"/>
          </a:xfrm>
          <a:prstGeom prst="rect">
            <a:avLst/>
          </a:prstGeom>
          <a:noFill/>
          <a:ln>
            <a:noFill/>
          </a:ln>
        </p:spPr>
      </p:pic>
      <p:pic>
        <p:nvPicPr>
          <p:cNvPr descr="image.png" id="552" name="Google Shape;552;g3a2ea1eac06_2_13"/>
          <p:cNvPicPr preferRelativeResize="0"/>
          <p:nvPr/>
        </p:nvPicPr>
        <p:blipFill rotWithShape="1">
          <a:blip r:embed="rId3">
            <a:alphaModFix/>
          </a:blip>
          <a:srcRect b="0" l="0" r="0" t="0"/>
          <a:stretch/>
        </p:blipFill>
        <p:spPr>
          <a:xfrm>
            <a:off x="11340426" y="2126150"/>
            <a:ext cx="7238398" cy="7544175"/>
          </a:xfrm>
          <a:prstGeom prst="rect">
            <a:avLst/>
          </a:prstGeom>
          <a:noFill/>
          <a:ln>
            <a:noFill/>
          </a:ln>
        </p:spPr>
      </p:pic>
      <p:pic>
        <p:nvPicPr>
          <p:cNvPr id="553" name="Google Shape;553;g3a2ea1eac06_2_13"/>
          <p:cNvPicPr preferRelativeResize="0"/>
          <p:nvPr/>
        </p:nvPicPr>
        <p:blipFill rotWithShape="1">
          <a:blip r:embed="rId4">
            <a:alphaModFix/>
          </a:blip>
          <a:srcRect b="0" l="0" r="0" t="0"/>
          <a:stretch/>
        </p:blipFill>
        <p:spPr>
          <a:xfrm>
            <a:off x="12006400" y="3416654"/>
            <a:ext cx="2770800" cy="6053671"/>
          </a:xfrm>
          <a:prstGeom prst="rect">
            <a:avLst/>
          </a:prstGeom>
          <a:noFill/>
          <a:ln>
            <a:noFill/>
          </a:ln>
        </p:spPr>
      </p:pic>
      <p:pic>
        <p:nvPicPr>
          <p:cNvPr id="554" name="Google Shape;554;g3a2ea1eac06_2_13"/>
          <p:cNvPicPr preferRelativeResize="0"/>
          <p:nvPr/>
        </p:nvPicPr>
        <p:blipFill rotWithShape="1">
          <a:blip r:embed="rId5">
            <a:alphaModFix/>
          </a:blip>
          <a:srcRect b="0" l="0" r="0" t="0"/>
          <a:stretch/>
        </p:blipFill>
        <p:spPr>
          <a:xfrm>
            <a:off x="15436000" y="3416650"/>
            <a:ext cx="2905600" cy="6053674"/>
          </a:xfrm>
          <a:prstGeom prst="rect">
            <a:avLst/>
          </a:prstGeom>
          <a:noFill/>
          <a:ln>
            <a:noFill/>
          </a:ln>
        </p:spPr>
      </p:pic>
      <p:pic>
        <p:nvPicPr>
          <p:cNvPr id="555" name="Google Shape;555;g3a2ea1eac06_2_13"/>
          <p:cNvPicPr preferRelativeResize="0"/>
          <p:nvPr/>
        </p:nvPicPr>
        <p:blipFill rotWithShape="1">
          <a:blip r:embed="rId6">
            <a:alphaModFix/>
          </a:blip>
          <a:srcRect b="0" l="0" r="0" t="0"/>
          <a:stretch/>
        </p:blipFill>
        <p:spPr>
          <a:xfrm>
            <a:off x="1691275" y="3408450"/>
            <a:ext cx="6027302" cy="2883399"/>
          </a:xfrm>
          <a:prstGeom prst="rect">
            <a:avLst/>
          </a:prstGeom>
          <a:noFill/>
          <a:ln>
            <a:noFill/>
          </a:ln>
        </p:spPr>
      </p:pic>
      <p:pic>
        <p:nvPicPr>
          <p:cNvPr id="556" name="Google Shape;556;g3a2ea1eac06_2_13"/>
          <p:cNvPicPr preferRelativeResize="0"/>
          <p:nvPr/>
        </p:nvPicPr>
        <p:blipFill rotWithShape="1">
          <a:blip r:embed="rId7">
            <a:alphaModFix/>
          </a:blip>
          <a:srcRect b="0" l="0" r="0" t="0"/>
          <a:stretch/>
        </p:blipFill>
        <p:spPr>
          <a:xfrm>
            <a:off x="1691275" y="6512525"/>
            <a:ext cx="5921799" cy="2957793"/>
          </a:xfrm>
          <a:prstGeom prst="rect">
            <a:avLst/>
          </a:prstGeom>
          <a:noFill/>
          <a:ln>
            <a:noFill/>
          </a:ln>
        </p:spPr>
      </p:pic>
      <p:sp>
        <p:nvSpPr>
          <p:cNvPr id="557" name="Google Shape;557;g3a2ea1eac06_2_13"/>
          <p:cNvSpPr txBox="1"/>
          <p:nvPr/>
        </p:nvSpPr>
        <p:spPr>
          <a:xfrm>
            <a:off x="1226950" y="2233250"/>
            <a:ext cx="7491900" cy="15876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chemeClr val="lt1"/>
              </a:buClr>
              <a:buSzPts val="2600"/>
              <a:buFont typeface="Arial"/>
              <a:buChar char="●"/>
            </a:pPr>
            <a:r>
              <a:rPr b="0" i="0" lang="es-CL" sz="2600" u="none" cap="none" strike="noStrike">
                <a:solidFill>
                  <a:schemeClr val="lt1"/>
                </a:solidFill>
                <a:latin typeface="Arial"/>
                <a:ea typeface="Arial"/>
                <a:cs typeface="Arial"/>
                <a:sym typeface="Arial"/>
              </a:rPr>
              <a:t>Página inicial versión escritorio </a:t>
            </a:r>
            <a:endParaRPr b="0" i="0" sz="2600" u="none" cap="none" strike="noStrike">
              <a:solidFill>
                <a:schemeClr val="lt1"/>
              </a:solidFill>
              <a:latin typeface="Arial"/>
              <a:ea typeface="Arial"/>
              <a:cs typeface="Arial"/>
              <a:sym typeface="Arial"/>
            </a:endParaRPr>
          </a:p>
          <a:p>
            <a:pPr indent="-393700" lvl="0" marL="457200" marR="0" rtl="0" algn="l">
              <a:lnSpc>
                <a:spcPct val="115000"/>
              </a:lnSpc>
              <a:spcBef>
                <a:spcPts val="0"/>
              </a:spcBef>
              <a:spcAft>
                <a:spcPts val="0"/>
              </a:spcAft>
              <a:buClr>
                <a:schemeClr val="lt1"/>
              </a:buClr>
              <a:buSzPts val="2600"/>
              <a:buFont typeface="Arial"/>
              <a:buChar char="●"/>
            </a:pPr>
            <a:r>
              <a:rPr b="0" i="0" lang="es-CL" sz="2600" u="none" cap="none" strike="noStrike">
                <a:solidFill>
                  <a:schemeClr val="lt1"/>
                </a:solidFill>
                <a:latin typeface="Arial"/>
                <a:ea typeface="Arial"/>
                <a:cs typeface="Arial"/>
                <a:sym typeface="Arial"/>
              </a:rPr>
              <a:t>Contacto con Tropezón</a:t>
            </a:r>
            <a:endParaRPr b="0" i="0" sz="2600" u="none" cap="none" strike="noStrike">
              <a:solidFill>
                <a:schemeClr val="lt1"/>
              </a:solidFill>
              <a:latin typeface="Arial"/>
              <a:ea typeface="Arial"/>
              <a:cs typeface="Arial"/>
              <a:sym typeface="Arial"/>
            </a:endParaRPr>
          </a:p>
        </p:txBody>
      </p:sp>
      <p:sp>
        <p:nvSpPr>
          <p:cNvPr id="558" name="Google Shape;558;g3a2ea1eac06_2_13"/>
          <p:cNvSpPr txBox="1"/>
          <p:nvPr/>
        </p:nvSpPr>
        <p:spPr>
          <a:xfrm>
            <a:off x="11584600" y="2126150"/>
            <a:ext cx="7491900" cy="15876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15000"/>
              </a:lnSpc>
              <a:spcBef>
                <a:spcPts val="0"/>
              </a:spcBef>
              <a:spcAft>
                <a:spcPts val="0"/>
              </a:spcAft>
              <a:buClr>
                <a:schemeClr val="lt1"/>
              </a:buClr>
              <a:buSzPts val="2600"/>
              <a:buFont typeface="Arial"/>
              <a:buChar char="●"/>
            </a:pPr>
            <a:r>
              <a:rPr b="0" i="0" lang="es-CL" sz="2600" u="none" cap="none" strike="noStrike">
                <a:solidFill>
                  <a:schemeClr val="lt1"/>
                </a:solidFill>
                <a:latin typeface="Arial"/>
                <a:ea typeface="Arial"/>
                <a:cs typeface="Arial"/>
                <a:sym typeface="Arial"/>
              </a:rPr>
              <a:t>Página inicial versión Móvil</a:t>
            </a:r>
            <a:endParaRPr b="0" i="0" sz="2600" u="none" cap="none" strike="noStrike">
              <a:solidFill>
                <a:schemeClr val="lt1"/>
              </a:solidFill>
              <a:latin typeface="Arial"/>
              <a:ea typeface="Arial"/>
              <a:cs typeface="Arial"/>
              <a:sym typeface="Arial"/>
            </a:endParaRPr>
          </a:p>
          <a:p>
            <a:pPr indent="-393700" lvl="0" marL="457200" marR="0" rtl="0" algn="l">
              <a:lnSpc>
                <a:spcPct val="115000"/>
              </a:lnSpc>
              <a:spcBef>
                <a:spcPts val="0"/>
              </a:spcBef>
              <a:spcAft>
                <a:spcPts val="0"/>
              </a:spcAft>
              <a:buClr>
                <a:schemeClr val="lt1"/>
              </a:buClr>
              <a:buSzPts val="2600"/>
              <a:buFont typeface="Arial"/>
              <a:buChar char="●"/>
            </a:pPr>
            <a:r>
              <a:rPr b="0" i="0" lang="es-CL" sz="2600" u="none" cap="none" strike="noStrike">
                <a:solidFill>
                  <a:schemeClr val="lt1"/>
                </a:solidFill>
                <a:latin typeface="Arial"/>
                <a:ea typeface="Arial"/>
                <a:cs typeface="Arial"/>
                <a:sym typeface="Arial"/>
              </a:rPr>
              <a:t>Vista Noticia a detalle</a:t>
            </a:r>
            <a:endParaRPr b="0" i="0" sz="2600" u="none" cap="none" strike="noStrike">
              <a:solidFill>
                <a:schemeClr val="lt1"/>
              </a:solidFill>
              <a:latin typeface="Arial"/>
              <a:ea typeface="Arial"/>
              <a:cs typeface="Arial"/>
              <a:sym typeface="Arial"/>
            </a:endParaRPr>
          </a:p>
          <a:p>
            <a:pPr indent="0" lvl="0" marL="457200" marR="0" rtl="0" algn="l">
              <a:lnSpc>
                <a:spcPct val="115000"/>
              </a:lnSpc>
              <a:spcBef>
                <a:spcPts val="0"/>
              </a:spcBef>
              <a:spcAft>
                <a:spcPts val="0"/>
              </a:spcAft>
              <a:buClr>
                <a:srgbClr val="000000"/>
              </a:buClr>
              <a:buSzPts val="2600"/>
              <a:buFont typeface="Arial"/>
              <a:buNone/>
            </a:pPr>
            <a:r>
              <a:t/>
            </a:r>
            <a:endParaRPr b="0" i="0" sz="2600" u="none" cap="none" strike="noStrike">
              <a:solidFill>
                <a:schemeClr val="lt1"/>
              </a:solidFill>
              <a:latin typeface="Arial"/>
              <a:ea typeface="Arial"/>
              <a:cs typeface="Arial"/>
              <a:sym typeface="Arial"/>
            </a:endParaRPr>
          </a:p>
        </p:txBody>
      </p:sp>
      <p:cxnSp>
        <p:nvCxnSpPr>
          <p:cNvPr id="559" name="Google Shape;559;g3a2ea1eac06_2_13"/>
          <p:cNvCxnSpPr/>
          <p:nvPr/>
        </p:nvCxnSpPr>
        <p:spPr>
          <a:xfrm>
            <a:off x="7839500" y="1515500"/>
            <a:ext cx="2486700" cy="15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pic>
        <p:nvPicPr>
          <p:cNvPr descr="image.png" id="565" name="Google Shape;565;g3992a4233df_1_52"/>
          <p:cNvPicPr preferRelativeResize="0"/>
          <p:nvPr/>
        </p:nvPicPr>
        <p:blipFill rotWithShape="1">
          <a:blip r:embed="rId3">
            <a:alphaModFix/>
          </a:blip>
          <a:srcRect b="0" l="0" r="0" t="0"/>
          <a:stretch/>
        </p:blipFill>
        <p:spPr>
          <a:xfrm>
            <a:off x="267125" y="415925"/>
            <a:ext cx="9594925" cy="9550450"/>
          </a:xfrm>
          <a:prstGeom prst="rect">
            <a:avLst/>
          </a:prstGeom>
          <a:noFill/>
          <a:ln>
            <a:noFill/>
          </a:ln>
        </p:spPr>
      </p:pic>
      <p:pic>
        <p:nvPicPr>
          <p:cNvPr descr="image.png" id="566" name="Google Shape;566;g3992a4233df_1_52"/>
          <p:cNvPicPr preferRelativeResize="0"/>
          <p:nvPr/>
        </p:nvPicPr>
        <p:blipFill rotWithShape="1">
          <a:blip r:embed="rId3">
            <a:alphaModFix/>
          </a:blip>
          <a:srcRect b="0" l="0" r="0" t="0"/>
          <a:stretch/>
        </p:blipFill>
        <p:spPr>
          <a:xfrm>
            <a:off x="10188675" y="415925"/>
            <a:ext cx="8856025" cy="9550450"/>
          </a:xfrm>
          <a:prstGeom prst="rect">
            <a:avLst/>
          </a:prstGeom>
          <a:noFill/>
          <a:ln>
            <a:noFill/>
          </a:ln>
        </p:spPr>
      </p:pic>
      <p:sp>
        <p:nvSpPr>
          <p:cNvPr id="567" name="Google Shape;567;g3992a4233df_1_52"/>
          <p:cNvSpPr txBox="1"/>
          <p:nvPr>
            <p:ph idx="1" type="body"/>
          </p:nvPr>
        </p:nvSpPr>
        <p:spPr>
          <a:xfrm>
            <a:off x="267125" y="415925"/>
            <a:ext cx="9735300" cy="35064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SzPts val="1400"/>
              <a:buNone/>
            </a:pPr>
            <a:r>
              <a:t/>
            </a:r>
            <a:endParaRPr b="0" sz="2600">
              <a:solidFill>
                <a:schemeClr val="dk1"/>
              </a:solidFill>
            </a:endParaRPr>
          </a:p>
          <a:p>
            <a:pPr indent="0" lvl="0" marL="457200" rtl="0" algn="l">
              <a:lnSpc>
                <a:spcPct val="115000"/>
              </a:lnSpc>
              <a:spcBef>
                <a:spcPts val="600"/>
              </a:spcBef>
              <a:spcAft>
                <a:spcPts val="0"/>
              </a:spcAft>
              <a:buSzPts val="1400"/>
              <a:buNone/>
            </a:pPr>
            <a:r>
              <a:rPr b="0" lang="es-CL" sz="2600">
                <a:solidFill>
                  <a:schemeClr val="lt1"/>
                </a:solidFill>
              </a:rPr>
              <a:t>Panel editorial operativo: Uso real por editores con reducción de tiempos.</a:t>
            </a:r>
            <a:endParaRPr b="0" sz="2600">
              <a:solidFill>
                <a:schemeClr val="lt1"/>
              </a:solidFill>
            </a:endParaRPr>
          </a:p>
          <a:p>
            <a:pPr indent="0" lvl="0" marL="457200" rtl="0" algn="l">
              <a:lnSpc>
                <a:spcPct val="115000"/>
              </a:lnSpc>
              <a:spcBef>
                <a:spcPts val="0"/>
              </a:spcBef>
              <a:spcAft>
                <a:spcPts val="0"/>
              </a:spcAft>
              <a:buSzPts val="1400"/>
              <a:buNone/>
            </a:pPr>
            <a:r>
              <a:rPr b="0" lang="es-CL" sz="2600">
                <a:solidFill>
                  <a:schemeClr val="lt1"/>
                </a:solidFill>
              </a:rPr>
              <a:t> </a:t>
            </a:r>
            <a:r>
              <a:rPr b="0" lang="es-CL" sz="2600" u="sng">
                <a:solidFill>
                  <a:schemeClr val="lt1"/>
                </a:solidFill>
                <a:hlinkClick r:id="rId4">
                  <a:extLst>
                    <a:ext uri="{A12FA001-AC4F-418D-AE19-62706E023703}">
                      <ahyp:hlinkClr val="tx"/>
                    </a:ext>
                  </a:extLst>
                </a:hlinkClick>
              </a:rPr>
              <a:t>https://form.tropezon.space</a:t>
            </a:r>
            <a:endParaRPr b="0" sz="2600">
              <a:solidFill>
                <a:schemeClr val="lt1"/>
              </a:solidFill>
            </a:endParaRPr>
          </a:p>
          <a:p>
            <a:pPr indent="0" lvl="0" marL="0" rtl="0" algn="l">
              <a:lnSpc>
                <a:spcPct val="115000"/>
              </a:lnSpc>
              <a:spcBef>
                <a:spcPts val="0"/>
              </a:spcBef>
              <a:spcAft>
                <a:spcPts val="0"/>
              </a:spcAft>
              <a:buSzPts val="1400"/>
              <a:buNone/>
            </a:pPr>
            <a:r>
              <a:t/>
            </a:r>
            <a:endParaRPr b="0" sz="2600">
              <a:solidFill>
                <a:schemeClr val="lt1"/>
              </a:solidFill>
            </a:endParaRPr>
          </a:p>
          <a:p>
            <a:pPr indent="0" lvl="0" marL="0" rtl="0" algn="l">
              <a:lnSpc>
                <a:spcPct val="115000"/>
              </a:lnSpc>
              <a:spcBef>
                <a:spcPts val="0"/>
              </a:spcBef>
              <a:spcAft>
                <a:spcPts val="0"/>
              </a:spcAft>
              <a:buSzPts val="1400"/>
              <a:buNone/>
            </a:pPr>
            <a:r>
              <a:t/>
            </a:r>
            <a:endParaRPr b="0" sz="2200">
              <a:solidFill>
                <a:schemeClr val="dk1"/>
              </a:solidFill>
            </a:endParaRPr>
          </a:p>
          <a:p>
            <a:pPr indent="0" lvl="0" marL="0" rtl="0" algn="r">
              <a:lnSpc>
                <a:spcPct val="100000"/>
              </a:lnSpc>
              <a:spcBef>
                <a:spcPts val="0"/>
              </a:spcBef>
              <a:spcAft>
                <a:spcPts val="0"/>
              </a:spcAft>
              <a:buSzPts val="1400"/>
              <a:buNone/>
            </a:pPr>
            <a:r>
              <a:t/>
            </a:r>
            <a:endParaRPr/>
          </a:p>
        </p:txBody>
      </p:sp>
      <p:pic>
        <p:nvPicPr>
          <p:cNvPr id="568" name="Google Shape;568;g3992a4233df_1_52"/>
          <p:cNvPicPr preferRelativeResize="0"/>
          <p:nvPr/>
        </p:nvPicPr>
        <p:blipFill rotWithShape="1">
          <a:blip r:embed="rId5">
            <a:alphaModFix/>
          </a:blip>
          <a:srcRect b="0" l="0" r="0" t="0"/>
          <a:stretch/>
        </p:blipFill>
        <p:spPr>
          <a:xfrm>
            <a:off x="5354138" y="1468188"/>
            <a:ext cx="4246464" cy="3103800"/>
          </a:xfrm>
          <a:prstGeom prst="rect">
            <a:avLst/>
          </a:prstGeom>
          <a:noFill/>
          <a:ln>
            <a:noFill/>
          </a:ln>
        </p:spPr>
      </p:pic>
      <p:sp>
        <p:nvSpPr>
          <p:cNvPr id="569" name="Google Shape;569;g3992a4233df_1_52"/>
          <p:cNvSpPr txBox="1"/>
          <p:nvPr/>
        </p:nvSpPr>
        <p:spPr>
          <a:xfrm>
            <a:off x="179075" y="2555375"/>
            <a:ext cx="4587000" cy="11220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Clr>
                <a:srgbClr val="000000"/>
              </a:buClr>
              <a:buSzPts val="2600"/>
              <a:buFont typeface="Arial"/>
              <a:buNone/>
            </a:pPr>
            <a:r>
              <a:rPr b="0" i="0" lang="es-CL" sz="2600" u="none" cap="none" strike="noStrike">
                <a:solidFill>
                  <a:schemeClr val="lt1"/>
                </a:solidFill>
                <a:latin typeface="Arial"/>
                <a:ea typeface="Arial"/>
                <a:cs typeface="Arial"/>
                <a:sym typeface="Arial"/>
              </a:rPr>
              <a:t>Portal en producción: </a:t>
            </a:r>
            <a:endParaRPr b="0" i="0" sz="2600" u="none" cap="none" strike="noStrike">
              <a:solidFill>
                <a:schemeClr val="lt1"/>
              </a:solidFill>
              <a:latin typeface="Arial"/>
              <a:ea typeface="Arial"/>
              <a:cs typeface="Arial"/>
              <a:sym typeface="Arial"/>
            </a:endParaRPr>
          </a:p>
          <a:p>
            <a:pPr indent="0" lvl="0" marL="457200" marR="0" rtl="0" algn="l">
              <a:lnSpc>
                <a:spcPct val="115000"/>
              </a:lnSpc>
              <a:spcBef>
                <a:spcPts val="600"/>
              </a:spcBef>
              <a:spcAft>
                <a:spcPts val="600"/>
              </a:spcAft>
              <a:buClr>
                <a:srgbClr val="000000"/>
              </a:buClr>
              <a:buSzPts val="2600"/>
              <a:buFont typeface="Arial"/>
              <a:buNone/>
            </a:pPr>
            <a:r>
              <a:rPr b="0" i="0" lang="es-CL" sz="2600" u="sng" cap="none" strike="noStrike">
                <a:solidFill>
                  <a:schemeClr val="lt1"/>
                </a:solidFill>
                <a:latin typeface="Arial"/>
                <a:ea typeface="Arial"/>
                <a:cs typeface="Arial"/>
                <a:sym typeface="Arial"/>
                <a:hlinkClick r:id="rId6">
                  <a:extLst>
                    <a:ext uri="{A12FA001-AC4F-418D-AE19-62706E023703}">
                      <ahyp:hlinkClr val="tx"/>
                    </a:ext>
                  </a:extLst>
                </a:hlinkClick>
              </a:rPr>
              <a:t>Tropezón News</a:t>
            </a:r>
            <a:endParaRPr b="0" i="0" sz="1400" u="none" cap="none" strike="noStrike">
              <a:solidFill>
                <a:schemeClr val="lt1"/>
              </a:solidFill>
              <a:latin typeface="Arial"/>
              <a:ea typeface="Arial"/>
              <a:cs typeface="Arial"/>
              <a:sym typeface="Arial"/>
            </a:endParaRPr>
          </a:p>
        </p:txBody>
      </p:sp>
      <p:pic>
        <p:nvPicPr>
          <p:cNvPr id="570" name="Google Shape;570;g3992a4233df_1_52"/>
          <p:cNvPicPr preferRelativeResize="0"/>
          <p:nvPr/>
        </p:nvPicPr>
        <p:blipFill rotWithShape="1">
          <a:blip r:embed="rId7">
            <a:alphaModFix/>
          </a:blip>
          <a:srcRect b="0" l="0" r="0" t="0"/>
          <a:stretch/>
        </p:blipFill>
        <p:spPr>
          <a:xfrm>
            <a:off x="628725" y="4739425"/>
            <a:ext cx="3905274" cy="4887000"/>
          </a:xfrm>
          <a:prstGeom prst="rect">
            <a:avLst/>
          </a:prstGeom>
          <a:noFill/>
          <a:ln>
            <a:noFill/>
          </a:ln>
        </p:spPr>
      </p:pic>
      <p:pic>
        <p:nvPicPr>
          <p:cNvPr id="571" name="Google Shape;571;g3992a4233df_1_52"/>
          <p:cNvPicPr preferRelativeResize="0"/>
          <p:nvPr/>
        </p:nvPicPr>
        <p:blipFill rotWithShape="1">
          <a:blip r:embed="rId8">
            <a:alphaModFix/>
          </a:blip>
          <a:srcRect b="0" l="0" r="0" t="0"/>
          <a:stretch/>
        </p:blipFill>
        <p:spPr>
          <a:xfrm>
            <a:off x="5924023" y="4739421"/>
            <a:ext cx="3676577" cy="4887000"/>
          </a:xfrm>
          <a:prstGeom prst="rect">
            <a:avLst/>
          </a:prstGeom>
          <a:noFill/>
          <a:ln>
            <a:noFill/>
          </a:ln>
        </p:spPr>
      </p:pic>
      <p:pic>
        <p:nvPicPr>
          <p:cNvPr id="572" name="Google Shape;572;g3992a4233df_1_52"/>
          <p:cNvPicPr preferRelativeResize="0"/>
          <p:nvPr/>
        </p:nvPicPr>
        <p:blipFill rotWithShape="1">
          <a:blip r:embed="rId9">
            <a:alphaModFix/>
          </a:blip>
          <a:srcRect b="0" l="0" r="0" t="0"/>
          <a:stretch/>
        </p:blipFill>
        <p:spPr>
          <a:xfrm>
            <a:off x="10491900" y="1393588"/>
            <a:ext cx="3786825" cy="7595125"/>
          </a:xfrm>
          <a:prstGeom prst="rect">
            <a:avLst/>
          </a:prstGeom>
          <a:noFill/>
          <a:ln>
            <a:noFill/>
          </a:ln>
        </p:spPr>
      </p:pic>
      <p:pic>
        <p:nvPicPr>
          <p:cNvPr id="573" name="Google Shape;573;g3992a4233df_1_52"/>
          <p:cNvPicPr preferRelativeResize="0"/>
          <p:nvPr/>
        </p:nvPicPr>
        <p:blipFill rotWithShape="1">
          <a:blip r:embed="rId10">
            <a:alphaModFix/>
          </a:blip>
          <a:srcRect b="0" l="0" r="0" t="0"/>
          <a:stretch/>
        </p:blipFill>
        <p:spPr>
          <a:xfrm>
            <a:off x="14768207" y="1468200"/>
            <a:ext cx="3530768" cy="759512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g3a5555b7c7b_2_51"/>
          <p:cNvSpPr txBox="1"/>
          <p:nvPr>
            <p:ph idx="1" type="body"/>
          </p:nvPr>
        </p:nvSpPr>
        <p:spPr>
          <a:xfrm>
            <a:off x="3093375" y="755450"/>
            <a:ext cx="14426400" cy="7389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Evolución de las Métricas con la implementación</a:t>
            </a:r>
            <a:endParaRPr/>
          </a:p>
        </p:txBody>
      </p:sp>
      <p:pic>
        <p:nvPicPr>
          <p:cNvPr descr="image.png" id="580" name="Google Shape;580;g3a5555b7c7b_2_51"/>
          <p:cNvPicPr preferRelativeResize="0"/>
          <p:nvPr/>
        </p:nvPicPr>
        <p:blipFill rotWithShape="1">
          <a:blip r:embed="rId3">
            <a:alphaModFix/>
          </a:blip>
          <a:srcRect b="0" l="0" r="0" t="0"/>
          <a:stretch/>
        </p:blipFill>
        <p:spPr>
          <a:xfrm>
            <a:off x="1252650" y="2329375"/>
            <a:ext cx="7848750" cy="7712275"/>
          </a:xfrm>
          <a:prstGeom prst="rect">
            <a:avLst/>
          </a:prstGeom>
          <a:noFill/>
          <a:ln>
            <a:noFill/>
          </a:ln>
        </p:spPr>
      </p:pic>
      <p:pic>
        <p:nvPicPr>
          <p:cNvPr descr="image.png" id="581" name="Google Shape;581;g3a5555b7c7b_2_51"/>
          <p:cNvPicPr preferRelativeResize="0"/>
          <p:nvPr/>
        </p:nvPicPr>
        <p:blipFill rotWithShape="1">
          <a:blip r:embed="rId3">
            <a:alphaModFix/>
          </a:blip>
          <a:srcRect b="0" l="0" r="0" t="0"/>
          <a:stretch/>
        </p:blipFill>
        <p:spPr>
          <a:xfrm>
            <a:off x="9859875" y="2329375"/>
            <a:ext cx="8683100" cy="8033250"/>
          </a:xfrm>
          <a:prstGeom prst="rect">
            <a:avLst/>
          </a:prstGeom>
          <a:noFill/>
          <a:ln>
            <a:noFill/>
          </a:ln>
        </p:spPr>
      </p:pic>
      <p:sp>
        <p:nvSpPr>
          <p:cNvPr id="582" name="Google Shape;582;g3a5555b7c7b_2_51"/>
          <p:cNvSpPr txBox="1"/>
          <p:nvPr/>
        </p:nvSpPr>
        <p:spPr>
          <a:xfrm>
            <a:off x="1072425" y="2513300"/>
            <a:ext cx="7491900" cy="1587600"/>
          </a:xfrm>
          <a:prstGeom prst="rect">
            <a:avLst/>
          </a:prstGeom>
          <a:noFill/>
          <a:ln>
            <a:noFill/>
          </a:ln>
        </p:spPr>
        <p:txBody>
          <a:bodyPr anchorCtr="0" anchor="t"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2600"/>
              <a:buFont typeface="Arial"/>
              <a:buNone/>
            </a:pPr>
            <a:r>
              <a:rPr b="1" i="0" lang="es-CL" sz="2600" u="sng" cap="none" strike="noStrike">
                <a:solidFill>
                  <a:schemeClr val="lt1"/>
                </a:solidFill>
                <a:latin typeface="Arial"/>
                <a:ea typeface="Arial"/>
                <a:cs typeface="Arial"/>
                <a:sym typeface="Arial"/>
              </a:rPr>
              <a:t>Monetario</a:t>
            </a:r>
            <a:br>
              <a:rPr b="0" i="0" lang="es-CL" sz="2600" u="none" cap="none" strike="noStrike">
                <a:solidFill>
                  <a:schemeClr val="lt1"/>
                </a:solidFill>
                <a:latin typeface="Arial"/>
                <a:ea typeface="Arial"/>
                <a:cs typeface="Arial"/>
                <a:sym typeface="Arial"/>
              </a:rPr>
            </a:br>
            <a:r>
              <a:rPr b="0" i="0" lang="es-CL" sz="2600" u="none" cap="none" strike="noStrike">
                <a:solidFill>
                  <a:schemeClr val="lt1"/>
                </a:solidFill>
                <a:latin typeface="Arial"/>
                <a:ea typeface="Arial"/>
                <a:cs typeface="Arial"/>
                <a:sym typeface="Arial"/>
              </a:rPr>
              <a:t>Por noticia Publicada en redes sociales se generaban de </a:t>
            </a:r>
            <a:r>
              <a:rPr b="1" i="0" lang="es-CL" sz="2600" u="sng" cap="none" strike="noStrike">
                <a:solidFill>
                  <a:schemeClr val="lt1"/>
                </a:solidFill>
                <a:latin typeface="Arial"/>
                <a:ea typeface="Arial"/>
                <a:cs typeface="Arial"/>
                <a:sym typeface="Arial"/>
              </a:rPr>
              <a:t>2-14</a:t>
            </a:r>
            <a:r>
              <a:rPr b="0" i="0" lang="es-CL" sz="2600" u="none" cap="none" strike="noStrike">
                <a:solidFill>
                  <a:schemeClr val="lt1"/>
                </a:solidFill>
                <a:latin typeface="Arial"/>
                <a:ea typeface="Arial"/>
                <a:cs typeface="Arial"/>
                <a:sym typeface="Arial"/>
              </a:rPr>
              <a:t> pesos según registros de Facebook</a:t>
            </a:r>
            <a:br>
              <a:rPr b="0" i="0" lang="es-CL" sz="2600" u="none" cap="none" strike="noStrike">
                <a:solidFill>
                  <a:schemeClr val="lt1"/>
                </a:solidFill>
                <a:latin typeface="Arial"/>
                <a:ea typeface="Arial"/>
                <a:cs typeface="Arial"/>
                <a:sym typeface="Arial"/>
              </a:rPr>
            </a:br>
            <a:br>
              <a:rPr b="0" i="0" lang="es-CL" sz="2600" u="none" cap="none" strike="noStrike">
                <a:solidFill>
                  <a:schemeClr val="lt1"/>
                </a:solidFill>
                <a:latin typeface="Arial"/>
                <a:ea typeface="Arial"/>
                <a:cs typeface="Arial"/>
                <a:sym typeface="Arial"/>
              </a:rPr>
            </a:br>
            <a:r>
              <a:rPr b="1" i="0" lang="es-CL" sz="2600" u="sng" cap="none" strike="noStrike">
                <a:solidFill>
                  <a:schemeClr val="lt1"/>
                </a:solidFill>
                <a:latin typeface="Arial"/>
                <a:ea typeface="Arial"/>
                <a:cs typeface="Arial"/>
                <a:sym typeface="Arial"/>
              </a:rPr>
              <a:t>Visitas</a:t>
            </a:r>
            <a:br>
              <a:rPr b="0" i="0" lang="es-CL" sz="2600" u="none" cap="none" strike="noStrike">
                <a:solidFill>
                  <a:schemeClr val="lt1"/>
                </a:solidFill>
                <a:latin typeface="Arial"/>
                <a:ea typeface="Arial"/>
                <a:cs typeface="Arial"/>
                <a:sym typeface="Arial"/>
              </a:rPr>
            </a:br>
            <a:endParaRPr b="0" i="0" sz="2600" u="none" cap="none" strike="noStrike">
              <a:solidFill>
                <a:schemeClr val="lt1"/>
              </a:solidFill>
              <a:latin typeface="Arial"/>
              <a:ea typeface="Arial"/>
              <a:cs typeface="Arial"/>
              <a:sym typeface="Arial"/>
            </a:endParaRPr>
          </a:p>
        </p:txBody>
      </p:sp>
      <p:sp>
        <p:nvSpPr>
          <p:cNvPr id="583" name="Google Shape;583;g3a5555b7c7b_2_51"/>
          <p:cNvSpPr txBox="1"/>
          <p:nvPr/>
        </p:nvSpPr>
        <p:spPr>
          <a:xfrm>
            <a:off x="10335925" y="2676075"/>
            <a:ext cx="3744000" cy="24294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2600"/>
              <a:buFont typeface="Arial"/>
              <a:buNone/>
            </a:pPr>
            <a:r>
              <a:rPr b="1" i="0" lang="es-CL" sz="2600" u="sng" cap="none" strike="noStrike">
                <a:solidFill>
                  <a:schemeClr val="lt1"/>
                </a:solidFill>
                <a:latin typeface="Arial"/>
                <a:ea typeface="Arial"/>
                <a:cs typeface="Arial"/>
                <a:sym typeface="Arial"/>
              </a:rPr>
              <a:t>Monetario</a:t>
            </a:r>
            <a:endParaRPr b="1" i="0" sz="2600" u="sng" cap="none" strike="noStrike">
              <a:solidFill>
                <a:schemeClr val="lt1"/>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2000"/>
              <a:buFont typeface="Arial"/>
              <a:buNone/>
            </a:pPr>
            <a:r>
              <a:rPr b="0" i="0" lang="es-CL" sz="2000" u="none" cap="none" strike="noStrike">
                <a:solidFill>
                  <a:schemeClr val="lt1"/>
                </a:solidFill>
                <a:latin typeface="Arial"/>
                <a:ea typeface="Arial"/>
                <a:cs typeface="Arial"/>
                <a:sym typeface="Arial"/>
              </a:rPr>
              <a:t>Implementación de publicidad genera ganancias dependiendo las interacciones y visitas con la página. Generando a dia de hoy actualmente un aumento de </a:t>
            </a:r>
            <a:r>
              <a:rPr b="0" i="0" lang="es-CL" sz="2000" u="sng" cap="none" strike="noStrike">
                <a:solidFill>
                  <a:schemeClr val="lt1"/>
                </a:solidFill>
                <a:latin typeface="Arial"/>
                <a:ea typeface="Arial"/>
                <a:cs typeface="Arial"/>
                <a:sym typeface="Arial"/>
              </a:rPr>
              <a:t> </a:t>
            </a:r>
            <a:r>
              <a:rPr b="1" i="0" lang="es-CL" sz="2000" u="sng" cap="none" strike="noStrike">
                <a:solidFill>
                  <a:schemeClr val="lt1"/>
                </a:solidFill>
                <a:latin typeface="Arial"/>
                <a:ea typeface="Arial"/>
                <a:cs typeface="Arial"/>
                <a:sym typeface="Arial"/>
              </a:rPr>
              <a:t>24.7%</a:t>
            </a:r>
            <a:r>
              <a:rPr b="1" i="0" lang="es-CL" sz="2000" u="none" cap="none" strike="noStrike">
                <a:solidFill>
                  <a:schemeClr val="lt1"/>
                </a:solidFill>
                <a:latin typeface="Arial"/>
                <a:ea typeface="Arial"/>
                <a:cs typeface="Arial"/>
                <a:sym typeface="Arial"/>
              </a:rPr>
              <a:t> </a:t>
            </a:r>
            <a:r>
              <a:rPr b="0" i="0" lang="es-CL" sz="2000" u="none" cap="none" strike="noStrike">
                <a:solidFill>
                  <a:schemeClr val="lt1"/>
                </a:solidFill>
                <a:latin typeface="Arial"/>
                <a:ea typeface="Arial"/>
                <a:cs typeface="Arial"/>
                <a:sym typeface="Arial"/>
              </a:rPr>
              <a:t>en las ganancias esperadas sin contar pagos por publicidad</a:t>
            </a:r>
            <a:endParaRPr b="0" i="0" sz="2000" u="none" cap="none" strike="noStrike">
              <a:solidFill>
                <a:schemeClr val="lt1"/>
              </a:solidFill>
              <a:latin typeface="Arial"/>
              <a:ea typeface="Arial"/>
              <a:cs typeface="Arial"/>
              <a:sym typeface="Arial"/>
            </a:endParaRPr>
          </a:p>
        </p:txBody>
      </p:sp>
      <p:cxnSp>
        <p:nvCxnSpPr>
          <p:cNvPr id="584" name="Google Shape;584;g3a5555b7c7b_2_51"/>
          <p:cNvCxnSpPr/>
          <p:nvPr/>
        </p:nvCxnSpPr>
        <p:spPr>
          <a:xfrm>
            <a:off x="3284650" y="1518975"/>
            <a:ext cx="14262300" cy="11700"/>
          </a:xfrm>
          <a:prstGeom prst="straightConnector1">
            <a:avLst/>
          </a:prstGeom>
          <a:noFill/>
          <a:ln cap="flat" cmpd="sng" w="9525">
            <a:solidFill>
              <a:schemeClr val="accent6"/>
            </a:solidFill>
            <a:prstDash val="solid"/>
            <a:round/>
            <a:headEnd len="sm" w="sm" type="none"/>
            <a:tailEnd len="sm" w="sm" type="none"/>
          </a:ln>
        </p:spPr>
      </p:cxnSp>
      <p:pic>
        <p:nvPicPr>
          <p:cNvPr id="585" name="Google Shape;585;g3a5555b7c7b_2_51"/>
          <p:cNvPicPr preferRelativeResize="0"/>
          <p:nvPr/>
        </p:nvPicPr>
        <p:blipFill rotWithShape="1">
          <a:blip r:embed="rId4">
            <a:alphaModFix/>
          </a:blip>
          <a:srcRect b="0" l="0" r="0" t="0"/>
          <a:stretch/>
        </p:blipFill>
        <p:spPr>
          <a:xfrm>
            <a:off x="5021775" y="5034688"/>
            <a:ext cx="3165675" cy="4110475"/>
          </a:xfrm>
          <a:prstGeom prst="rect">
            <a:avLst/>
          </a:prstGeom>
          <a:noFill/>
          <a:ln>
            <a:noFill/>
          </a:ln>
        </p:spPr>
      </p:pic>
      <p:sp>
        <p:nvSpPr>
          <p:cNvPr id="586" name="Google Shape;586;g3a5555b7c7b_2_51"/>
          <p:cNvSpPr txBox="1"/>
          <p:nvPr/>
        </p:nvSpPr>
        <p:spPr>
          <a:xfrm>
            <a:off x="1563150" y="5236975"/>
            <a:ext cx="2770800" cy="3705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CL" sz="2000" u="none" cap="none" strike="noStrike">
                <a:solidFill>
                  <a:schemeClr val="lt1"/>
                </a:solidFill>
                <a:latin typeface="Arial"/>
                <a:ea typeface="Arial"/>
                <a:cs typeface="Arial"/>
                <a:sym typeface="Arial"/>
              </a:rPr>
              <a:t>Durante el periodo del 2025 se destacó la poca interaccion del publico con el medio llegando a una máxima de </a:t>
            </a:r>
            <a:r>
              <a:rPr b="1" i="0" lang="es-CL" sz="2000" u="sng" cap="none" strike="noStrike">
                <a:solidFill>
                  <a:schemeClr val="lt1"/>
                </a:solidFill>
                <a:latin typeface="Arial"/>
                <a:ea typeface="Arial"/>
                <a:cs typeface="Arial"/>
                <a:sym typeface="Arial"/>
              </a:rPr>
              <a:t>180 </a:t>
            </a:r>
            <a:r>
              <a:rPr b="0" i="0" lang="es-CL" sz="2000" u="none" cap="none" strike="noStrike">
                <a:solidFill>
                  <a:schemeClr val="lt1"/>
                </a:solidFill>
                <a:latin typeface="Arial"/>
                <a:ea typeface="Arial"/>
                <a:cs typeface="Arial"/>
                <a:sym typeface="Arial"/>
              </a:rPr>
              <a:t>personas que ingresan a la página </a:t>
            </a:r>
            <a:endParaRPr b="0" i="0" sz="2000" u="none" cap="none" strike="noStrike">
              <a:solidFill>
                <a:schemeClr val="lt1"/>
              </a:solidFill>
              <a:latin typeface="Arial"/>
              <a:ea typeface="Arial"/>
              <a:cs typeface="Arial"/>
              <a:sym typeface="Arial"/>
            </a:endParaRPr>
          </a:p>
        </p:txBody>
      </p:sp>
      <p:sp>
        <p:nvSpPr>
          <p:cNvPr id="587" name="Google Shape;587;g3a5555b7c7b_2_51"/>
          <p:cNvSpPr txBox="1"/>
          <p:nvPr/>
        </p:nvSpPr>
        <p:spPr>
          <a:xfrm>
            <a:off x="4459725" y="1797438"/>
            <a:ext cx="1434600" cy="44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Arial"/>
                <a:ea typeface="Arial"/>
                <a:cs typeface="Arial"/>
                <a:sym typeface="Arial"/>
              </a:rPr>
              <a:t>Antes</a:t>
            </a:r>
            <a:endParaRPr b="1" i="0" sz="2700" u="none" cap="none" strike="noStrike">
              <a:solidFill>
                <a:srgbClr val="000000"/>
              </a:solidFill>
              <a:latin typeface="Arial"/>
              <a:ea typeface="Arial"/>
              <a:cs typeface="Arial"/>
              <a:sym typeface="Arial"/>
            </a:endParaRPr>
          </a:p>
        </p:txBody>
      </p:sp>
      <p:sp>
        <p:nvSpPr>
          <p:cNvPr id="588" name="Google Shape;588;g3a5555b7c7b_2_51"/>
          <p:cNvSpPr txBox="1"/>
          <p:nvPr/>
        </p:nvSpPr>
        <p:spPr>
          <a:xfrm>
            <a:off x="13484125" y="1860650"/>
            <a:ext cx="1434600" cy="449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700"/>
              <a:buFont typeface="Arial"/>
              <a:buNone/>
            </a:pPr>
            <a:r>
              <a:rPr b="1" i="0" lang="es-CL" sz="2700" u="none" cap="none" strike="noStrike">
                <a:solidFill>
                  <a:srgbClr val="000000"/>
                </a:solidFill>
                <a:latin typeface="Arial"/>
                <a:ea typeface="Arial"/>
                <a:cs typeface="Arial"/>
                <a:sym typeface="Arial"/>
              </a:rPr>
              <a:t>Ahora</a:t>
            </a:r>
            <a:endParaRPr b="1" i="0" sz="2700" u="none" cap="none" strike="noStrike">
              <a:solidFill>
                <a:srgbClr val="000000"/>
              </a:solidFill>
              <a:latin typeface="Arial"/>
              <a:ea typeface="Arial"/>
              <a:cs typeface="Arial"/>
              <a:sym typeface="Arial"/>
            </a:endParaRPr>
          </a:p>
        </p:txBody>
      </p:sp>
      <p:pic>
        <p:nvPicPr>
          <p:cNvPr id="589" name="Google Shape;589;g3a5555b7c7b_2_51"/>
          <p:cNvPicPr preferRelativeResize="0"/>
          <p:nvPr/>
        </p:nvPicPr>
        <p:blipFill rotWithShape="1">
          <a:blip r:embed="rId5">
            <a:alphaModFix/>
          </a:blip>
          <a:srcRect b="0" l="-4199" r="0" t="0"/>
          <a:stretch/>
        </p:blipFill>
        <p:spPr>
          <a:xfrm>
            <a:off x="14017800" y="3102300"/>
            <a:ext cx="4514850" cy="2486025"/>
          </a:xfrm>
          <a:prstGeom prst="rect">
            <a:avLst/>
          </a:prstGeom>
          <a:noFill/>
          <a:ln>
            <a:noFill/>
          </a:ln>
        </p:spPr>
      </p:pic>
      <p:sp>
        <p:nvSpPr>
          <p:cNvPr id="590" name="Google Shape;590;g3a5555b7c7b_2_51"/>
          <p:cNvSpPr txBox="1"/>
          <p:nvPr/>
        </p:nvSpPr>
        <p:spPr>
          <a:xfrm>
            <a:off x="9859875" y="6105950"/>
            <a:ext cx="4184400" cy="3935700"/>
          </a:xfrm>
          <a:prstGeom prst="rect">
            <a:avLst/>
          </a:prstGeom>
          <a:noFill/>
          <a:ln>
            <a:noFill/>
          </a:ln>
        </p:spPr>
        <p:txBody>
          <a:bodyPr anchorCtr="0" anchor="t" bIns="91425" lIns="91425" spcFirstLastPara="1" rIns="91425" wrap="square" tIns="91425">
            <a:spAutoFit/>
          </a:bodyPr>
          <a:lstStyle/>
          <a:p>
            <a:pPr indent="0" lvl="0" marL="457200" marR="0" rtl="0" algn="l">
              <a:lnSpc>
                <a:spcPct val="115000"/>
              </a:lnSpc>
              <a:spcBef>
                <a:spcPts val="0"/>
              </a:spcBef>
              <a:spcAft>
                <a:spcPts val="0"/>
              </a:spcAft>
              <a:buClr>
                <a:srgbClr val="000000"/>
              </a:buClr>
              <a:buSzPts val="2200"/>
              <a:buFont typeface="Arial"/>
              <a:buNone/>
            </a:pPr>
            <a:r>
              <a:rPr b="1" i="0" lang="es-CL" sz="2200" u="sng" cap="none" strike="noStrike">
                <a:solidFill>
                  <a:schemeClr val="lt1"/>
                </a:solidFill>
                <a:latin typeface="Arial"/>
                <a:ea typeface="Arial"/>
                <a:cs typeface="Arial"/>
                <a:sym typeface="Arial"/>
              </a:rPr>
              <a:t>Visitas</a:t>
            </a:r>
            <a:br>
              <a:rPr b="1" i="0" lang="es-CL" sz="2200" u="sng" cap="none" strike="noStrike">
                <a:solidFill>
                  <a:schemeClr val="lt1"/>
                </a:solidFill>
                <a:latin typeface="Arial"/>
                <a:ea typeface="Arial"/>
                <a:cs typeface="Arial"/>
                <a:sym typeface="Arial"/>
              </a:rPr>
            </a:br>
            <a:r>
              <a:rPr b="0" i="0" lang="es-CL" sz="1600" u="none" cap="none" strike="noStrike">
                <a:solidFill>
                  <a:schemeClr val="lt1"/>
                </a:solidFill>
                <a:latin typeface="Arial"/>
                <a:ea typeface="Arial"/>
                <a:cs typeface="Arial"/>
                <a:sym typeface="Arial"/>
              </a:rPr>
              <a:t>Con la implementación de la estrategia SEO orgánica y las nuevas interacciones con los usuarios, la plataforma mostró un aumento significativo en su rendimiento. En solo tres meses, la versión actualizada generó el </a:t>
            </a:r>
            <a:r>
              <a:rPr b="1" i="0" lang="es-CL" sz="1600" u="sng" cap="none" strike="noStrike">
                <a:solidFill>
                  <a:schemeClr val="lt1"/>
                </a:solidFill>
                <a:latin typeface="Arial"/>
                <a:ea typeface="Arial"/>
                <a:cs typeface="Arial"/>
                <a:sym typeface="Arial"/>
              </a:rPr>
              <a:t>39,7%</a:t>
            </a:r>
            <a:r>
              <a:rPr b="0" i="0" lang="es-CL" sz="1600" u="none" cap="none" strike="noStrike">
                <a:solidFill>
                  <a:schemeClr val="lt1"/>
                </a:solidFill>
                <a:latin typeface="Arial"/>
                <a:ea typeface="Arial"/>
                <a:cs typeface="Arial"/>
                <a:sym typeface="Arial"/>
              </a:rPr>
              <a:t> del total de visitas que la versión anterior obtenía en un año completo, utilizando apenas el </a:t>
            </a:r>
            <a:r>
              <a:rPr b="1" i="0" lang="es-CL" sz="1600" u="sng" cap="none" strike="noStrike">
                <a:solidFill>
                  <a:schemeClr val="lt1"/>
                </a:solidFill>
                <a:latin typeface="Arial"/>
                <a:ea typeface="Arial"/>
                <a:cs typeface="Arial"/>
                <a:sym typeface="Arial"/>
              </a:rPr>
              <a:t>27% del tiempo</a:t>
            </a:r>
            <a:r>
              <a:rPr b="0" i="0" lang="es-CL" sz="1600" u="none" cap="none" strike="noStrike">
                <a:solidFill>
                  <a:schemeClr val="lt1"/>
                </a:solidFill>
                <a:latin typeface="Arial"/>
                <a:ea typeface="Arial"/>
                <a:cs typeface="Arial"/>
                <a:sym typeface="Arial"/>
              </a:rPr>
              <a:t>. Esto </a:t>
            </a:r>
            <a:r>
              <a:rPr b="1" i="0" lang="es-CL" sz="1600" u="sng" cap="none" strike="noStrike">
                <a:solidFill>
                  <a:schemeClr val="lt1"/>
                </a:solidFill>
                <a:latin typeface="Arial"/>
                <a:ea typeface="Arial"/>
                <a:cs typeface="Arial"/>
                <a:sym typeface="Arial"/>
              </a:rPr>
              <a:t>representa una mejora del 45,7% en la tasa mensual </a:t>
            </a:r>
            <a:r>
              <a:rPr b="0" i="0" lang="es-CL" sz="1600" u="none" cap="none" strike="noStrike">
                <a:solidFill>
                  <a:schemeClr val="lt1"/>
                </a:solidFill>
                <a:latin typeface="Arial"/>
                <a:ea typeface="Arial"/>
                <a:cs typeface="Arial"/>
                <a:sym typeface="Arial"/>
              </a:rPr>
              <a:t>de visitas respecto a la versión inicial.</a:t>
            </a:r>
            <a:endParaRPr b="1" i="0" sz="1600" u="sng" cap="none" strike="noStrike">
              <a:solidFill>
                <a:srgbClr val="000000"/>
              </a:solidFill>
              <a:latin typeface="Arial"/>
              <a:ea typeface="Arial"/>
              <a:cs typeface="Arial"/>
              <a:sym typeface="Arial"/>
            </a:endParaRPr>
          </a:p>
        </p:txBody>
      </p:sp>
      <p:pic>
        <p:nvPicPr>
          <p:cNvPr id="591" name="Google Shape;591;g3a5555b7c7b_2_51"/>
          <p:cNvPicPr preferRelativeResize="0"/>
          <p:nvPr/>
        </p:nvPicPr>
        <p:blipFill rotWithShape="1">
          <a:blip r:embed="rId6">
            <a:alphaModFix/>
          </a:blip>
          <a:srcRect b="0" l="0" r="0" t="0"/>
          <a:stretch/>
        </p:blipFill>
        <p:spPr>
          <a:xfrm>
            <a:off x="14522200" y="6380900"/>
            <a:ext cx="3506062" cy="36607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g3a27d2987dc_0_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10</a:t>
            </a:r>
            <a:endParaRPr b="0" i="0" sz="1400" u="none" cap="none" strike="noStrike">
              <a:solidFill>
                <a:srgbClr val="000000"/>
              </a:solidFill>
              <a:latin typeface="Arial"/>
              <a:ea typeface="Arial"/>
              <a:cs typeface="Arial"/>
              <a:sym typeface="Arial"/>
            </a:endParaRPr>
          </a:p>
        </p:txBody>
      </p:sp>
      <p:sp>
        <p:nvSpPr>
          <p:cNvPr id="597" name="Google Shape;597;g3a27d2987dc_0_0"/>
          <p:cNvSpPr txBox="1"/>
          <p:nvPr>
            <p:ph type="title"/>
          </p:nvPr>
        </p:nvSpPr>
        <p:spPr>
          <a:xfrm>
            <a:off x="7549150" y="7250550"/>
            <a:ext cx="9020100" cy="78321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Propuesta Técnica</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g3a27d2987dc_0_5"/>
          <p:cNvSpPr txBox="1"/>
          <p:nvPr>
            <p:ph idx="1" type="body"/>
          </p:nvPr>
        </p:nvSpPr>
        <p:spPr>
          <a:xfrm>
            <a:off x="949650" y="3274175"/>
            <a:ext cx="4958700" cy="11991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0"/>
              </a:spcBef>
              <a:spcAft>
                <a:spcPts val="0"/>
              </a:spcAft>
              <a:buSzPts val="1400"/>
              <a:buNone/>
            </a:pPr>
            <a:r>
              <a:t/>
            </a:r>
            <a:endParaRPr b="0" sz="2600">
              <a:solidFill>
                <a:schemeClr val="dk1"/>
              </a:solidFill>
            </a:endParaRPr>
          </a:p>
          <a:p>
            <a:pPr indent="0" lvl="0" marL="0" rtl="0" algn="r">
              <a:lnSpc>
                <a:spcPct val="100000"/>
              </a:lnSpc>
              <a:spcBef>
                <a:spcPts val="0"/>
              </a:spcBef>
              <a:spcAft>
                <a:spcPts val="0"/>
              </a:spcAft>
              <a:buSzPts val="1400"/>
              <a:buNone/>
            </a:pPr>
            <a:r>
              <a:t/>
            </a:r>
            <a:endParaRPr/>
          </a:p>
        </p:txBody>
      </p:sp>
      <p:pic>
        <p:nvPicPr>
          <p:cNvPr id="604" name="Google Shape;604;g3a27d2987dc_0_5"/>
          <p:cNvPicPr preferRelativeResize="0"/>
          <p:nvPr/>
        </p:nvPicPr>
        <p:blipFill rotWithShape="1">
          <a:blip r:embed="rId3">
            <a:alphaModFix/>
          </a:blip>
          <a:srcRect b="0" l="0" r="0" t="0"/>
          <a:stretch/>
        </p:blipFill>
        <p:spPr>
          <a:xfrm>
            <a:off x="3706675" y="1162300"/>
            <a:ext cx="12880725" cy="8796800"/>
          </a:xfrm>
          <a:prstGeom prst="rect">
            <a:avLst/>
          </a:prstGeom>
          <a:solidFill>
            <a:srgbClr val="FFFFFF"/>
          </a:solidFill>
          <a:ln>
            <a:noFill/>
          </a:ln>
        </p:spPr>
      </p:pic>
      <p:sp>
        <p:nvSpPr>
          <p:cNvPr id="605" name="Google Shape;605;g3a27d2987dc_0_5"/>
          <p:cNvSpPr txBox="1"/>
          <p:nvPr/>
        </p:nvSpPr>
        <p:spPr>
          <a:xfrm>
            <a:off x="1216750" y="470950"/>
            <a:ext cx="7357500" cy="571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1" i="0" lang="es-CL" sz="3200" u="none" cap="none" strike="noStrike">
                <a:solidFill>
                  <a:srgbClr val="000000"/>
                </a:solidFill>
                <a:latin typeface="Calibri"/>
                <a:ea typeface="Calibri"/>
                <a:cs typeface="Calibri"/>
                <a:sym typeface="Calibri"/>
              </a:rPr>
              <a:t>Diagrama de Caso de uso General</a:t>
            </a:r>
            <a:endParaRPr b="1" i="0" sz="3200" u="none" cap="none" strike="noStrike">
              <a:solidFill>
                <a:srgbClr val="000000"/>
              </a:solidFill>
              <a:latin typeface="Calibri"/>
              <a:ea typeface="Calibri"/>
              <a:cs typeface="Calibri"/>
              <a:sym typeface="Calibri"/>
            </a:endParaRPr>
          </a:p>
        </p:txBody>
      </p:sp>
      <p:cxnSp>
        <p:nvCxnSpPr>
          <p:cNvPr id="606" name="Google Shape;606;g3a27d2987dc_0_5"/>
          <p:cNvCxnSpPr/>
          <p:nvPr/>
        </p:nvCxnSpPr>
        <p:spPr>
          <a:xfrm flipH="1" rot="10800000">
            <a:off x="1120825" y="1081375"/>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992a4233df_1_107"/>
          <p:cNvSpPr txBox="1"/>
          <p:nvPr/>
        </p:nvSpPr>
        <p:spPr>
          <a:xfrm>
            <a:off x="1216150" y="792525"/>
            <a:ext cx="8386800" cy="100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CL" sz="3400" u="none" cap="none" strike="noStrike">
                <a:solidFill>
                  <a:schemeClr val="dk1"/>
                </a:solidFill>
                <a:latin typeface="Calibri"/>
                <a:ea typeface="Calibri"/>
                <a:cs typeface="Calibri"/>
                <a:sym typeface="Calibri"/>
              </a:rPr>
              <a:t>Diagrama To-Do</a:t>
            </a:r>
            <a:endParaRPr b="0" i="0" sz="2400" u="none" cap="none" strike="noStrike">
              <a:solidFill>
                <a:srgbClr val="000000"/>
              </a:solidFill>
              <a:latin typeface="Calibri"/>
              <a:ea typeface="Calibri"/>
              <a:cs typeface="Calibri"/>
              <a:sym typeface="Calibri"/>
            </a:endParaRPr>
          </a:p>
        </p:txBody>
      </p:sp>
      <p:pic>
        <p:nvPicPr>
          <p:cNvPr id="613" name="Google Shape;613;g3992a4233df_1_107"/>
          <p:cNvPicPr preferRelativeResize="0"/>
          <p:nvPr/>
        </p:nvPicPr>
        <p:blipFill rotWithShape="1">
          <a:blip r:embed="rId3">
            <a:alphaModFix/>
          </a:blip>
          <a:srcRect b="0" l="0" r="0" t="0"/>
          <a:stretch/>
        </p:blipFill>
        <p:spPr>
          <a:xfrm>
            <a:off x="3896050" y="1541475"/>
            <a:ext cx="15194825" cy="8752825"/>
          </a:xfrm>
          <a:prstGeom prst="rect">
            <a:avLst/>
          </a:prstGeom>
          <a:solidFill>
            <a:srgbClr val="FFFFFF"/>
          </a:solidFill>
          <a:ln>
            <a:noFill/>
          </a:ln>
        </p:spPr>
      </p:pic>
      <p:cxnSp>
        <p:nvCxnSpPr>
          <p:cNvPr id="614" name="Google Shape;614;g3992a4233df_1_107"/>
          <p:cNvCxnSpPr/>
          <p:nvPr/>
        </p:nvCxnSpPr>
        <p:spPr>
          <a:xfrm flipH="1" rot="10800000">
            <a:off x="1216150" y="1399275"/>
            <a:ext cx="2953200" cy="246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g3992a4233df_1_94"/>
          <p:cNvSpPr txBox="1"/>
          <p:nvPr>
            <p:ph idx="1" type="body"/>
          </p:nvPr>
        </p:nvSpPr>
        <p:spPr>
          <a:xfrm>
            <a:off x="820876" y="4410400"/>
            <a:ext cx="11901300" cy="800400"/>
          </a:xfrm>
          <a:prstGeom prst="rect">
            <a:avLst/>
          </a:prstGeom>
          <a:noFill/>
          <a:ln>
            <a:noFill/>
          </a:ln>
        </p:spPr>
        <p:txBody>
          <a:bodyPr anchorCtr="0" anchor="t" bIns="0" lIns="0" spcFirstLastPara="1" rIns="0" wrap="square" tIns="0">
            <a:spAutoFit/>
          </a:bodyPr>
          <a:lstStyle/>
          <a:p>
            <a:pPr indent="0" lvl="0" marL="0" rtl="0" algn="r">
              <a:lnSpc>
                <a:spcPct val="100000"/>
              </a:lnSpc>
              <a:spcBef>
                <a:spcPts val="0"/>
              </a:spcBef>
              <a:spcAft>
                <a:spcPts val="0"/>
              </a:spcAft>
              <a:buSzPts val="1400"/>
              <a:buNone/>
            </a:pPr>
            <a:r>
              <a:t/>
            </a:r>
            <a:endParaRPr b="0" sz="2600">
              <a:solidFill>
                <a:schemeClr val="dk1"/>
              </a:solidFill>
            </a:endParaRPr>
          </a:p>
          <a:p>
            <a:pPr indent="0" lvl="0" marL="0" rtl="0" algn="r">
              <a:lnSpc>
                <a:spcPct val="100000"/>
              </a:lnSpc>
              <a:spcBef>
                <a:spcPts val="0"/>
              </a:spcBef>
              <a:spcAft>
                <a:spcPts val="0"/>
              </a:spcAft>
              <a:buSzPts val="1400"/>
              <a:buNone/>
            </a:pPr>
            <a:r>
              <a:t/>
            </a:r>
            <a:endParaRPr b="0" sz="2600">
              <a:solidFill>
                <a:schemeClr val="dk1"/>
              </a:solidFill>
            </a:endParaRPr>
          </a:p>
        </p:txBody>
      </p:sp>
      <p:pic>
        <p:nvPicPr>
          <p:cNvPr id="621" name="Google Shape;621;g3992a4233df_1_94"/>
          <p:cNvPicPr preferRelativeResize="0"/>
          <p:nvPr/>
        </p:nvPicPr>
        <p:blipFill rotWithShape="1">
          <a:blip r:embed="rId3">
            <a:alphaModFix/>
          </a:blip>
          <a:srcRect b="0" l="0" r="0" t="0"/>
          <a:stretch/>
        </p:blipFill>
        <p:spPr>
          <a:xfrm>
            <a:off x="2949450" y="1157300"/>
            <a:ext cx="13573000" cy="9125099"/>
          </a:xfrm>
          <a:prstGeom prst="rect">
            <a:avLst/>
          </a:prstGeom>
          <a:solidFill>
            <a:srgbClr val="FFFFFF"/>
          </a:solidFill>
          <a:ln>
            <a:noFill/>
          </a:ln>
        </p:spPr>
      </p:pic>
      <p:sp>
        <p:nvSpPr>
          <p:cNvPr id="622" name="Google Shape;622;g3992a4233df_1_94"/>
          <p:cNvSpPr txBox="1"/>
          <p:nvPr/>
        </p:nvSpPr>
        <p:spPr>
          <a:xfrm>
            <a:off x="670350" y="407400"/>
            <a:ext cx="6938100" cy="902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300"/>
              <a:buFont typeface="Arial"/>
              <a:buNone/>
            </a:pPr>
            <a:r>
              <a:rPr b="1" i="0" lang="es-CL" sz="3300" u="none" cap="none" strike="noStrike">
                <a:solidFill>
                  <a:srgbClr val="000000"/>
                </a:solidFill>
                <a:latin typeface="Calibri"/>
                <a:ea typeface="Calibri"/>
                <a:cs typeface="Calibri"/>
                <a:sym typeface="Calibri"/>
              </a:rPr>
              <a:t>Diagrama BPMN Proceso Mejorado</a:t>
            </a:r>
            <a:endParaRPr b="1" i="0" sz="3300" u="none" cap="none" strike="noStrike">
              <a:solidFill>
                <a:srgbClr val="000000"/>
              </a:solidFill>
              <a:latin typeface="Calibri"/>
              <a:ea typeface="Calibri"/>
              <a:cs typeface="Calibri"/>
              <a:sym typeface="Calibri"/>
            </a:endParaRPr>
          </a:p>
        </p:txBody>
      </p:sp>
      <p:cxnSp>
        <p:nvCxnSpPr>
          <p:cNvPr id="623" name="Google Shape;623;g3992a4233df_1_94"/>
          <p:cNvCxnSpPr/>
          <p:nvPr/>
        </p:nvCxnSpPr>
        <p:spPr>
          <a:xfrm flipH="1" rot="10800000">
            <a:off x="820875" y="999025"/>
            <a:ext cx="6144900" cy="42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3992a4233df_1_99"/>
          <p:cNvSpPr txBox="1"/>
          <p:nvPr/>
        </p:nvSpPr>
        <p:spPr>
          <a:xfrm>
            <a:off x="1520525" y="590450"/>
            <a:ext cx="8386800" cy="100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2800"/>
              <a:buFont typeface="Arial"/>
              <a:buNone/>
            </a:pPr>
            <a:r>
              <a:rPr b="1" i="0" lang="es-CL" sz="3400" u="none" cap="none" strike="noStrike">
                <a:solidFill>
                  <a:schemeClr val="dk1"/>
                </a:solidFill>
                <a:latin typeface="Calibri"/>
                <a:ea typeface="Calibri"/>
                <a:cs typeface="Calibri"/>
                <a:sym typeface="Calibri"/>
              </a:rPr>
              <a:t>Tecnologías y Modelo por Capas o MVC</a:t>
            </a:r>
            <a:endParaRPr b="1" i="0" sz="2400" u="none" cap="none" strike="noStrike">
              <a:solidFill>
                <a:srgbClr val="000000"/>
              </a:solidFill>
              <a:latin typeface="Calibri"/>
              <a:ea typeface="Calibri"/>
              <a:cs typeface="Calibri"/>
              <a:sym typeface="Calibri"/>
            </a:endParaRPr>
          </a:p>
        </p:txBody>
      </p:sp>
      <p:pic>
        <p:nvPicPr>
          <p:cNvPr id="630" name="Google Shape;630;g3992a4233df_1_99" title="15513c55-97e4-4d51-a47a-6af4739829c7.PNG"/>
          <p:cNvPicPr preferRelativeResize="0"/>
          <p:nvPr/>
        </p:nvPicPr>
        <p:blipFill rotWithShape="1">
          <a:blip r:embed="rId3">
            <a:alphaModFix/>
          </a:blip>
          <a:srcRect b="26231" l="0" r="0" t="0"/>
          <a:stretch/>
        </p:blipFill>
        <p:spPr>
          <a:xfrm>
            <a:off x="5694575" y="2095825"/>
            <a:ext cx="10200176" cy="7461424"/>
          </a:xfrm>
          <a:prstGeom prst="rect">
            <a:avLst/>
          </a:prstGeom>
          <a:noFill/>
          <a:ln>
            <a:noFill/>
          </a:ln>
        </p:spPr>
      </p:pic>
      <p:cxnSp>
        <p:nvCxnSpPr>
          <p:cNvPr id="631" name="Google Shape;631;g3992a4233df_1_99"/>
          <p:cNvCxnSpPr/>
          <p:nvPr/>
        </p:nvCxnSpPr>
        <p:spPr>
          <a:xfrm flipH="1" rot="10800000">
            <a:off x="1599000" y="1267825"/>
            <a:ext cx="7113300" cy="126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g3a27d2987dc_0_12"/>
          <p:cNvSpPr txBox="1"/>
          <p:nvPr/>
        </p:nvSpPr>
        <p:spPr>
          <a:xfrm>
            <a:off x="1152600" y="589200"/>
            <a:ext cx="8386800" cy="1006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1" i="0" lang="es-CL" sz="3400" u="none" cap="none" strike="noStrike">
                <a:solidFill>
                  <a:schemeClr val="dk1"/>
                </a:solidFill>
                <a:latin typeface="Calibri"/>
                <a:ea typeface="Calibri"/>
                <a:cs typeface="Calibri"/>
                <a:sym typeface="Calibri"/>
              </a:rPr>
              <a:t>Diagrama BD MER</a:t>
            </a:r>
            <a:endParaRPr b="1" i="0" sz="3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4000"/>
              <a:buFont typeface="Arial"/>
              <a:buNone/>
            </a:pPr>
            <a:r>
              <a:t/>
            </a:r>
            <a:endParaRPr b="1" i="0" sz="4000" u="none" cap="none" strike="noStrike">
              <a:solidFill>
                <a:schemeClr val="dk1"/>
              </a:solidFill>
              <a:latin typeface="Calibri"/>
              <a:ea typeface="Calibri"/>
              <a:cs typeface="Calibri"/>
              <a:sym typeface="Calibri"/>
            </a:endParaRPr>
          </a:p>
        </p:txBody>
      </p:sp>
      <p:pic>
        <p:nvPicPr>
          <p:cNvPr id="638" name="Google Shape;638;g3a27d2987dc_0_12"/>
          <p:cNvPicPr preferRelativeResize="0"/>
          <p:nvPr/>
        </p:nvPicPr>
        <p:blipFill rotWithShape="1">
          <a:blip r:embed="rId3">
            <a:alphaModFix/>
          </a:blip>
          <a:srcRect b="0" l="0" r="0" t="0"/>
          <a:stretch/>
        </p:blipFill>
        <p:spPr>
          <a:xfrm>
            <a:off x="7081702" y="1595700"/>
            <a:ext cx="12661900" cy="8759376"/>
          </a:xfrm>
          <a:prstGeom prst="rect">
            <a:avLst/>
          </a:prstGeom>
          <a:noFill/>
          <a:ln>
            <a:noFill/>
          </a:ln>
        </p:spPr>
      </p:pic>
      <p:cxnSp>
        <p:nvCxnSpPr>
          <p:cNvPr id="639" name="Google Shape;639;g3a27d2987dc_0_12"/>
          <p:cNvCxnSpPr/>
          <p:nvPr/>
        </p:nvCxnSpPr>
        <p:spPr>
          <a:xfrm flipH="1" rot="10800000">
            <a:off x="1152600" y="1196250"/>
            <a:ext cx="3566700" cy="48300"/>
          </a:xfrm>
          <a:prstGeom prst="straightConnector1">
            <a:avLst/>
          </a:prstGeom>
          <a:noFill/>
          <a:ln cap="flat" cmpd="sng" w="9525">
            <a:solidFill>
              <a:schemeClr val="accent6"/>
            </a:solidFill>
            <a:prstDash val="solid"/>
            <a:round/>
            <a:headEnd len="sm" w="sm" type="none"/>
            <a:tailEnd len="sm" w="sm" type="none"/>
          </a:ln>
        </p:spPr>
      </p:cxn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992a4233df_1_60"/>
          <p:cNvSpPr txBox="1"/>
          <p:nvPr/>
        </p:nvSpPr>
        <p:spPr>
          <a:xfrm>
            <a:off x="7472950" y="5855572"/>
            <a:ext cx="1905000" cy="147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9600"/>
              <a:buFont typeface="Arial"/>
              <a:buNone/>
            </a:pPr>
            <a:r>
              <a:rPr b="1" i="0" lang="es-CL" sz="9600" u="none" cap="none" strike="noStrike">
                <a:solidFill>
                  <a:srgbClr val="257CE1"/>
                </a:solidFill>
                <a:latin typeface="Arial Black"/>
                <a:ea typeface="Arial Black"/>
                <a:cs typeface="Arial Black"/>
                <a:sym typeface="Arial Black"/>
              </a:rPr>
              <a:t>11</a:t>
            </a:r>
            <a:endParaRPr b="0" i="0" sz="1400" u="none" cap="none" strike="noStrike">
              <a:solidFill>
                <a:srgbClr val="000000"/>
              </a:solidFill>
              <a:latin typeface="Arial"/>
              <a:ea typeface="Arial"/>
              <a:cs typeface="Arial"/>
              <a:sym typeface="Arial"/>
            </a:endParaRPr>
          </a:p>
        </p:txBody>
      </p:sp>
      <p:sp>
        <p:nvSpPr>
          <p:cNvPr id="645" name="Google Shape;645;g3992a4233df_1_60"/>
          <p:cNvSpPr txBox="1"/>
          <p:nvPr>
            <p:ph type="title"/>
          </p:nvPr>
        </p:nvSpPr>
        <p:spPr>
          <a:xfrm>
            <a:off x="7549150" y="7250550"/>
            <a:ext cx="9020100" cy="9000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Retrospectiva y Proyecciones</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0" name="Shape 650"/>
        <p:cNvGrpSpPr/>
        <p:nvPr/>
      </p:nvGrpSpPr>
      <p:grpSpPr>
        <a:xfrm>
          <a:off x="0" y="0"/>
          <a:ext cx="0" cy="0"/>
          <a:chOff x="0" y="0"/>
          <a:chExt cx="0" cy="0"/>
        </a:xfrm>
      </p:grpSpPr>
      <p:pic>
        <p:nvPicPr>
          <p:cNvPr descr="image.png" id="651" name="Google Shape;651;g390f15d3519_1_6"/>
          <p:cNvPicPr preferRelativeResize="0"/>
          <p:nvPr/>
        </p:nvPicPr>
        <p:blipFill rotWithShape="1">
          <a:blip r:embed="rId3">
            <a:alphaModFix/>
          </a:blip>
          <a:srcRect b="0" l="0" r="0" t="0"/>
          <a:stretch/>
        </p:blipFill>
        <p:spPr>
          <a:xfrm>
            <a:off x="1515250" y="1693125"/>
            <a:ext cx="8247413" cy="8059314"/>
          </a:xfrm>
          <a:prstGeom prst="rect">
            <a:avLst/>
          </a:prstGeom>
          <a:noFill/>
          <a:ln>
            <a:noFill/>
          </a:ln>
        </p:spPr>
      </p:pic>
      <p:pic>
        <p:nvPicPr>
          <p:cNvPr descr="image.png" id="652" name="Google Shape;652;g390f15d3519_1_6"/>
          <p:cNvPicPr preferRelativeResize="0"/>
          <p:nvPr/>
        </p:nvPicPr>
        <p:blipFill rotWithShape="1">
          <a:blip r:embed="rId4">
            <a:alphaModFix/>
          </a:blip>
          <a:srcRect b="0" l="0" r="0" t="0"/>
          <a:stretch/>
        </p:blipFill>
        <p:spPr>
          <a:xfrm>
            <a:off x="10341437" y="1693125"/>
            <a:ext cx="8247413" cy="8059314"/>
          </a:xfrm>
          <a:prstGeom prst="rect">
            <a:avLst/>
          </a:prstGeom>
          <a:noFill/>
          <a:ln>
            <a:noFill/>
          </a:ln>
        </p:spPr>
      </p:pic>
      <p:sp>
        <p:nvSpPr>
          <p:cNvPr id="653" name="Google Shape;653;g390f15d3519_1_6"/>
          <p:cNvSpPr txBox="1"/>
          <p:nvPr/>
        </p:nvSpPr>
        <p:spPr>
          <a:xfrm>
            <a:off x="2557029" y="2054855"/>
            <a:ext cx="7110000" cy="456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62"/>
              <a:buFont typeface="Arial"/>
              <a:buNone/>
            </a:pPr>
            <a:r>
              <a:rPr b="1" i="0" lang="es-CL" sz="2962" u="none" cap="none" strike="noStrike">
                <a:solidFill>
                  <a:srgbClr val="F39C12"/>
                </a:solidFill>
                <a:latin typeface="Roboto Slab"/>
                <a:ea typeface="Roboto Slab"/>
                <a:cs typeface="Roboto Slab"/>
                <a:sym typeface="Roboto Slab"/>
              </a:rPr>
              <a:t>Perfil Profesional y Modalidad</a:t>
            </a:r>
            <a:endParaRPr b="0" i="0" sz="2126" u="none" cap="none" strike="noStrike">
              <a:solidFill>
                <a:srgbClr val="000000"/>
              </a:solidFill>
              <a:latin typeface="Arial"/>
              <a:ea typeface="Arial"/>
              <a:cs typeface="Arial"/>
              <a:sym typeface="Arial"/>
            </a:endParaRPr>
          </a:p>
        </p:txBody>
      </p:sp>
      <p:sp>
        <p:nvSpPr>
          <p:cNvPr id="654" name="Google Shape;654;g390f15d3519_1_6"/>
          <p:cNvSpPr/>
          <p:nvPr/>
        </p:nvSpPr>
        <p:spPr>
          <a:xfrm>
            <a:off x="1949325" y="2691499"/>
            <a:ext cx="7379400" cy="29100"/>
          </a:xfrm>
          <a:prstGeom prst="rect">
            <a:avLst/>
          </a:prstGeom>
          <a:solidFill>
            <a:srgbClr val="2C3E50"/>
          </a:solidFill>
          <a:ln>
            <a:noFill/>
          </a:ln>
        </p:spPr>
        <p:txBody>
          <a:bodyPr anchorCtr="0" anchor="ctr" bIns="69425" lIns="138875" spcFirstLastPara="1" rIns="138875" wrap="square" tIns="69425">
            <a:noAutofit/>
          </a:bodyPr>
          <a:lstStyle/>
          <a:p>
            <a:pPr indent="0" lvl="0" marL="0" marR="0" rtl="0" algn="ctr">
              <a:lnSpc>
                <a:spcPct val="100000"/>
              </a:lnSpc>
              <a:spcBef>
                <a:spcPts val="0"/>
              </a:spcBef>
              <a:spcAft>
                <a:spcPts val="0"/>
              </a:spcAft>
              <a:buClr>
                <a:srgbClr val="000000"/>
              </a:buClr>
              <a:buSzPts val="2734"/>
              <a:buFont typeface="Arial"/>
              <a:buNone/>
            </a:pPr>
            <a:r>
              <a:t/>
            </a:r>
            <a:endParaRPr b="0" i="0" sz="2734" u="none" cap="none" strike="noStrike">
              <a:solidFill>
                <a:srgbClr val="000000"/>
              </a:solidFill>
              <a:latin typeface="Calibri"/>
              <a:ea typeface="Calibri"/>
              <a:cs typeface="Calibri"/>
              <a:sym typeface="Calibri"/>
            </a:endParaRPr>
          </a:p>
        </p:txBody>
      </p:sp>
      <p:sp>
        <p:nvSpPr>
          <p:cNvPr id="655" name="Google Shape;655;g390f15d3519_1_6"/>
          <p:cNvSpPr txBox="1"/>
          <p:nvPr/>
        </p:nvSpPr>
        <p:spPr>
          <a:xfrm>
            <a:off x="11383216" y="2054855"/>
            <a:ext cx="7110000" cy="4560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2962"/>
              <a:buFont typeface="Arial"/>
              <a:buNone/>
            </a:pPr>
            <a:r>
              <a:rPr b="1" i="0" lang="es-CL" sz="2962" u="none" cap="none" strike="noStrike">
                <a:solidFill>
                  <a:srgbClr val="F39C12"/>
                </a:solidFill>
                <a:latin typeface="Roboto Slab"/>
                <a:ea typeface="Roboto Slab"/>
                <a:cs typeface="Roboto Slab"/>
                <a:sym typeface="Roboto Slab"/>
              </a:rPr>
              <a:t>Dificultades y Soluciones</a:t>
            </a:r>
            <a:endParaRPr b="0" i="0" sz="2126" u="none" cap="none" strike="noStrike">
              <a:solidFill>
                <a:srgbClr val="000000"/>
              </a:solidFill>
              <a:latin typeface="Arial"/>
              <a:ea typeface="Arial"/>
              <a:cs typeface="Arial"/>
              <a:sym typeface="Arial"/>
            </a:endParaRPr>
          </a:p>
        </p:txBody>
      </p:sp>
      <p:sp>
        <p:nvSpPr>
          <p:cNvPr id="656" name="Google Shape;656;g390f15d3519_1_6"/>
          <p:cNvSpPr/>
          <p:nvPr/>
        </p:nvSpPr>
        <p:spPr>
          <a:xfrm>
            <a:off x="10775512" y="2691499"/>
            <a:ext cx="7379400" cy="29100"/>
          </a:xfrm>
          <a:prstGeom prst="rect">
            <a:avLst/>
          </a:prstGeom>
          <a:solidFill>
            <a:srgbClr val="2C3E50"/>
          </a:solidFill>
          <a:ln>
            <a:noFill/>
          </a:ln>
        </p:spPr>
        <p:txBody>
          <a:bodyPr anchorCtr="0" anchor="ctr" bIns="69425" lIns="138875" spcFirstLastPara="1" rIns="138875" wrap="square" tIns="69425">
            <a:noAutofit/>
          </a:bodyPr>
          <a:lstStyle/>
          <a:p>
            <a:pPr indent="0" lvl="0" marL="0" marR="0" rtl="0" algn="ctr">
              <a:lnSpc>
                <a:spcPct val="100000"/>
              </a:lnSpc>
              <a:spcBef>
                <a:spcPts val="0"/>
              </a:spcBef>
              <a:spcAft>
                <a:spcPts val="0"/>
              </a:spcAft>
              <a:buClr>
                <a:srgbClr val="000000"/>
              </a:buClr>
              <a:buSzPts val="2734"/>
              <a:buFont typeface="Arial"/>
              <a:buNone/>
            </a:pPr>
            <a:r>
              <a:t/>
            </a:r>
            <a:endParaRPr b="0" i="0" sz="2734" u="none" cap="none" strike="noStrike">
              <a:solidFill>
                <a:srgbClr val="000000"/>
              </a:solidFill>
              <a:latin typeface="Calibri"/>
              <a:ea typeface="Calibri"/>
              <a:cs typeface="Calibri"/>
              <a:sym typeface="Calibri"/>
            </a:endParaRPr>
          </a:p>
        </p:txBody>
      </p:sp>
      <p:pic>
        <p:nvPicPr>
          <p:cNvPr descr="image.png" id="657" name="Google Shape;657;g390f15d3519_1_6"/>
          <p:cNvPicPr preferRelativeResize="0"/>
          <p:nvPr/>
        </p:nvPicPr>
        <p:blipFill rotWithShape="1">
          <a:blip r:embed="rId5">
            <a:alphaModFix/>
          </a:blip>
          <a:srcRect b="0" l="0" r="0" t="0"/>
          <a:stretch/>
        </p:blipFill>
        <p:spPr>
          <a:xfrm>
            <a:off x="1949325" y="2127201"/>
            <a:ext cx="434074" cy="347259"/>
          </a:xfrm>
          <a:prstGeom prst="rect">
            <a:avLst/>
          </a:prstGeom>
          <a:noFill/>
          <a:ln>
            <a:noFill/>
          </a:ln>
        </p:spPr>
      </p:pic>
      <p:sp>
        <p:nvSpPr>
          <p:cNvPr id="658" name="Google Shape;658;g390f15d3519_1_6"/>
          <p:cNvSpPr txBox="1"/>
          <p:nvPr/>
        </p:nvSpPr>
        <p:spPr>
          <a:xfrm>
            <a:off x="2383400" y="2937475"/>
            <a:ext cx="6945300" cy="12516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936"/>
              <a:buFont typeface="Arial"/>
              <a:buNone/>
            </a:pPr>
            <a:r>
              <a:rPr b="0" i="0" lang="es-CL" sz="1936" u="none" cap="none" strike="noStrike">
                <a:solidFill>
                  <a:srgbClr val="CBD5E1"/>
                </a:solidFill>
                <a:latin typeface="Roboto"/>
                <a:ea typeface="Roboto"/>
                <a:cs typeface="Roboto"/>
                <a:sym typeface="Roboto"/>
              </a:rPr>
              <a:t>La modalidad **Capstone** nos impulsó a aplicar la ingeniería en una **solución real y desacoplada**, en lugar de una solución teórica o un simple plugin.</a:t>
            </a:r>
            <a:endParaRPr b="0" i="0" sz="2126" u="none" cap="none" strike="noStrike">
              <a:solidFill>
                <a:srgbClr val="000000"/>
              </a:solidFill>
              <a:latin typeface="Arial"/>
              <a:ea typeface="Arial"/>
              <a:cs typeface="Arial"/>
              <a:sym typeface="Arial"/>
            </a:endParaRPr>
          </a:p>
        </p:txBody>
      </p:sp>
      <p:sp>
        <p:nvSpPr>
          <p:cNvPr id="659" name="Google Shape;659;g390f15d3519_1_6"/>
          <p:cNvSpPr txBox="1"/>
          <p:nvPr/>
        </p:nvSpPr>
        <p:spPr>
          <a:xfrm>
            <a:off x="2383400" y="4291246"/>
            <a:ext cx="6945300" cy="12516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936"/>
              <a:buFont typeface="Arial"/>
              <a:buNone/>
            </a:pPr>
            <a:r>
              <a:rPr b="0" i="0" lang="es-CL" sz="1936" u="none" cap="none" strike="noStrike">
                <a:solidFill>
                  <a:srgbClr val="CBD5E1"/>
                </a:solidFill>
                <a:latin typeface="Roboto"/>
                <a:ea typeface="Roboto"/>
                <a:cs typeface="Roboto"/>
                <a:sym typeface="Roboto"/>
              </a:rPr>
              <a:t>Nuestro perfil técnico permitió proponer una **Arquitectura Híbrida** (WordPress + PHP Nativo), priorizando la seguridad y el rendimiento.</a:t>
            </a:r>
            <a:endParaRPr b="0" i="0" sz="2126" u="none" cap="none" strike="noStrike">
              <a:solidFill>
                <a:srgbClr val="000000"/>
              </a:solidFill>
              <a:latin typeface="Arial"/>
              <a:ea typeface="Arial"/>
              <a:cs typeface="Arial"/>
              <a:sym typeface="Arial"/>
            </a:endParaRPr>
          </a:p>
        </p:txBody>
      </p:sp>
      <p:sp>
        <p:nvSpPr>
          <p:cNvPr id="660" name="Google Shape;660;g390f15d3519_1_6"/>
          <p:cNvSpPr txBox="1"/>
          <p:nvPr/>
        </p:nvSpPr>
        <p:spPr>
          <a:xfrm>
            <a:off x="2383400" y="5645019"/>
            <a:ext cx="6945300" cy="774900"/>
          </a:xfrm>
          <a:prstGeom prst="rect">
            <a:avLst/>
          </a:prstGeom>
          <a:noFill/>
          <a:ln>
            <a:noFill/>
          </a:ln>
        </p:spPr>
        <p:txBody>
          <a:bodyPr anchorCtr="0" anchor="t" bIns="0" lIns="0" spcFirstLastPara="1" rIns="0" wrap="square" tIns="0">
            <a:spAutoFit/>
          </a:bodyPr>
          <a:lstStyle/>
          <a:p>
            <a:pPr indent="0" lvl="0" marL="0" marR="0" rtl="0" algn="l">
              <a:lnSpc>
                <a:spcPct val="159921"/>
              </a:lnSpc>
              <a:spcBef>
                <a:spcPts val="0"/>
              </a:spcBef>
              <a:spcAft>
                <a:spcPts val="0"/>
              </a:spcAft>
              <a:buClr>
                <a:srgbClr val="000000"/>
              </a:buClr>
              <a:buSzPts val="1936"/>
              <a:buFont typeface="Arial"/>
              <a:buNone/>
            </a:pPr>
            <a:r>
              <a:rPr b="0" i="0" lang="es-CL" sz="1936" u="none" cap="none" strike="noStrike">
                <a:solidFill>
                  <a:srgbClr val="CBD5E1"/>
                </a:solidFill>
                <a:latin typeface="Roboto"/>
                <a:ea typeface="Roboto"/>
                <a:cs typeface="Roboto"/>
                <a:sym typeface="Roboto"/>
              </a:rPr>
              <a:t>El objetivo fue crear un **activo de software a medida** (la App de PHP), demostrando competencias en desarrollo full-stack.</a:t>
            </a:r>
            <a:endParaRPr b="0" i="0" sz="2126" u="none" cap="none" strike="noStrike">
              <a:solidFill>
                <a:srgbClr val="000000"/>
              </a:solidFill>
              <a:latin typeface="Arial"/>
              <a:ea typeface="Arial"/>
              <a:cs typeface="Arial"/>
              <a:sym typeface="Arial"/>
            </a:endParaRPr>
          </a:p>
        </p:txBody>
      </p:sp>
      <p:pic>
        <p:nvPicPr>
          <p:cNvPr descr="image.png" id="661" name="Google Shape;661;g390f15d3519_1_6"/>
          <p:cNvPicPr preferRelativeResize="0"/>
          <p:nvPr/>
        </p:nvPicPr>
        <p:blipFill rotWithShape="1">
          <a:blip r:embed="rId6">
            <a:alphaModFix/>
          </a:blip>
          <a:srcRect b="0" l="0" r="0" t="0"/>
          <a:stretch/>
        </p:blipFill>
        <p:spPr>
          <a:xfrm>
            <a:off x="10775512" y="2127201"/>
            <a:ext cx="434074" cy="347259"/>
          </a:xfrm>
          <a:prstGeom prst="rect">
            <a:avLst/>
          </a:prstGeom>
          <a:noFill/>
          <a:ln>
            <a:noFill/>
          </a:ln>
        </p:spPr>
      </p:pic>
      <p:sp>
        <p:nvSpPr>
          <p:cNvPr id="662" name="Google Shape;662;g390f15d3519_1_6"/>
          <p:cNvSpPr txBox="1"/>
          <p:nvPr/>
        </p:nvSpPr>
        <p:spPr>
          <a:xfrm>
            <a:off x="11209586" y="2937475"/>
            <a:ext cx="6945300" cy="973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Clr>
                <a:srgbClr val="000000"/>
              </a:buClr>
              <a:buSzPts val="1936"/>
              <a:buFont typeface="Arial"/>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Validar datos complejos como el RUT.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Implementación de **validación dual**: JavaScript (para UX) y PHP (para seguridad).</a:t>
            </a:r>
            <a:endParaRPr b="0" i="0" sz="2126" u="none" cap="none" strike="noStrike">
              <a:solidFill>
                <a:srgbClr val="000000"/>
              </a:solidFill>
              <a:latin typeface="Arial"/>
              <a:ea typeface="Arial"/>
              <a:cs typeface="Arial"/>
              <a:sym typeface="Arial"/>
            </a:endParaRPr>
          </a:p>
        </p:txBody>
      </p:sp>
      <p:sp>
        <p:nvSpPr>
          <p:cNvPr id="663" name="Google Shape;663;g390f15d3519_1_6"/>
          <p:cNvSpPr txBox="1"/>
          <p:nvPr/>
        </p:nvSpPr>
        <p:spPr>
          <a:xfrm>
            <a:off x="11209586" y="4291246"/>
            <a:ext cx="6945300" cy="9735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Clr>
                <a:srgbClr val="000000"/>
              </a:buClr>
              <a:buSzPts val="1936"/>
              <a:buFont typeface="Arial"/>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Proteger la base de datos de ataques.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Uso de **Sentencias Preparadas** para prevenir Inyección SQL en todos los formularios.</a:t>
            </a:r>
            <a:endParaRPr b="0" i="0" sz="2126" u="none" cap="none" strike="noStrike">
              <a:solidFill>
                <a:srgbClr val="000000"/>
              </a:solidFill>
              <a:latin typeface="Arial"/>
              <a:ea typeface="Arial"/>
              <a:cs typeface="Arial"/>
              <a:sym typeface="Arial"/>
            </a:endParaRPr>
          </a:p>
        </p:txBody>
      </p:sp>
      <p:sp>
        <p:nvSpPr>
          <p:cNvPr id="664" name="Google Shape;664;g390f15d3519_1_6"/>
          <p:cNvSpPr txBox="1"/>
          <p:nvPr/>
        </p:nvSpPr>
        <p:spPr>
          <a:xfrm>
            <a:off x="11209586" y="5645019"/>
            <a:ext cx="6945300" cy="1311300"/>
          </a:xfrm>
          <a:prstGeom prst="rect">
            <a:avLst/>
          </a:prstGeom>
          <a:noFill/>
          <a:ln>
            <a:noFill/>
          </a:ln>
        </p:spPr>
        <p:txBody>
          <a:bodyPr anchorCtr="0" anchor="t" bIns="0" lIns="0" spcFirstLastPara="1" rIns="0" wrap="square" tIns="0">
            <a:spAutoFit/>
          </a:bodyPr>
          <a:lstStyle/>
          <a:p>
            <a:pPr indent="0" lvl="0" marL="0" marR="0" rtl="0" algn="l">
              <a:lnSpc>
                <a:spcPct val="113277"/>
              </a:lnSpc>
              <a:spcBef>
                <a:spcPts val="0"/>
              </a:spcBef>
              <a:spcAft>
                <a:spcPts val="0"/>
              </a:spcAft>
              <a:buClr>
                <a:srgbClr val="000000"/>
              </a:buClr>
              <a:buSzPts val="1936"/>
              <a:buFont typeface="Arial"/>
              <a:buNone/>
            </a:pPr>
            <a:r>
              <a:rPr b="1" i="0" lang="es-CL" sz="1936" u="none" cap="none" strike="noStrike">
                <a:solidFill>
                  <a:srgbClr val="FFFFFF"/>
                </a:solidFill>
                <a:latin typeface="Roboto"/>
                <a:ea typeface="Roboto"/>
                <a:cs typeface="Roboto"/>
                <a:sym typeface="Roboto"/>
              </a:rPr>
              <a:t>Dificultad:</a:t>
            </a:r>
            <a:r>
              <a:rPr b="0" i="0" lang="es-CL" sz="1936" u="none" cap="none" strike="noStrike">
                <a:solidFill>
                  <a:srgbClr val="CBD5E1"/>
                </a:solidFill>
                <a:latin typeface="Roboto"/>
                <a:ea typeface="Roboto"/>
                <a:cs typeface="Roboto"/>
                <a:sym typeface="Roboto"/>
              </a:rPr>
              <a:t> Integrar dos sistemas (WordPress y PHP) de forma fluida. </a:t>
            </a:r>
            <a:br>
              <a:rPr b="0" i="0" lang="es-CL" sz="2734" u="none" cap="none" strike="noStrike">
                <a:solidFill>
                  <a:srgbClr val="000000"/>
                </a:solidFill>
                <a:latin typeface="Calibri"/>
                <a:ea typeface="Calibri"/>
                <a:cs typeface="Calibri"/>
                <a:sym typeface="Calibri"/>
              </a:rPr>
            </a:br>
            <a:r>
              <a:rPr b="1" i="0" lang="es-CL" sz="1936" u="none" cap="none" strike="noStrike">
                <a:solidFill>
                  <a:srgbClr val="FFFFFF"/>
                </a:solidFill>
                <a:latin typeface="Roboto"/>
                <a:ea typeface="Roboto"/>
                <a:cs typeface="Roboto"/>
                <a:sym typeface="Roboto"/>
              </a:rPr>
              <a:t>Solución:</a:t>
            </a:r>
            <a:r>
              <a:rPr b="0" i="0" lang="es-CL" sz="1936" u="none" cap="none" strike="noStrike">
                <a:solidFill>
                  <a:srgbClr val="CBD5E1"/>
                </a:solidFill>
                <a:latin typeface="Roboto"/>
                <a:ea typeface="Roboto"/>
                <a:cs typeface="Roboto"/>
                <a:sym typeface="Roboto"/>
              </a:rPr>
              <a:t> Creación de un **Panel de Admin unificado** con un sistema de **Sesiones (Login)**.</a:t>
            </a:r>
            <a:endParaRPr b="0" i="0" sz="2126" u="none" cap="none" strike="noStrike">
              <a:solidFill>
                <a:srgbClr val="000000"/>
              </a:solidFill>
              <a:latin typeface="Arial"/>
              <a:ea typeface="Arial"/>
              <a:cs typeface="Arial"/>
              <a:sym typeface="Arial"/>
            </a:endParaRPr>
          </a:p>
        </p:txBody>
      </p:sp>
      <p:pic>
        <p:nvPicPr>
          <p:cNvPr descr="image.png" id="665" name="Google Shape;665;g390f15d3519_1_6"/>
          <p:cNvPicPr preferRelativeResize="0"/>
          <p:nvPr/>
        </p:nvPicPr>
        <p:blipFill rotWithShape="1">
          <a:blip r:embed="rId7">
            <a:alphaModFix/>
          </a:blip>
          <a:srcRect b="0" l="0" r="0" t="0"/>
          <a:stretch/>
        </p:blipFill>
        <p:spPr>
          <a:xfrm>
            <a:off x="1949325" y="3009821"/>
            <a:ext cx="173630" cy="202568"/>
          </a:xfrm>
          <a:prstGeom prst="rect">
            <a:avLst/>
          </a:prstGeom>
          <a:noFill/>
          <a:ln>
            <a:noFill/>
          </a:ln>
        </p:spPr>
      </p:pic>
      <p:pic>
        <p:nvPicPr>
          <p:cNvPr descr="image.png" id="666" name="Google Shape;666;g390f15d3519_1_6"/>
          <p:cNvPicPr preferRelativeResize="0"/>
          <p:nvPr/>
        </p:nvPicPr>
        <p:blipFill rotWithShape="1">
          <a:blip r:embed="rId8">
            <a:alphaModFix/>
          </a:blip>
          <a:srcRect b="0" l="0" r="0" t="0"/>
          <a:stretch/>
        </p:blipFill>
        <p:spPr>
          <a:xfrm>
            <a:off x="1949325" y="4363592"/>
            <a:ext cx="173630" cy="202569"/>
          </a:xfrm>
          <a:prstGeom prst="rect">
            <a:avLst/>
          </a:prstGeom>
          <a:noFill/>
          <a:ln>
            <a:noFill/>
          </a:ln>
        </p:spPr>
      </p:pic>
      <p:pic>
        <p:nvPicPr>
          <p:cNvPr descr="image.png" id="667" name="Google Shape;667;g390f15d3519_1_6"/>
          <p:cNvPicPr preferRelativeResize="0"/>
          <p:nvPr/>
        </p:nvPicPr>
        <p:blipFill rotWithShape="1">
          <a:blip r:embed="rId9">
            <a:alphaModFix/>
          </a:blip>
          <a:srcRect b="0" l="0" r="0" t="0"/>
          <a:stretch/>
        </p:blipFill>
        <p:spPr>
          <a:xfrm>
            <a:off x="1949325" y="5717365"/>
            <a:ext cx="173630" cy="202569"/>
          </a:xfrm>
          <a:prstGeom prst="rect">
            <a:avLst/>
          </a:prstGeom>
          <a:noFill/>
          <a:ln>
            <a:noFill/>
          </a:ln>
        </p:spPr>
      </p:pic>
      <p:pic>
        <p:nvPicPr>
          <p:cNvPr descr="image.png" id="668" name="Google Shape;668;g390f15d3519_1_6"/>
          <p:cNvPicPr preferRelativeResize="0"/>
          <p:nvPr/>
        </p:nvPicPr>
        <p:blipFill rotWithShape="1">
          <a:blip r:embed="rId7">
            <a:alphaModFix/>
          </a:blip>
          <a:srcRect b="0" l="0" r="0" t="0"/>
          <a:stretch/>
        </p:blipFill>
        <p:spPr>
          <a:xfrm>
            <a:off x="10775512" y="3009821"/>
            <a:ext cx="173630" cy="202568"/>
          </a:xfrm>
          <a:prstGeom prst="rect">
            <a:avLst/>
          </a:prstGeom>
          <a:noFill/>
          <a:ln>
            <a:noFill/>
          </a:ln>
        </p:spPr>
      </p:pic>
      <p:pic>
        <p:nvPicPr>
          <p:cNvPr descr="image.png" id="669" name="Google Shape;669;g390f15d3519_1_6"/>
          <p:cNvPicPr preferRelativeResize="0"/>
          <p:nvPr/>
        </p:nvPicPr>
        <p:blipFill rotWithShape="1">
          <a:blip r:embed="rId8">
            <a:alphaModFix/>
          </a:blip>
          <a:srcRect b="0" l="0" r="0" t="0"/>
          <a:stretch/>
        </p:blipFill>
        <p:spPr>
          <a:xfrm>
            <a:off x="10775512" y="4363592"/>
            <a:ext cx="173630" cy="202569"/>
          </a:xfrm>
          <a:prstGeom prst="rect">
            <a:avLst/>
          </a:prstGeom>
          <a:noFill/>
          <a:ln>
            <a:noFill/>
          </a:ln>
        </p:spPr>
      </p:pic>
      <p:pic>
        <p:nvPicPr>
          <p:cNvPr descr="image.png" id="670" name="Google Shape;670;g390f15d3519_1_6"/>
          <p:cNvPicPr preferRelativeResize="0"/>
          <p:nvPr/>
        </p:nvPicPr>
        <p:blipFill rotWithShape="1">
          <a:blip r:embed="rId9">
            <a:alphaModFix/>
          </a:blip>
          <a:srcRect b="0" l="0" r="0" t="0"/>
          <a:stretch/>
        </p:blipFill>
        <p:spPr>
          <a:xfrm>
            <a:off x="10775512" y="5717365"/>
            <a:ext cx="173630" cy="202569"/>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g3a2ea1eac06_3_9"/>
          <p:cNvSpPr txBox="1"/>
          <p:nvPr>
            <p:ph type="title"/>
          </p:nvPr>
        </p:nvSpPr>
        <p:spPr>
          <a:xfrm>
            <a:off x="7549150" y="7250550"/>
            <a:ext cx="9020100" cy="92313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800"/>
              </a:spcBef>
              <a:spcAft>
                <a:spcPts val="0"/>
              </a:spcAft>
              <a:buSzPts val="1100"/>
              <a:buNone/>
            </a:pPr>
            <a:r>
              <a:rPr lang="es-CL" sz="6600">
                <a:solidFill>
                  <a:schemeClr val="lt1"/>
                </a:solidFill>
              </a:rPr>
              <a:t>Cierre</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rgbClr val="FFFFFF"/>
              </a:solidFill>
            </a:endParaRPr>
          </a:p>
          <a:p>
            <a:pPr indent="0" lvl="0" marL="0" rtl="0" algn="l">
              <a:lnSpc>
                <a:spcPct val="115000"/>
              </a:lnSpc>
              <a:spcBef>
                <a:spcPts val="1800"/>
              </a:spcBef>
              <a:spcAft>
                <a:spcPts val="0"/>
              </a:spcAft>
              <a:buSzPts val="1100"/>
              <a:buNone/>
            </a:pPr>
            <a:r>
              <a:t/>
            </a:r>
            <a:endParaRPr sz="6600">
              <a:solidFill>
                <a:schemeClr val="lt1"/>
              </a:solidFill>
            </a:endParaRPr>
          </a:p>
          <a:p>
            <a:pPr indent="0" lvl="0" marL="0" rtl="0" algn="l">
              <a:lnSpc>
                <a:spcPct val="115000"/>
              </a:lnSpc>
              <a:spcBef>
                <a:spcPts val="1800"/>
              </a:spcBef>
              <a:spcAft>
                <a:spcPts val="0"/>
              </a:spcAft>
              <a:buSzPts val="1100"/>
              <a:buNone/>
            </a:pPr>
            <a:r>
              <a:t/>
            </a:r>
            <a:endParaRPr sz="6600">
              <a:solidFill>
                <a:schemeClr val="lt1"/>
              </a:solidFill>
              <a:latin typeface="Roboto"/>
              <a:ea typeface="Roboto"/>
              <a:cs typeface="Roboto"/>
              <a:sym typeface="Roboto"/>
            </a:endParaRPr>
          </a:p>
          <a:p>
            <a:pPr indent="0" lvl="0" marL="0" rtl="0" algn="l">
              <a:lnSpc>
                <a:spcPct val="100000"/>
              </a:lnSpc>
              <a:spcBef>
                <a:spcPts val="400"/>
              </a:spcBef>
              <a:spcAft>
                <a:spcPts val="0"/>
              </a:spcAft>
              <a:buSzPts val="1400"/>
              <a:buNone/>
            </a:pPr>
            <a:r>
              <a:t/>
            </a:r>
            <a:endParaRPr sz="6600"/>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2022-07-20T19:15:37Z</dcterms:created>
  <dc:creator>Daniela Taito R.</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2022-07-20T00:00:00Z</vt:filetime>
  </property>
  <property fmtid="{D5CDD505-2E9C-101B-9397-08002B2CF9AE}" pid="3" name="Creator">
    <vt:lpwstr>Adobe Illustrator 26.3 (Macintosh)</vt:lpwstr>
  </property>
  <property fmtid="{D5CDD505-2E9C-101B-9397-08002B2CF9AE}" pid="4" name="CreatorVersion">
    <vt:lpwstr>21.0.0</vt:lpwstr>
  </property>
  <property fmtid="{D5CDD505-2E9C-101B-9397-08002B2CF9AE}" pid="5" name="LastSaved">
    <vt:filetime>2022-07-20T00:00:00Z</vt:filetime>
  </property>
  <property fmtid="{D5CDD505-2E9C-101B-9397-08002B2CF9AE}" pid="6" name="Producer">
    <vt:lpwstr>Adobe PDF library 15.00</vt:lpwstr>
  </property>
  <property fmtid="{D5CDD505-2E9C-101B-9397-08002B2CF9AE}" pid="7" name="ContentTypeId">
    <vt:lpwstr>0x010100018D87CEFA56DA42BF8E9E6D1D515907</vt:lpwstr>
  </property>
</Properties>
</file>