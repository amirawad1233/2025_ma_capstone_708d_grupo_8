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11309350" cx="20104100"/>
  <p:notesSz cx="20104100" cy="11309350"/>
  <p:embeddedFontLst>
    <p:embeddedFont>
      <p:font typeface="Roboto Slab"/>
      <p:regular r:id="rId50"/>
      <p:bold r:id="rId51"/>
    </p:embeddedFont>
    <p:embeddedFont>
      <p:font typeface="Roboto"/>
      <p:regular r:id="rId52"/>
      <p:bold r:id="rId53"/>
      <p:italic r:id="rId54"/>
      <p:boldItalic r:id="rId55"/>
    </p:embeddedFont>
    <p:embeddedFont>
      <p:font typeface="Arial Black"/>
      <p:regular r:id="rId56"/>
    </p:embeddedFon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61" roundtripDataSignature="AMtx7mhDXb6XZop3alvCi5l0SPSkfBt8w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MIR NICOLAS AWAD ASTORGA"/>
  <p:cmAuthor clrIdx="1" id="1" initials="" lastIdx="1" name="MARTIN . DIAZ ESTRAD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Mono-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Slab-bold.fntdata"/><Relationship Id="rId50" Type="http://schemas.openxmlformats.org/officeDocument/2006/relationships/font" Target="fonts/RobotoSlab-regular.fntdata"/><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5.xml"/><Relationship Id="rId55" Type="http://schemas.openxmlformats.org/officeDocument/2006/relationships/font" Target="fonts/Roboto-boldItalic.fntdata"/><Relationship Id="rId10" Type="http://schemas.openxmlformats.org/officeDocument/2006/relationships/slide" Target="slides/slide4.xml"/><Relationship Id="rId54" Type="http://schemas.openxmlformats.org/officeDocument/2006/relationships/font" Target="fonts/Roboto-italic.fntdata"/><Relationship Id="rId13" Type="http://schemas.openxmlformats.org/officeDocument/2006/relationships/slide" Target="slides/slide7.xml"/><Relationship Id="rId57" Type="http://schemas.openxmlformats.org/officeDocument/2006/relationships/font" Target="fonts/RobotoMono-regular.fntdata"/><Relationship Id="rId12" Type="http://schemas.openxmlformats.org/officeDocument/2006/relationships/slide" Target="slides/slide6.xml"/><Relationship Id="rId56" Type="http://schemas.openxmlformats.org/officeDocument/2006/relationships/font" Target="fonts/ArialBlack-regular.fntdata"/><Relationship Id="rId15" Type="http://schemas.openxmlformats.org/officeDocument/2006/relationships/slide" Target="slides/slide9.xml"/><Relationship Id="rId59" Type="http://schemas.openxmlformats.org/officeDocument/2006/relationships/font" Target="fonts/RobotoMono-italic.fntdata"/><Relationship Id="rId14" Type="http://schemas.openxmlformats.org/officeDocument/2006/relationships/slide" Target="slides/slide8.xml"/><Relationship Id="rId58" Type="http://schemas.openxmlformats.org/officeDocument/2006/relationships/font" Target="fonts/RobotoMono-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13T01:37:13.312">
    <p:pos x="6000" y="0"/>
    <p:text>:v</p:text>
    <p:extLst>
      <p:ext uri="{C676402C-5697-4E1C-873F-D02D1690AC5C}">
        <p15:threadingInfo timeZoneBias="0"/>
      </p:ext>
      <p:ext uri="http://customooxmlschemas.google.com/">
        <go:slidesCustomData xmlns:go="http://customooxmlschemas.google.com/" commentPostId="AAABtrsp0aA"/>
      </p:ext>
    </p:extLst>
  </p:cm>
  <p:cm authorId="1" idx="1" dt="2025-11-12T02:11:53.670">
    <p:pos x="6000" y="0"/>
    <p:text>_Marked as resolved_</p:text>
    <p:extLst>
      <p:ext uri="{C676402C-5697-4E1C-873F-D02D1690AC5C}">
        <p15:threadingInfo timeZoneBias="0">
          <p15:parentCm authorId="0" idx="1"/>
        </p15:threadingInfo>
      </p:ext>
      <p:ext uri="http://customooxmlschemas.google.com/">
        <go:slidesCustomData xmlns:go="http://customooxmlschemas.google.com/" commentPostId="AAABtrsp0aE"/>
      </p:ext>
    </p:extLst>
  </p:cm>
  <p:cm authorId="0" idx="2" dt="2025-11-13T01:37:13.312">
    <p:pos x="6000" y="0"/>
    <p:text>_Re-opened_
ola</p:text>
    <p:extLst>
      <p:ext uri="{C676402C-5697-4E1C-873F-D02D1690AC5C}">
        <p15:threadingInfo timeZoneBias="0">
          <p15:parentCm authorId="0" idx="1"/>
        </p15:threadingInfo>
      </p:ext>
      <p:ext uri="http://customooxmlschemas.google.com/">
        <go:slidesCustomData xmlns:go="http://customooxmlschemas.google.com/" commentPostId="AAABv6fhB3k"/>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8712200" cy="56673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11387138" y="0"/>
            <a:ext cx="8712200" cy="56673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742613"/>
            <a:ext cx="8712200" cy="566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11387138" y="10742613"/>
            <a:ext cx="8712200" cy="5667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L"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p3: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p4: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7: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8: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9: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0: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13: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4: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1: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5555b7c7b_2_21: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g3a5555b7c7b_2_2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5555b7c7b_0_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5555b7c7b_0_1: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a5555b7c7b_0_1: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5555b7c7b_2_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3a5555b7c7b_2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26a7b47d1_0_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3a26a7b47d1_0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15: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2ea1eac06_1_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a2ea1eac06_1_6: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g3a2ea1eac06_1_6: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90f15d3519_0_25: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90f15d3519_0_25: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390f15d3519_0_25: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2ea1eac06_1_268: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a2ea1eac06_1_268: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a2ea1eac06_1_268: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993719c3f7_2_7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993719c3f7_2_72: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g3993719c3f7_2_72: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d49c47d92_0_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d49c47d92_0_1: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g3ad49c47d92_0_1: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a2ea1eac06_0_57: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g3a2ea1eac06_0_57: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a27d2987dc_0_1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a27d2987dc_0_12: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g3a27d2987dc_0_12: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993719c3f7_1_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993719c3f7_1_2: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g3993719c3f7_1_2: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a2ea1eac06_0_28: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a2ea1eac06_0_28: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g3a2ea1eac06_0_28: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992a4233df_1_21: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7" name="Google Shape;547;g3992a4233df_1_2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992a4233df_1_1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992a4233df_1_16: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g3992a4233df_1_16: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a5555b7c7b_3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a5555b7c7b_3_0: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g3a5555b7c7b_3_0: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ae2f605cc2_1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ae2f605cc2_1_0: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g3ae2f605cc2_1_0: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992a4233df_1_4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992a4233df_1_4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992a4233df_1_35: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992a4233df_1_35: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g3992a4233df_1_35: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992a4233df_1_47: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g3992a4233df_1_47: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a2ea1eac06_2_13: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a2ea1eac06_2_13: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g3a2ea1eac06_2_13: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e1fe6db28_1_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ae1fe6db28_1_2: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g3ae1fe6db28_1_2: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5555b7c7b_2_5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a5555b7c7b_2_51: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g3a5555b7c7b_2_51: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a27d2987dc_0_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a27d2987dc_0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a27d2987dc_0_5: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a27d2987dc_0_5: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g3a27d2987dc_0_5: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992a4233df_1_107: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992a4233df_1_107: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g3992a4233df_1_107: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992a4233df_1_94: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992a4233df_1_94: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g3992a4233df_1_94: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992a4233df_1_99: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3992a4233df_1_99: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g3992a4233df_1_99: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992a4233df_1_6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g3992a4233df_1_6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90f15d3519_1_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90f15d3519_1_6: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s-CL" sz="1100">
                <a:latin typeface="Arial"/>
                <a:ea typeface="Arial"/>
                <a:cs typeface="Arial"/>
                <a:sym typeface="Arial"/>
              </a:rPr>
              <a:t>La modalidad Capstone nos impulsó a aplicar nuestro perfil full-stack en una </a:t>
            </a:r>
            <a:r>
              <a:rPr b="1" lang="es-CL" sz="1100">
                <a:latin typeface="Arial"/>
                <a:ea typeface="Arial"/>
                <a:cs typeface="Arial"/>
                <a:sym typeface="Arial"/>
              </a:rPr>
              <a:t>solución de ingeniería real</a:t>
            </a:r>
            <a:r>
              <a:rPr lang="es-CL" sz="1100">
                <a:latin typeface="Arial"/>
                <a:ea typeface="Arial"/>
                <a:cs typeface="Arial"/>
                <a:sym typeface="Arial"/>
              </a:rPr>
              <a:t>, proponiendo una </a:t>
            </a:r>
            <a:r>
              <a:rPr b="1" lang="es-CL" sz="1100">
                <a:latin typeface="Arial"/>
                <a:ea typeface="Arial"/>
                <a:cs typeface="Arial"/>
                <a:sym typeface="Arial"/>
              </a:rPr>
              <a:t>arquitectura híbrida</a:t>
            </a:r>
            <a:r>
              <a:rPr lang="es-CL" sz="1100">
                <a:latin typeface="Arial"/>
                <a:ea typeface="Arial"/>
                <a:cs typeface="Arial"/>
                <a:sym typeface="Arial"/>
              </a:rPr>
              <a:t> (WordPress + PHP Nativo) para priorizar la seguridad y el rendimiento. Superamos desafíos técnicos clave, como la validación dual del RUT (JS/PHP) y la protección contra Inyección SQL (Sentencias Preparadas). Este proyecto nos consolidó como desarrolladores full-stack, dándonos una madurez real sobre las ventajas de los sistemas desacoplados y la importancia de la UX/UI y la seguridad (SSL) como un estándar profesional. Para finalizar, solo resta forzar el HTTPS, iniciar el soporte post-implementación y entregar la documentación final.</a:t>
            </a:r>
            <a:endParaRPr/>
          </a:p>
        </p:txBody>
      </p:sp>
      <p:sp>
        <p:nvSpPr>
          <p:cNvPr id="697" name="Google Shape;697;g390f15d3519_1_6: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a2ea1eac06_3_9: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a2ea1eac06_3_9: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 Id="rId3"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15" name="Shape 15"/>
        <p:cNvGrpSpPr/>
        <p:nvPr/>
      </p:nvGrpSpPr>
      <p:grpSpPr>
        <a:xfrm>
          <a:off x="0" y="0"/>
          <a:ext cx="0" cy="0"/>
          <a:chOff x="0" y="0"/>
          <a:chExt cx="0" cy="0"/>
        </a:xfrm>
      </p:grpSpPr>
      <p:sp>
        <p:nvSpPr>
          <p:cNvPr id="16" name="Google Shape;16;p18"/>
          <p:cNvSpPr txBox="1"/>
          <p:nvPr>
            <p:ph type="title"/>
          </p:nvPr>
        </p:nvSpPr>
        <p:spPr>
          <a:xfrm>
            <a:off x="2432050" y="714594"/>
            <a:ext cx="16988263" cy="73866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p:nvPr/>
        </p:nvSpPr>
        <p:spPr>
          <a:xfrm>
            <a:off x="-6350" y="656116"/>
            <a:ext cx="2243455" cy="1060450"/>
          </a:xfrm>
          <a:custGeom>
            <a:rect b="b" l="l" r="r" t="t"/>
            <a:pathLst>
              <a:path extrusionOk="0" h="1060450" w="2243455">
                <a:moveTo>
                  <a:pt x="2243429" y="0"/>
                </a:moveTo>
                <a:lnTo>
                  <a:pt x="0" y="0"/>
                </a:lnTo>
                <a:lnTo>
                  <a:pt x="0" y="1059999"/>
                </a:lnTo>
                <a:lnTo>
                  <a:pt x="2243429" y="1059999"/>
                </a:lnTo>
                <a:lnTo>
                  <a:pt x="2243429" y="0"/>
                </a:lnTo>
                <a:close/>
              </a:path>
            </a:pathLst>
          </a:custGeom>
          <a:solidFill>
            <a:srgbClr val="257CE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 name="Google Shape;18;p18"/>
          <p:cNvSpPr/>
          <p:nvPr/>
        </p:nvSpPr>
        <p:spPr>
          <a:xfrm>
            <a:off x="16938421" y="10202309"/>
            <a:ext cx="1576070" cy="511175"/>
          </a:xfrm>
          <a:custGeom>
            <a:rect b="b" l="l" r="r" t="t"/>
            <a:pathLst>
              <a:path extrusionOk="0" h="511175" w="1576069">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extrusionOk="0" h="511175" w="1576069">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extrusionOk="0" h="511175" w="1576069">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extrusionOk="0" h="511175" w="1576069">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 name="Google Shape;19;p18"/>
          <p:cNvSpPr/>
          <p:nvPr/>
        </p:nvSpPr>
        <p:spPr>
          <a:xfrm>
            <a:off x="18623540" y="10245307"/>
            <a:ext cx="378460" cy="469900"/>
          </a:xfrm>
          <a:custGeom>
            <a:rect b="b" l="l" r="r" t="t"/>
            <a:pathLst>
              <a:path extrusionOk="0" h="469900" w="378459">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0" name="Google Shape;20;p18"/>
          <p:cNvGrpSpPr/>
          <p:nvPr/>
        </p:nvGrpSpPr>
        <p:grpSpPr>
          <a:xfrm>
            <a:off x="19053919" y="10117702"/>
            <a:ext cx="427015" cy="597582"/>
            <a:chOff x="19053919" y="10117702"/>
            <a:chExt cx="427015" cy="597582"/>
          </a:xfrm>
        </p:grpSpPr>
        <p:sp>
          <p:nvSpPr>
            <p:cNvPr id="21" name="Google Shape;21;p18"/>
            <p:cNvSpPr/>
            <p:nvPr/>
          </p:nvSpPr>
          <p:spPr>
            <a:xfrm>
              <a:off x="19053919" y="10237764"/>
              <a:ext cx="366395" cy="477520"/>
            </a:xfrm>
            <a:custGeom>
              <a:rect b="b" l="l" r="r" t="t"/>
              <a:pathLst>
                <a:path extrusionOk="0" h="477520" w="366394">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2" name="Google Shape;22;p18"/>
            <p:cNvPicPr preferRelativeResize="0"/>
            <p:nvPr/>
          </p:nvPicPr>
          <p:blipFill rotWithShape="1">
            <a:blip r:embed="rId2">
              <a:alphaModFix/>
            </a:blip>
            <a:srcRect b="0" l="0" r="0" t="0"/>
            <a:stretch/>
          </p:blipFill>
          <p:spPr>
            <a:xfrm>
              <a:off x="19368634" y="10117702"/>
              <a:ext cx="112300" cy="112268"/>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23" name="Shape 23"/>
        <p:cNvGrpSpPr/>
        <p:nvPr/>
      </p:nvGrpSpPr>
      <p:grpSpPr>
        <a:xfrm>
          <a:off x="0" y="0"/>
          <a:ext cx="0" cy="0"/>
          <a:chOff x="0" y="0"/>
          <a:chExt cx="0" cy="0"/>
        </a:xfrm>
      </p:grpSpPr>
      <p:pic>
        <p:nvPicPr>
          <p:cNvPr id="24" name="Google Shape;24;p19"/>
          <p:cNvPicPr preferRelativeResize="0"/>
          <p:nvPr/>
        </p:nvPicPr>
        <p:blipFill rotWithShape="1">
          <a:blip r:embed="rId2">
            <a:alphaModFix/>
          </a:blip>
          <a:srcRect b="0" l="0" r="0" t="0"/>
          <a:stretch/>
        </p:blipFill>
        <p:spPr>
          <a:xfrm>
            <a:off x="0" y="396"/>
            <a:ext cx="20104810" cy="11308953"/>
          </a:xfrm>
          <a:prstGeom prst="rect">
            <a:avLst/>
          </a:prstGeom>
          <a:noFill/>
          <a:ln>
            <a:noFill/>
          </a:ln>
        </p:spPr>
      </p:pic>
      <p:sp>
        <p:nvSpPr>
          <p:cNvPr id="25" name="Google Shape;25;p19"/>
          <p:cNvSpPr txBox="1"/>
          <p:nvPr>
            <p:ph type="ctrTitle"/>
          </p:nvPr>
        </p:nvSpPr>
        <p:spPr>
          <a:xfrm>
            <a:off x="2838209" y="8700548"/>
            <a:ext cx="6781800" cy="5847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3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 type="subTitle"/>
          </p:nvPr>
        </p:nvSpPr>
        <p:spPr>
          <a:xfrm>
            <a:off x="2838209" y="9612314"/>
            <a:ext cx="8712681" cy="36933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24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p:nvPr/>
        </p:nvSpPr>
        <p:spPr>
          <a:xfrm>
            <a:off x="2838209" y="9464675"/>
            <a:ext cx="8841105" cy="0"/>
          </a:xfrm>
          <a:custGeom>
            <a:rect b="b" l="l" r="r" t="t"/>
            <a:pathLst>
              <a:path extrusionOk="0" h="120000" w="8841105">
                <a:moveTo>
                  <a:pt x="0" y="0"/>
                </a:moveTo>
                <a:lnTo>
                  <a:pt x="8840652" y="0"/>
                </a:lnTo>
              </a:path>
            </a:pathLst>
          </a:custGeom>
          <a:noFill/>
          <a:ln cap="flat" cmpd="sng" w="10450">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8" name="Shape 28"/>
        <p:cNvGrpSpPr/>
        <p:nvPr/>
      </p:nvGrpSpPr>
      <p:grpSpPr>
        <a:xfrm>
          <a:off x="0" y="0"/>
          <a:ext cx="0" cy="0"/>
          <a:chOff x="0" y="0"/>
          <a:chExt cx="0" cy="0"/>
        </a:xfrm>
      </p:grpSpPr>
      <p:pic>
        <p:nvPicPr>
          <p:cNvPr id="29" name="Google Shape;29;p20"/>
          <p:cNvPicPr preferRelativeResize="0"/>
          <p:nvPr/>
        </p:nvPicPr>
        <p:blipFill rotWithShape="1">
          <a:blip r:embed="rId2">
            <a:alphaModFix/>
          </a:blip>
          <a:srcRect b="0" l="0" r="0" t="0"/>
          <a:stretch/>
        </p:blipFill>
        <p:spPr>
          <a:xfrm>
            <a:off x="3362" y="0"/>
            <a:ext cx="20097375" cy="11309350"/>
          </a:xfrm>
          <a:prstGeom prst="rect">
            <a:avLst/>
          </a:prstGeom>
          <a:noFill/>
          <a:ln>
            <a:noFill/>
          </a:ln>
        </p:spPr>
      </p:pic>
      <p:sp>
        <p:nvSpPr>
          <p:cNvPr id="30" name="Google Shape;30;p20"/>
          <p:cNvSpPr txBox="1"/>
          <p:nvPr>
            <p:ph type="title"/>
          </p:nvPr>
        </p:nvSpPr>
        <p:spPr>
          <a:xfrm>
            <a:off x="6851650" y="7483475"/>
            <a:ext cx="9782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pic>
        <p:nvPicPr>
          <p:cNvPr id="32" name="Google Shape;32;p21"/>
          <p:cNvPicPr preferRelativeResize="0"/>
          <p:nvPr/>
        </p:nvPicPr>
        <p:blipFill rotWithShape="1">
          <a:blip r:embed="rId2">
            <a:alphaModFix/>
          </a:blip>
          <a:srcRect b="0" l="0" r="0" t="0"/>
          <a:stretch/>
        </p:blipFill>
        <p:spPr>
          <a:xfrm>
            <a:off x="3362" y="0"/>
            <a:ext cx="20097375" cy="11309350"/>
          </a:xfrm>
          <a:prstGeom prst="rect">
            <a:avLst/>
          </a:prstGeom>
          <a:noFill/>
          <a:ln>
            <a:noFill/>
          </a:ln>
        </p:spPr>
      </p:pic>
      <p:sp>
        <p:nvSpPr>
          <p:cNvPr id="33" name="Google Shape;33;p21"/>
          <p:cNvSpPr txBox="1"/>
          <p:nvPr>
            <p:ph type="title"/>
          </p:nvPr>
        </p:nvSpPr>
        <p:spPr>
          <a:xfrm>
            <a:off x="4794250" y="6950075"/>
            <a:ext cx="9782022" cy="153888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SzPts val="1400"/>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pic>
        <p:nvPicPr>
          <p:cNvPr id="35" name="Google Shape;35;p22"/>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36" name="Google Shape;36;p22"/>
          <p:cNvPicPr preferRelativeResize="0"/>
          <p:nvPr/>
        </p:nvPicPr>
        <p:blipFill rotWithShape="1">
          <a:blip r:embed="rId3">
            <a:alphaModFix/>
          </a:blip>
          <a:srcRect b="0" l="0" r="0" t="0"/>
          <a:stretch/>
        </p:blipFill>
        <p:spPr>
          <a:xfrm>
            <a:off x="0" y="3340"/>
            <a:ext cx="20109342" cy="11305614"/>
          </a:xfrm>
          <a:prstGeom prst="rect">
            <a:avLst/>
          </a:prstGeom>
          <a:noFill/>
          <a:ln>
            <a:noFill/>
          </a:ln>
        </p:spPr>
      </p:pic>
      <p:sp>
        <p:nvSpPr>
          <p:cNvPr id="37" name="Google Shape;37;p22"/>
          <p:cNvSpPr/>
          <p:nvPr/>
        </p:nvSpPr>
        <p:spPr>
          <a:xfrm>
            <a:off x="755650" y="6264275"/>
            <a:ext cx="9892434" cy="2286000"/>
          </a:xfrm>
          <a:prstGeom prst="rect">
            <a:avLst/>
          </a:prstGeom>
          <a:solidFill>
            <a:schemeClr val="dk1">
              <a:alpha val="5843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8" name="Google Shape;38;p22"/>
          <p:cNvSpPr txBox="1"/>
          <p:nvPr>
            <p:ph type="title"/>
          </p:nvPr>
        </p:nvSpPr>
        <p:spPr>
          <a:xfrm>
            <a:off x="1184428" y="6591401"/>
            <a:ext cx="9020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solidFill>
                  <a:srgbClr val="257CE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 name="Shape 39"/>
        <p:cNvGrpSpPr/>
        <p:nvPr/>
      </p:nvGrpSpPr>
      <p:grpSpPr>
        <a:xfrm>
          <a:off x="0" y="0"/>
          <a:ext cx="0" cy="0"/>
          <a:chOff x="0" y="0"/>
          <a:chExt cx="0" cy="0"/>
        </a:xfrm>
      </p:grpSpPr>
      <p:sp>
        <p:nvSpPr>
          <p:cNvPr id="40" name="Google Shape;40;p23"/>
          <p:cNvSpPr/>
          <p:nvPr/>
        </p:nvSpPr>
        <p:spPr>
          <a:xfrm>
            <a:off x="727227" y="10202309"/>
            <a:ext cx="1576070" cy="511175"/>
          </a:xfrm>
          <a:custGeom>
            <a:rect b="b" l="l" r="r" t="t"/>
            <a:pathLst>
              <a:path extrusionOk="0" h="511175" w="1576070">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extrusionOk="0" h="511175" w="1576070">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extrusionOk="0" h="511175" w="1576070">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extrusionOk="0" h="511175" w="1576070">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 name="Google Shape;41;p23"/>
          <p:cNvSpPr/>
          <p:nvPr/>
        </p:nvSpPr>
        <p:spPr>
          <a:xfrm>
            <a:off x="2412348" y="10245307"/>
            <a:ext cx="378460" cy="469900"/>
          </a:xfrm>
          <a:custGeom>
            <a:rect b="b" l="l" r="r" t="t"/>
            <a:pathLst>
              <a:path extrusionOk="0" h="469900" w="37846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2" name="Google Shape;42;p23"/>
          <p:cNvGrpSpPr/>
          <p:nvPr/>
        </p:nvGrpSpPr>
        <p:grpSpPr>
          <a:xfrm>
            <a:off x="2842727" y="10117702"/>
            <a:ext cx="427015" cy="597582"/>
            <a:chOff x="2842727" y="10117702"/>
            <a:chExt cx="427015" cy="597582"/>
          </a:xfrm>
        </p:grpSpPr>
        <p:sp>
          <p:nvSpPr>
            <p:cNvPr id="43" name="Google Shape;43;p23"/>
            <p:cNvSpPr/>
            <p:nvPr/>
          </p:nvSpPr>
          <p:spPr>
            <a:xfrm>
              <a:off x="2842727" y="10237764"/>
              <a:ext cx="366395" cy="477520"/>
            </a:xfrm>
            <a:custGeom>
              <a:rect b="b" l="l" r="r" t="t"/>
              <a:pathLst>
                <a:path extrusionOk="0" h="477520" w="366394">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4" name="Google Shape;44;p23"/>
            <p:cNvPicPr preferRelativeResize="0"/>
            <p:nvPr/>
          </p:nvPicPr>
          <p:blipFill rotWithShape="1">
            <a:blip r:embed="rId2">
              <a:alphaModFix/>
            </a:blip>
            <a:srcRect b="0" l="0" r="0" t="0"/>
            <a:stretch/>
          </p:blipFill>
          <p:spPr>
            <a:xfrm>
              <a:off x="3157442" y="10117702"/>
              <a:ext cx="112300" cy="112268"/>
            </a:xfrm>
            <a:prstGeom prst="rect">
              <a:avLst/>
            </a:prstGeom>
            <a:noFill/>
            <a:ln>
              <a:noFill/>
            </a:ln>
          </p:spPr>
        </p:pic>
      </p:grpSp>
      <p:sp>
        <p:nvSpPr>
          <p:cNvPr id="45" name="Google Shape;45;p23"/>
          <p:cNvSpPr/>
          <p:nvPr/>
        </p:nvSpPr>
        <p:spPr>
          <a:xfrm>
            <a:off x="17840597" y="656116"/>
            <a:ext cx="2243455" cy="1060450"/>
          </a:xfrm>
          <a:custGeom>
            <a:rect b="b" l="l" r="r" t="t"/>
            <a:pathLst>
              <a:path extrusionOk="0" h="1060450" w="2243455">
                <a:moveTo>
                  <a:pt x="2243429" y="0"/>
                </a:moveTo>
                <a:lnTo>
                  <a:pt x="0" y="0"/>
                </a:lnTo>
                <a:lnTo>
                  <a:pt x="0" y="1059999"/>
                </a:lnTo>
                <a:lnTo>
                  <a:pt x="2243429" y="1059999"/>
                </a:lnTo>
                <a:lnTo>
                  <a:pt x="2243429" y="0"/>
                </a:lnTo>
                <a:close/>
              </a:path>
            </a:pathLst>
          </a:custGeom>
          <a:solidFill>
            <a:srgbClr val="257CE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 name="Google Shape;46;p23"/>
          <p:cNvSpPr txBox="1"/>
          <p:nvPr>
            <p:ph idx="1" type="body"/>
          </p:nvPr>
        </p:nvSpPr>
        <p:spPr>
          <a:xfrm>
            <a:off x="727227" y="755454"/>
            <a:ext cx="16792423" cy="738664"/>
          </a:xfrm>
          <a:prstGeom prst="rect">
            <a:avLst/>
          </a:prstGeom>
          <a:noFill/>
          <a:ln>
            <a:noFill/>
          </a:ln>
        </p:spPr>
        <p:txBody>
          <a:bodyPr anchorCtr="0" anchor="t" bIns="0" lIns="0" spcFirstLastPara="1" rIns="0" wrap="square" tIns="0">
            <a:spAutoFit/>
          </a:bodyPr>
          <a:lstStyle>
            <a:lvl1pPr indent="-228600" lvl="0" marL="457200" algn="r">
              <a:lnSpc>
                <a:spcPct val="100000"/>
              </a:lnSpc>
              <a:spcBef>
                <a:spcPts val="0"/>
              </a:spcBef>
              <a:spcAft>
                <a:spcPts val="0"/>
              </a:spcAft>
              <a:buSzPts val="1400"/>
              <a:buNone/>
              <a:defRPr b="1" sz="48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seño personalizado">
  <p:cSld name="5_Diseño personalizado">
    <p:spTree>
      <p:nvGrpSpPr>
        <p:cNvPr id="47" name="Shape 47"/>
        <p:cNvGrpSpPr/>
        <p:nvPr/>
      </p:nvGrpSpPr>
      <p:grpSpPr>
        <a:xfrm>
          <a:off x="0" y="0"/>
          <a:ext cx="0" cy="0"/>
          <a:chOff x="0" y="0"/>
          <a:chExt cx="0" cy="0"/>
        </a:xfrm>
      </p:grpSpPr>
      <p:pic>
        <p:nvPicPr>
          <p:cNvPr id="48" name="Google Shape;48;p24"/>
          <p:cNvPicPr preferRelativeResize="0"/>
          <p:nvPr/>
        </p:nvPicPr>
        <p:blipFill rotWithShape="1">
          <a:blip r:embed="rId2">
            <a:alphaModFix/>
          </a:blip>
          <a:srcRect b="0" l="0" r="0" t="0"/>
          <a:stretch/>
        </p:blipFill>
        <p:spPr>
          <a:xfrm>
            <a:off x="-1" y="3340"/>
            <a:ext cx="20110047" cy="11306010"/>
          </a:xfrm>
          <a:prstGeom prst="rect">
            <a:avLst/>
          </a:prstGeom>
          <a:noFill/>
          <a:ln>
            <a:noFill/>
          </a:ln>
        </p:spPr>
      </p:pic>
      <p:sp>
        <p:nvSpPr>
          <p:cNvPr id="49" name="Google Shape;49;p24"/>
          <p:cNvSpPr txBox="1"/>
          <p:nvPr>
            <p:ph type="title"/>
          </p:nvPr>
        </p:nvSpPr>
        <p:spPr>
          <a:xfrm>
            <a:off x="831850" y="7178675"/>
            <a:ext cx="9782022" cy="153888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SzPts val="1400"/>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iseño personalizado">
  <p:cSld name="6_Diseño personalizado">
    <p:spTree>
      <p:nvGrpSpPr>
        <p:cNvPr id="50" name="Shape 50"/>
        <p:cNvGrpSpPr/>
        <p:nvPr/>
      </p:nvGrpSpPr>
      <p:grpSpPr>
        <a:xfrm>
          <a:off x="0" y="0"/>
          <a:ext cx="0" cy="0"/>
          <a:chOff x="0" y="0"/>
          <a:chExt cx="0" cy="0"/>
        </a:xfrm>
      </p:grpSpPr>
      <p:pic>
        <p:nvPicPr>
          <p:cNvPr id="51" name="Google Shape;51;p25"/>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52" name="Google Shape;52;p25"/>
          <p:cNvPicPr preferRelativeResize="0"/>
          <p:nvPr/>
        </p:nvPicPr>
        <p:blipFill rotWithShape="1">
          <a:blip r:embed="rId3">
            <a:alphaModFix/>
          </a:blip>
          <a:srcRect b="0" l="0" r="0" t="0"/>
          <a:stretch/>
        </p:blipFill>
        <p:spPr>
          <a:xfrm>
            <a:off x="3362" y="0"/>
            <a:ext cx="20097375" cy="11309350"/>
          </a:xfrm>
          <a:prstGeom prst="rect">
            <a:avLst/>
          </a:prstGeom>
          <a:noFill/>
          <a:ln>
            <a:noFill/>
          </a:ln>
        </p:spPr>
      </p:pic>
      <p:sp>
        <p:nvSpPr>
          <p:cNvPr id="53" name="Google Shape;53;p25"/>
          <p:cNvSpPr/>
          <p:nvPr/>
        </p:nvSpPr>
        <p:spPr>
          <a:xfrm>
            <a:off x="7232650" y="7880350"/>
            <a:ext cx="9892434" cy="2286000"/>
          </a:xfrm>
          <a:prstGeom prst="rect">
            <a:avLst/>
          </a:prstGeom>
          <a:solidFill>
            <a:schemeClr val="dk1">
              <a:alpha val="5843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 name="Google Shape;54;p25"/>
          <p:cNvSpPr txBox="1"/>
          <p:nvPr>
            <p:ph type="title"/>
          </p:nvPr>
        </p:nvSpPr>
        <p:spPr>
          <a:xfrm>
            <a:off x="7661428" y="8207476"/>
            <a:ext cx="9020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solidFill>
                  <a:srgbClr val="257CE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seño personalizado">
  <p:cSld name="4_Diseño personalizado">
    <p:spTree>
      <p:nvGrpSpPr>
        <p:cNvPr id="55" name="Shape 55"/>
        <p:cNvGrpSpPr/>
        <p:nvPr/>
      </p:nvGrpSpPr>
      <p:grpSpPr>
        <a:xfrm>
          <a:off x="0" y="0"/>
          <a:ext cx="0" cy="0"/>
          <a:chOff x="0" y="0"/>
          <a:chExt cx="0" cy="0"/>
        </a:xfrm>
      </p:grpSpPr>
      <p:pic>
        <p:nvPicPr>
          <p:cNvPr id="56" name="Google Shape;56;p26"/>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57" name="Google Shape;57;p26"/>
          <p:cNvPicPr preferRelativeResize="0"/>
          <p:nvPr/>
        </p:nvPicPr>
        <p:blipFill rotWithShape="1">
          <a:blip r:embed="rId3">
            <a:alphaModFix/>
          </a:blip>
          <a:srcRect b="0" l="0" r="0" t="0"/>
          <a:stretch/>
        </p:blipFill>
        <p:spPr>
          <a:xfrm>
            <a:off x="3362" y="0"/>
            <a:ext cx="20097375" cy="11309350"/>
          </a:xfrm>
          <a:prstGeom prst="rect">
            <a:avLst/>
          </a:prstGeom>
          <a:noFill/>
          <a:ln>
            <a:noFill/>
          </a:ln>
        </p:spPr>
      </p:pic>
      <p:sp>
        <p:nvSpPr>
          <p:cNvPr id="58" name="Google Shape;58;p26"/>
          <p:cNvSpPr/>
          <p:nvPr/>
        </p:nvSpPr>
        <p:spPr>
          <a:xfrm>
            <a:off x="4413250" y="4206875"/>
            <a:ext cx="9892434" cy="2286000"/>
          </a:xfrm>
          <a:prstGeom prst="rect">
            <a:avLst/>
          </a:prstGeom>
          <a:solidFill>
            <a:schemeClr val="dk1">
              <a:alpha val="5843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 name="Google Shape;59;p26"/>
          <p:cNvSpPr txBox="1"/>
          <p:nvPr>
            <p:ph type="title"/>
          </p:nvPr>
        </p:nvSpPr>
        <p:spPr>
          <a:xfrm>
            <a:off x="4842028" y="4534001"/>
            <a:ext cx="9020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solidFill>
                  <a:srgbClr val="257CE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60" name="Shape 60"/>
        <p:cNvGrpSpPr/>
        <p:nvPr/>
      </p:nvGrpSpPr>
      <p:grpSpPr>
        <a:xfrm>
          <a:off x="0" y="0"/>
          <a:ext cx="0" cy="0"/>
          <a:chOff x="0" y="0"/>
          <a:chExt cx="0" cy="0"/>
        </a:xfrm>
      </p:grpSpPr>
      <p:pic>
        <p:nvPicPr>
          <p:cNvPr id="61" name="Google Shape;61;p27"/>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62" name="Google Shape;62;p27"/>
          <p:cNvPicPr preferRelativeResize="0"/>
          <p:nvPr/>
        </p:nvPicPr>
        <p:blipFill rotWithShape="1">
          <a:blip r:embed="rId3">
            <a:alphaModFix/>
          </a:blip>
          <a:srcRect b="0" l="0" r="0" t="0"/>
          <a:stretch/>
        </p:blipFill>
        <p:spPr>
          <a:xfrm>
            <a:off x="3362" y="0"/>
            <a:ext cx="20097375" cy="11309350"/>
          </a:xfrm>
          <a:prstGeom prst="rect">
            <a:avLst/>
          </a:prstGeom>
          <a:noFill/>
          <a:ln>
            <a:noFill/>
          </a:ln>
        </p:spPr>
      </p:pic>
      <p:sp>
        <p:nvSpPr>
          <p:cNvPr id="63" name="Google Shape;63;p27"/>
          <p:cNvSpPr/>
          <p:nvPr/>
        </p:nvSpPr>
        <p:spPr>
          <a:xfrm>
            <a:off x="7004050" y="7331075"/>
            <a:ext cx="9892434" cy="2286000"/>
          </a:xfrm>
          <a:prstGeom prst="rect">
            <a:avLst/>
          </a:prstGeom>
          <a:solidFill>
            <a:schemeClr val="dk1">
              <a:alpha val="5843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 name="Google Shape;64;p27"/>
          <p:cNvSpPr txBox="1"/>
          <p:nvPr>
            <p:ph type="title"/>
          </p:nvPr>
        </p:nvSpPr>
        <p:spPr>
          <a:xfrm>
            <a:off x="7432828" y="7658201"/>
            <a:ext cx="9020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solidFill>
                  <a:srgbClr val="257CE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seño personalizado">
  <p:cSld name="3_Diseño personalizado">
    <p:spTree>
      <p:nvGrpSpPr>
        <p:cNvPr id="65" name="Shape 65"/>
        <p:cNvGrpSpPr/>
        <p:nvPr/>
      </p:nvGrpSpPr>
      <p:grpSpPr>
        <a:xfrm>
          <a:off x="0" y="0"/>
          <a:ext cx="0" cy="0"/>
          <a:chOff x="0" y="0"/>
          <a:chExt cx="0" cy="0"/>
        </a:xfrm>
      </p:grpSpPr>
      <p:pic>
        <p:nvPicPr>
          <p:cNvPr id="66" name="Google Shape;66;p28"/>
          <p:cNvPicPr preferRelativeResize="0"/>
          <p:nvPr/>
        </p:nvPicPr>
        <p:blipFill rotWithShape="1">
          <a:blip r:embed="rId2">
            <a:alphaModFix/>
          </a:blip>
          <a:srcRect b="0" l="0" r="0" t="0"/>
          <a:stretch/>
        </p:blipFill>
        <p:spPr>
          <a:xfrm>
            <a:off x="3362" y="0"/>
            <a:ext cx="20097375" cy="11309350"/>
          </a:xfrm>
          <a:prstGeom prst="rect">
            <a:avLst/>
          </a:prstGeom>
          <a:noFill/>
          <a:ln>
            <a:noFill/>
          </a:ln>
        </p:spPr>
      </p:pic>
      <p:sp>
        <p:nvSpPr>
          <p:cNvPr id="67" name="Google Shape;67;p28"/>
          <p:cNvSpPr txBox="1"/>
          <p:nvPr>
            <p:ph type="title"/>
          </p:nvPr>
        </p:nvSpPr>
        <p:spPr>
          <a:xfrm>
            <a:off x="6623050" y="7026275"/>
            <a:ext cx="9782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68" name="Shape 6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69" name="Shape 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12314421" y="714594"/>
            <a:ext cx="5259705" cy="91566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5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17"/>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7"/>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17"/>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5.png"/><Relationship Id="rId5" Type="http://schemas.openxmlformats.org/officeDocument/2006/relationships/image" Target="../media/image82.png"/><Relationship Id="rId6"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8.png"/><Relationship Id="rId13" Type="http://schemas.openxmlformats.org/officeDocument/2006/relationships/image" Target="../media/image35.png"/><Relationship Id="rId12"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 Id="rId9" Type="http://schemas.openxmlformats.org/officeDocument/2006/relationships/image" Target="../media/image26.png"/><Relationship Id="rId5" Type="http://schemas.openxmlformats.org/officeDocument/2006/relationships/image" Target="../media/image32.png"/><Relationship Id="rId6" Type="http://schemas.openxmlformats.org/officeDocument/2006/relationships/image" Target="../media/image30.png"/><Relationship Id="rId7" Type="http://schemas.openxmlformats.org/officeDocument/2006/relationships/image" Target="../media/image27.png"/><Relationship Id="rId8"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33.png"/><Relationship Id="rId7" Type="http://schemas.openxmlformats.org/officeDocument/2006/relationships/image" Target="../media/image40.png"/><Relationship Id="rId8" Type="http://schemas.openxmlformats.org/officeDocument/2006/relationships/image" Target="../media/image44.png"/></Relationships>
</file>

<file path=ppt/slides/_rels/slide20.xml.rels><?xml version="1.0" encoding="UTF-8" standalone="yes"?><Relationships xmlns="http://schemas.openxmlformats.org/package/2006/relationships"><Relationship Id="rId11" Type="http://schemas.openxmlformats.org/officeDocument/2006/relationships/image" Target="../media/image72.png"/><Relationship Id="rId10" Type="http://schemas.openxmlformats.org/officeDocument/2006/relationships/image" Target="../media/image54.png"/><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64.png"/><Relationship Id="rId4" Type="http://schemas.openxmlformats.org/officeDocument/2006/relationships/image" Target="../media/image46.png"/><Relationship Id="rId9" Type="http://schemas.openxmlformats.org/officeDocument/2006/relationships/image" Target="../media/image47.png"/><Relationship Id="rId5" Type="http://schemas.openxmlformats.org/officeDocument/2006/relationships/image" Target="../media/image58.png"/><Relationship Id="rId6" Type="http://schemas.openxmlformats.org/officeDocument/2006/relationships/image" Target="../media/image49.png"/><Relationship Id="rId7" Type="http://schemas.openxmlformats.org/officeDocument/2006/relationships/image" Target="../media/image48.png"/><Relationship Id="rId8" Type="http://schemas.openxmlformats.org/officeDocument/2006/relationships/image" Target="../media/image50.png"/></Relationships>
</file>

<file path=ppt/slides/_rels/slide21.xml.rels><?xml version="1.0" encoding="UTF-8" standalone="yes"?><Relationships xmlns="http://schemas.openxmlformats.org/package/2006/relationships"><Relationship Id="rId11" Type="http://schemas.openxmlformats.org/officeDocument/2006/relationships/image" Target="../media/image72.png"/><Relationship Id="rId10" Type="http://schemas.openxmlformats.org/officeDocument/2006/relationships/image" Target="../media/image54.png"/><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64.png"/><Relationship Id="rId4" Type="http://schemas.openxmlformats.org/officeDocument/2006/relationships/image" Target="../media/image46.png"/><Relationship Id="rId9" Type="http://schemas.openxmlformats.org/officeDocument/2006/relationships/image" Target="../media/image47.png"/><Relationship Id="rId5" Type="http://schemas.openxmlformats.org/officeDocument/2006/relationships/image" Target="../media/image58.png"/><Relationship Id="rId6" Type="http://schemas.openxmlformats.org/officeDocument/2006/relationships/image" Target="../media/image49.png"/><Relationship Id="rId7" Type="http://schemas.openxmlformats.org/officeDocument/2006/relationships/image" Target="../media/image48.png"/><Relationship Id="rId8" Type="http://schemas.openxmlformats.org/officeDocument/2006/relationships/image" Target="../media/image50.png"/></Relationships>
</file>

<file path=ppt/slides/_rels/slide22.xml.rels><?xml version="1.0" encoding="UTF-8" standalone="yes"?><Relationships xmlns="http://schemas.openxmlformats.org/package/2006/relationships"><Relationship Id="rId20" Type="http://schemas.openxmlformats.org/officeDocument/2006/relationships/image" Target="../media/image71.png"/><Relationship Id="rId11" Type="http://schemas.openxmlformats.org/officeDocument/2006/relationships/image" Target="../media/image73.png"/><Relationship Id="rId22" Type="http://schemas.openxmlformats.org/officeDocument/2006/relationships/image" Target="../media/image68.png"/><Relationship Id="rId10" Type="http://schemas.openxmlformats.org/officeDocument/2006/relationships/image" Target="../media/image57.png"/><Relationship Id="rId21" Type="http://schemas.openxmlformats.org/officeDocument/2006/relationships/image" Target="../media/image69.png"/><Relationship Id="rId13" Type="http://schemas.openxmlformats.org/officeDocument/2006/relationships/image" Target="../media/image65.png"/><Relationship Id="rId12" Type="http://schemas.openxmlformats.org/officeDocument/2006/relationships/image" Target="../media/image61.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5.png"/><Relationship Id="rId4" Type="http://schemas.openxmlformats.org/officeDocument/2006/relationships/image" Target="../media/image53.png"/><Relationship Id="rId9" Type="http://schemas.openxmlformats.org/officeDocument/2006/relationships/image" Target="../media/image66.png"/><Relationship Id="rId15" Type="http://schemas.openxmlformats.org/officeDocument/2006/relationships/image" Target="../media/image63.png"/><Relationship Id="rId14" Type="http://schemas.openxmlformats.org/officeDocument/2006/relationships/image" Target="../media/image60.png"/><Relationship Id="rId17" Type="http://schemas.openxmlformats.org/officeDocument/2006/relationships/image" Target="../media/image81.png"/><Relationship Id="rId16" Type="http://schemas.openxmlformats.org/officeDocument/2006/relationships/image" Target="../media/image62.png"/><Relationship Id="rId5" Type="http://schemas.openxmlformats.org/officeDocument/2006/relationships/image" Target="../media/image52.png"/><Relationship Id="rId19" Type="http://schemas.openxmlformats.org/officeDocument/2006/relationships/image" Target="../media/image78.png"/><Relationship Id="rId6" Type="http://schemas.openxmlformats.org/officeDocument/2006/relationships/image" Target="../media/image51.png"/><Relationship Id="rId18" Type="http://schemas.openxmlformats.org/officeDocument/2006/relationships/image" Target="../media/image74.png"/><Relationship Id="rId7" Type="http://schemas.openxmlformats.org/officeDocument/2006/relationships/image" Target="../media/image67.png"/><Relationship Id="rId8" Type="http://schemas.openxmlformats.org/officeDocument/2006/relationships/image" Target="../media/image5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7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83.png"/><Relationship Id="rId4" Type="http://schemas.openxmlformats.org/officeDocument/2006/relationships/image" Target="../media/image77.jpg"/><Relationship Id="rId5" Type="http://schemas.openxmlformats.org/officeDocument/2006/relationships/image" Target="../media/image70.jpg"/><Relationship Id="rId6" Type="http://schemas.openxmlformats.org/officeDocument/2006/relationships/image" Target="../media/image7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83.png"/><Relationship Id="rId4" Type="http://schemas.openxmlformats.org/officeDocument/2006/relationships/image" Target="../media/image79.jpg"/><Relationship Id="rId5" Type="http://schemas.openxmlformats.org/officeDocument/2006/relationships/image" Target="../media/image80.jpg"/><Relationship Id="rId6" Type="http://schemas.openxmlformats.org/officeDocument/2006/relationships/image" Target="../media/image8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83.png"/><Relationship Id="rId4" Type="http://schemas.openxmlformats.org/officeDocument/2006/relationships/image" Target="../media/image91.png"/><Relationship Id="rId5" Type="http://schemas.openxmlformats.org/officeDocument/2006/relationships/image" Target="../media/image106.png"/><Relationship Id="rId6"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83.png"/><Relationship Id="rId4" Type="http://schemas.openxmlformats.org/officeDocument/2006/relationships/hyperlink" Target="https://drive.google.com/drive/u/2/folders/1wWumOuOrQ3ThGHDhK4IpxRZln_1zoFYC" TargetMode="External"/><Relationship Id="rId5" Type="http://schemas.openxmlformats.org/officeDocument/2006/relationships/image" Target="../media/image85.png"/><Relationship Id="rId6" Type="http://schemas.openxmlformats.org/officeDocument/2006/relationships/image" Target="../media/image97.png"/><Relationship Id="rId7" Type="http://schemas.openxmlformats.org/officeDocument/2006/relationships/hyperlink" Target="https://drive.google.com/drive/u/2/folders/1DFgRZ7CPcMEnwYdHWmFmvCou54Oe2syA" TargetMode="External"/><Relationship Id="rId8" Type="http://schemas.openxmlformats.org/officeDocument/2006/relationships/hyperlink" Target="https://drive.google.com/drive/u/2/folders/1F1T2SoVUn1VvKSCIAzpeA7xjXK6jp2T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comments" Target="../comments/comment1.xml"/><Relationship Id="rId4" Type="http://schemas.openxmlformats.org/officeDocument/2006/relationships/image" Target="../media/image83.png"/><Relationship Id="rId5" Type="http://schemas.openxmlformats.org/officeDocument/2006/relationships/image" Target="../media/image100.png"/><Relationship Id="rId6" Type="http://schemas.openxmlformats.org/officeDocument/2006/relationships/image" Target="../media/image10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83.png"/><Relationship Id="rId4" Type="http://schemas.openxmlformats.org/officeDocument/2006/relationships/hyperlink" Target="http://drive.google.com/file/d/1m1BSCzjH_MYHVhgI68PVs294jeOVhZjm/view" TargetMode="External"/><Relationship Id="rId5" Type="http://schemas.openxmlformats.org/officeDocument/2006/relationships/image" Target="../media/image8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83.png"/><Relationship Id="rId4" Type="http://schemas.openxmlformats.org/officeDocument/2006/relationships/hyperlink" Target="http://drive.google.com/file/d/1jR84-VbCCMYl7nxEPo6Fq5JTz1O7ffTL/view" TargetMode="External"/><Relationship Id="rId5" Type="http://schemas.openxmlformats.org/officeDocument/2006/relationships/image" Target="../media/image8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83.png"/><Relationship Id="rId4" Type="http://schemas.openxmlformats.org/officeDocument/2006/relationships/image" Target="../media/image105.png"/><Relationship Id="rId5" Type="http://schemas.openxmlformats.org/officeDocument/2006/relationships/image" Target="../media/image104.png"/><Relationship Id="rId6" Type="http://schemas.openxmlformats.org/officeDocument/2006/relationships/image" Target="../media/image9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9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9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10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10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96.png"/><Relationship Id="rId4" Type="http://schemas.openxmlformats.org/officeDocument/2006/relationships/image" Target="../media/image89.png"/><Relationship Id="rId9" Type="http://schemas.openxmlformats.org/officeDocument/2006/relationships/image" Target="../media/image95.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94.png"/><Relationship Id="rId8" Type="http://schemas.openxmlformats.org/officeDocument/2006/relationships/image" Target="../media/image9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ctrTitle"/>
          </p:nvPr>
        </p:nvSpPr>
        <p:spPr>
          <a:xfrm>
            <a:off x="3308349" y="8308775"/>
            <a:ext cx="87495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sz="4800"/>
              <a:t>Tropezón</a:t>
            </a:r>
            <a:r>
              <a:rPr lang="es-CL" sz="4800"/>
              <a:t> News</a:t>
            </a:r>
            <a:endParaRPr sz="4800"/>
          </a:p>
        </p:txBody>
      </p:sp>
      <p:sp>
        <p:nvSpPr>
          <p:cNvPr id="75" name="Google Shape;75;p3"/>
          <p:cNvSpPr txBox="1"/>
          <p:nvPr>
            <p:ph idx="1" type="subTitle"/>
          </p:nvPr>
        </p:nvSpPr>
        <p:spPr>
          <a:xfrm>
            <a:off x="3727450" y="9617075"/>
            <a:ext cx="7911300" cy="1477800"/>
          </a:xfrm>
          <a:prstGeom prst="rect">
            <a:avLst/>
          </a:prstGeom>
          <a:noFill/>
          <a:ln>
            <a:noFill/>
          </a:ln>
        </p:spPr>
        <p:txBody>
          <a:bodyPr anchorCtr="0" anchor="t" bIns="0" lIns="0" spcFirstLastPara="1" rIns="0" wrap="square" tIns="0">
            <a:spAutoFit/>
          </a:bodyPr>
          <a:lstStyle/>
          <a:p>
            <a:pPr indent="-342900" lvl="0" marL="342900" rtl="0" algn="l">
              <a:lnSpc>
                <a:spcPct val="100000"/>
              </a:lnSpc>
              <a:spcBef>
                <a:spcPts val="0"/>
              </a:spcBef>
              <a:spcAft>
                <a:spcPts val="0"/>
              </a:spcAft>
              <a:buClr>
                <a:schemeClr val="lt1"/>
              </a:buClr>
              <a:buSzPts val="2400"/>
              <a:buFont typeface="Arial"/>
              <a:buChar char="•"/>
            </a:pPr>
            <a:r>
              <a:rPr lang="es-CL"/>
              <a:t>Martin Diaz Estrada</a:t>
            </a:r>
            <a:endParaRPr/>
          </a:p>
          <a:p>
            <a:pPr indent="-342900" lvl="0" marL="342900" rtl="0" algn="l">
              <a:lnSpc>
                <a:spcPct val="100000"/>
              </a:lnSpc>
              <a:spcBef>
                <a:spcPts val="0"/>
              </a:spcBef>
              <a:spcAft>
                <a:spcPts val="0"/>
              </a:spcAft>
              <a:buClr>
                <a:schemeClr val="lt1"/>
              </a:buClr>
              <a:buSzPts val="2400"/>
              <a:buFont typeface="Arial"/>
              <a:buChar char="•"/>
            </a:pPr>
            <a:r>
              <a:rPr lang="es-CL"/>
              <a:t>Amir Awad</a:t>
            </a:r>
            <a:endParaRPr/>
          </a:p>
          <a:p>
            <a:pPr indent="-342900" lvl="0" marL="342900" rtl="0" algn="l">
              <a:lnSpc>
                <a:spcPct val="100000"/>
              </a:lnSpc>
              <a:spcBef>
                <a:spcPts val="0"/>
              </a:spcBef>
              <a:spcAft>
                <a:spcPts val="0"/>
              </a:spcAft>
              <a:buClr>
                <a:schemeClr val="lt1"/>
              </a:buClr>
              <a:buSzPts val="2400"/>
              <a:buFont typeface="Arial"/>
              <a:buChar char="•"/>
            </a:pPr>
            <a:r>
              <a:rPr lang="es-CL"/>
              <a:t>Gabriel Galvez</a:t>
            </a:r>
            <a:endParaRPr/>
          </a:p>
          <a:p>
            <a:pPr indent="-342900" lvl="0" marL="342900" rtl="0" algn="l">
              <a:lnSpc>
                <a:spcPct val="100000"/>
              </a:lnSpc>
              <a:spcBef>
                <a:spcPts val="0"/>
              </a:spcBef>
              <a:spcAft>
                <a:spcPts val="0"/>
              </a:spcAft>
              <a:buClr>
                <a:schemeClr val="lt1"/>
              </a:buClr>
              <a:buSzPts val="2400"/>
              <a:buFont typeface="Arial"/>
              <a:buChar char="•"/>
            </a:pPr>
            <a:r>
              <a:rPr lang="es-CL"/>
              <a:t>Jose Jimenez</a:t>
            </a:r>
            <a:r>
              <a:rPr b="1" lang="es-CL" sz="2400">
                <a:latin typeface="Arial"/>
                <a:ea typeface="Arial"/>
                <a:cs typeface="Arial"/>
                <a:sym typeface="Arial"/>
              </a:rPr>
              <a:t>				Maipú, </a:t>
            </a:r>
            <a:r>
              <a:rPr b="1" lang="es-CL"/>
              <a:t>18</a:t>
            </a:r>
            <a:r>
              <a:rPr b="1" lang="es-CL" sz="2400">
                <a:latin typeface="Arial"/>
                <a:ea typeface="Arial"/>
                <a:cs typeface="Arial"/>
                <a:sym typeface="Arial"/>
              </a:rPr>
              <a:t> Diciembre 202</a:t>
            </a:r>
            <a:r>
              <a:rPr b="1" lang="es-CL"/>
              <a:t>5</a:t>
            </a:r>
            <a:endParaRPr/>
          </a:p>
        </p:txBody>
      </p:sp>
      <p:sp>
        <p:nvSpPr>
          <p:cNvPr id="76" name="Google Shape;76;p3"/>
          <p:cNvSpPr/>
          <p:nvPr/>
        </p:nvSpPr>
        <p:spPr>
          <a:xfrm>
            <a:off x="14014450" y="3444875"/>
            <a:ext cx="4887877"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lt1"/>
                </a:solidFill>
                <a:latin typeface="Arial Black"/>
                <a:ea typeface="Arial Black"/>
                <a:cs typeface="Arial Black"/>
                <a:sym typeface="Arial Black"/>
              </a:rPr>
              <a:t>CAPSTONE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p:nvPr/>
        </p:nvSpPr>
        <p:spPr>
          <a:xfrm>
            <a:off x="9455125" y="344925"/>
            <a:ext cx="53577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rgbClr val="000000"/>
                </a:solidFill>
                <a:latin typeface="Arial Black"/>
                <a:ea typeface="Arial Black"/>
                <a:cs typeface="Arial Black"/>
                <a:sym typeface="Arial Black"/>
              </a:rPr>
              <a:t>CONTENIDO</a:t>
            </a:r>
            <a:endParaRPr b="0" i="0" sz="1400" u="none" cap="none" strike="noStrike">
              <a:solidFill>
                <a:srgbClr val="000000"/>
              </a:solidFill>
              <a:latin typeface="Arial"/>
              <a:ea typeface="Arial"/>
              <a:cs typeface="Arial"/>
              <a:sym typeface="Arial"/>
            </a:endParaRPr>
          </a:p>
        </p:txBody>
      </p:sp>
      <p:sp>
        <p:nvSpPr>
          <p:cNvPr id="82" name="Google Shape;82;p4"/>
          <p:cNvSpPr txBox="1"/>
          <p:nvPr/>
        </p:nvSpPr>
        <p:spPr>
          <a:xfrm>
            <a:off x="9455125" y="1644264"/>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01</a:t>
            </a:r>
            <a:endParaRPr b="0" i="0" sz="1400" u="none" cap="none" strike="noStrike">
              <a:solidFill>
                <a:srgbClr val="000000"/>
              </a:solidFill>
              <a:latin typeface="Arial"/>
              <a:ea typeface="Arial"/>
              <a:cs typeface="Arial"/>
              <a:sym typeface="Arial"/>
            </a:endParaRPr>
          </a:p>
        </p:txBody>
      </p:sp>
      <p:sp>
        <p:nvSpPr>
          <p:cNvPr id="83" name="Google Shape;83;p4"/>
          <p:cNvSpPr txBox="1"/>
          <p:nvPr/>
        </p:nvSpPr>
        <p:spPr>
          <a:xfrm>
            <a:off x="9553737" y="3862102"/>
            <a:ext cx="45792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s-CL" sz="3000">
                <a:solidFill>
                  <a:schemeClr val="dk1"/>
                </a:solidFill>
              </a:rPr>
              <a:t>Contexto del Caso</a:t>
            </a:r>
            <a:endParaRPr b="0" i="0" sz="1400" u="none" cap="none" strike="noStrike">
              <a:solidFill>
                <a:srgbClr val="000000"/>
              </a:solidFill>
              <a:latin typeface="Arial"/>
              <a:ea typeface="Arial"/>
              <a:cs typeface="Arial"/>
              <a:sym typeface="Arial"/>
            </a:endParaRPr>
          </a:p>
        </p:txBody>
      </p:sp>
      <p:sp>
        <p:nvSpPr>
          <p:cNvPr id="84" name="Google Shape;84;p4"/>
          <p:cNvSpPr txBox="1"/>
          <p:nvPr/>
        </p:nvSpPr>
        <p:spPr>
          <a:xfrm>
            <a:off x="9553718" y="8991564"/>
            <a:ext cx="4728900" cy="507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b="1" lang="es-CL" sz="3300">
                <a:solidFill>
                  <a:schemeClr val="dk1"/>
                </a:solidFill>
                <a:latin typeface="Calibri"/>
                <a:ea typeface="Calibri"/>
                <a:cs typeface="Calibri"/>
                <a:sym typeface="Calibri"/>
              </a:rPr>
              <a:t>Alcance y Metodología</a:t>
            </a:r>
            <a:endParaRPr b="0" i="0" sz="100" u="none" cap="none" strike="noStrike">
              <a:solidFill>
                <a:schemeClr val="dk1"/>
              </a:solidFill>
              <a:latin typeface="Arial"/>
              <a:ea typeface="Arial"/>
              <a:cs typeface="Arial"/>
              <a:sym typeface="Arial"/>
            </a:endParaRPr>
          </a:p>
        </p:txBody>
      </p:sp>
      <p:sp>
        <p:nvSpPr>
          <p:cNvPr id="85" name="Google Shape;85;p4"/>
          <p:cNvSpPr txBox="1"/>
          <p:nvPr/>
        </p:nvSpPr>
        <p:spPr>
          <a:xfrm>
            <a:off x="9455125" y="3100102"/>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02</a:t>
            </a:r>
            <a:endParaRPr b="0" i="0" sz="1400" u="none" cap="none" strike="noStrike">
              <a:solidFill>
                <a:srgbClr val="000000"/>
              </a:solidFill>
              <a:latin typeface="Arial"/>
              <a:ea typeface="Arial"/>
              <a:cs typeface="Arial"/>
              <a:sym typeface="Arial"/>
            </a:endParaRPr>
          </a:p>
        </p:txBody>
      </p:sp>
      <p:sp>
        <p:nvSpPr>
          <p:cNvPr id="86" name="Google Shape;86;p4"/>
          <p:cNvSpPr txBox="1"/>
          <p:nvPr/>
        </p:nvSpPr>
        <p:spPr>
          <a:xfrm>
            <a:off x="9553724" y="6556714"/>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04</a:t>
            </a:r>
            <a:endParaRPr b="0" i="0" sz="1400" u="none" cap="none" strike="noStrike">
              <a:solidFill>
                <a:srgbClr val="000000"/>
              </a:solidFill>
              <a:latin typeface="Arial"/>
              <a:ea typeface="Arial"/>
              <a:cs typeface="Arial"/>
              <a:sym typeface="Arial"/>
            </a:endParaRPr>
          </a:p>
        </p:txBody>
      </p:sp>
      <p:sp>
        <p:nvSpPr>
          <p:cNvPr id="87" name="Google Shape;87;p4"/>
          <p:cNvSpPr txBox="1"/>
          <p:nvPr/>
        </p:nvSpPr>
        <p:spPr>
          <a:xfrm>
            <a:off x="9553737" y="5317931"/>
            <a:ext cx="41661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3000"/>
              <a:buFont typeface="Arial"/>
              <a:buNone/>
            </a:pPr>
            <a:r>
              <a:rPr b="1" lang="es-CL" sz="3000">
                <a:solidFill>
                  <a:schemeClr val="dk1"/>
                </a:solidFill>
              </a:rPr>
              <a:t>Objetivo General y Específicos</a:t>
            </a:r>
            <a:endParaRPr b="0" i="0" sz="1400" u="none" cap="none" strike="noStrike">
              <a:solidFill>
                <a:srgbClr val="000000"/>
              </a:solidFill>
              <a:latin typeface="Arial"/>
              <a:ea typeface="Arial"/>
              <a:cs typeface="Arial"/>
              <a:sym typeface="Arial"/>
            </a:endParaRPr>
          </a:p>
        </p:txBody>
      </p:sp>
      <p:sp>
        <p:nvSpPr>
          <p:cNvPr id="88" name="Google Shape;88;p4"/>
          <p:cNvSpPr txBox="1"/>
          <p:nvPr/>
        </p:nvSpPr>
        <p:spPr>
          <a:xfrm>
            <a:off x="14812825" y="9050325"/>
            <a:ext cx="51144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s-CL" sz="3000">
                <a:solidFill>
                  <a:schemeClr val="dk1"/>
                </a:solidFill>
              </a:rPr>
              <a:t>Retrospectiva y Proyecciones</a:t>
            </a:r>
            <a:endParaRPr b="0" i="0" sz="1400" u="none" cap="none" strike="noStrike">
              <a:solidFill>
                <a:srgbClr val="000000"/>
              </a:solidFill>
              <a:latin typeface="Arial"/>
              <a:ea typeface="Arial"/>
              <a:cs typeface="Arial"/>
              <a:sym typeface="Arial"/>
            </a:endParaRPr>
          </a:p>
        </p:txBody>
      </p:sp>
      <p:sp>
        <p:nvSpPr>
          <p:cNvPr id="89" name="Google Shape;89;p4"/>
          <p:cNvSpPr txBox="1"/>
          <p:nvPr/>
        </p:nvSpPr>
        <p:spPr>
          <a:xfrm>
            <a:off x="9553737" y="4555931"/>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03</a:t>
            </a:r>
            <a:endParaRPr b="0" i="0" sz="1400" u="none" cap="none" strike="noStrike">
              <a:solidFill>
                <a:srgbClr val="000000"/>
              </a:solidFill>
              <a:latin typeface="Arial"/>
              <a:ea typeface="Arial"/>
              <a:cs typeface="Arial"/>
              <a:sym typeface="Arial"/>
            </a:endParaRPr>
          </a:p>
        </p:txBody>
      </p:sp>
      <p:sp>
        <p:nvSpPr>
          <p:cNvPr id="90" name="Google Shape;90;p4"/>
          <p:cNvSpPr txBox="1"/>
          <p:nvPr/>
        </p:nvSpPr>
        <p:spPr>
          <a:xfrm>
            <a:off x="14722524" y="6556715"/>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lang="es-CL" sz="6000">
                <a:solidFill>
                  <a:schemeClr val="dk1"/>
                </a:solidFill>
                <a:latin typeface="Arial Black"/>
                <a:ea typeface="Arial Black"/>
                <a:cs typeface="Arial Black"/>
                <a:sym typeface="Arial Black"/>
              </a:rPr>
              <a:t>10</a:t>
            </a:r>
            <a:endParaRPr b="0" i="0" sz="1400" u="none" cap="none" strike="noStrike">
              <a:solidFill>
                <a:srgbClr val="000000"/>
              </a:solidFill>
              <a:latin typeface="Arial"/>
              <a:ea typeface="Arial"/>
              <a:cs typeface="Arial"/>
              <a:sym typeface="Arial"/>
            </a:endParaRPr>
          </a:p>
        </p:txBody>
      </p:sp>
      <p:sp>
        <p:nvSpPr>
          <p:cNvPr id="91" name="Google Shape;91;p4"/>
          <p:cNvSpPr txBox="1"/>
          <p:nvPr/>
        </p:nvSpPr>
        <p:spPr>
          <a:xfrm>
            <a:off x="9553737" y="2406263"/>
            <a:ext cx="45792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s-CL" sz="3000">
                <a:solidFill>
                  <a:schemeClr val="dk1"/>
                </a:solidFill>
              </a:rPr>
              <a:t>Equipo de Trabajo</a:t>
            </a:r>
            <a:endParaRPr b="0" i="0" sz="1400" u="none" cap="none" strike="noStrike">
              <a:solidFill>
                <a:srgbClr val="000000"/>
              </a:solidFill>
              <a:latin typeface="Arial"/>
              <a:ea typeface="Arial"/>
              <a:cs typeface="Arial"/>
              <a:sym typeface="Arial"/>
            </a:endParaRPr>
          </a:p>
        </p:txBody>
      </p:sp>
      <p:sp>
        <p:nvSpPr>
          <p:cNvPr id="92" name="Google Shape;92;p4"/>
          <p:cNvSpPr txBox="1"/>
          <p:nvPr/>
        </p:nvSpPr>
        <p:spPr>
          <a:xfrm>
            <a:off x="14809524" y="7453363"/>
            <a:ext cx="39099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s-CL" sz="3000">
                <a:solidFill>
                  <a:schemeClr val="dk1"/>
                </a:solidFill>
              </a:rPr>
              <a:t>Propuesta </a:t>
            </a:r>
            <a:r>
              <a:rPr b="1" lang="es-CL" sz="3000">
                <a:solidFill>
                  <a:schemeClr val="dk1"/>
                </a:solidFill>
              </a:rPr>
              <a:t>Técnica </a:t>
            </a:r>
            <a:endParaRPr b="0" i="0" sz="1400" u="none" cap="none" strike="noStrike">
              <a:solidFill>
                <a:srgbClr val="000000"/>
              </a:solidFill>
              <a:latin typeface="Arial"/>
              <a:ea typeface="Arial"/>
              <a:cs typeface="Arial"/>
              <a:sym typeface="Arial"/>
            </a:endParaRPr>
          </a:p>
        </p:txBody>
      </p:sp>
      <p:sp>
        <p:nvSpPr>
          <p:cNvPr id="93" name="Google Shape;93;p4"/>
          <p:cNvSpPr txBox="1"/>
          <p:nvPr/>
        </p:nvSpPr>
        <p:spPr>
          <a:xfrm>
            <a:off x="14686624" y="8242135"/>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lang="es-CL" sz="6000">
                <a:solidFill>
                  <a:schemeClr val="dk1"/>
                </a:solidFill>
                <a:latin typeface="Arial Black"/>
                <a:ea typeface="Arial Black"/>
                <a:cs typeface="Arial Black"/>
                <a:sym typeface="Arial Black"/>
              </a:rPr>
              <a:t>11</a:t>
            </a:r>
            <a:endParaRPr b="0" i="0" sz="1400" u="none" cap="none" strike="noStrike">
              <a:solidFill>
                <a:srgbClr val="000000"/>
              </a:solidFill>
              <a:latin typeface="Arial"/>
              <a:ea typeface="Arial"/>
              <a:cs typeface="Arial"/>
              <a:sym typeface="Arial"/>
            </a:endParaRPr>
          </a:p>
        </p:txBody>
      </p:sp>
      <p:sp>
        <p:nvSpPr>
          <p:cNvPr id="94" name="Google Shape;94;p4"/>
          <p:cNvSpPr txBox="1"/>
          <p:nvPr/>
        </p:nvSpPr>
        <p:spPr>
          <a:xfrm>
            <a:off x="14639226" y="2406275"/>
            <a:ext cx="4473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s-CL" sz="3000">
                <a:solidFill>
                  <a:schemeClr val="dk1"/>
                </a:solidFill>
              </a:rPr>
              <a:t>Diseño Front-End y QA</a:t>
            </a:r>
            <a:endParaRPr b="0" i="0" sz="1400" u="none" cap="none" strike="noStrike">
              <a:solidFill>
                <a:srgbClr val="000000"/>
              </a:solidFill>
              <a:latin typeface="Arial"/>
              <a:ea typeface="Arial"/>
              <a:cs typeface="Arial"/>
              <a:sym typeface="Arial"/>
            </a:endParaRPr>
          </a:p>
        </p:txBody>
      </p:sp>
      <p:sp>
        <p:nvSpPr>
          <p:cNvPr id="95" name="Google Shape;95;p4"/>
          <p:cNvSpPr txBox="1"/>
          <p:nvPr/>
        </p:nvSpPr>
        <p:spPr>
          <a:xfrm>
            <a:off x="14516324" y="1644285"/>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a:t>
            </a:r>
            <a:r>
              <a:rPr b="1" lang="es-CL" sz="6000">
                <a:solidFill>
                  <a:schemeClr val="dk1"/>
                </a:solidFill>
                <a:latin typeface="Arial Black"/>
                <a:ea typeface="Arial Black"/>
                <a:cs typeface="Arial Black"/>
                <a:sym typeface="Arial Black"/>
              </a:rPr>
              <a:t>7</a:t>
            </a:r>
            <a:endParaRPr b="0" i="0" sz="1400" u="none" cap="none" strike="noStrike">
              <a:solidFill>
                <a:srgbClr val="000000"/>
              </a:solidFill>
              <a:latin typeface="Arial"/>
              <a:ea typeface="Arial"/>
              <a:cs typeface="Arial"/>
              <a:sym typeface="Arial"/>
            </a:endParaRPr>
          </a:p>
        </p:txBody>
      </p:sp>
      <p:sp>
        <p:nvSpPr>
          <p:cNvPr id="96" name="Google Shape;96;p4"/>
          <p:cNvSpPr txBox="1"/>
          <p:nvPr/>
        </p:nvSpPr>
        <p:spPr>
          <a:xfrm>
            <a:off x="14672565" y="3913523"/>
            <a:ext cx="41838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s-CL" sz="3000">
                <a:solidFill>
                  <a:schemeClr val="dk1"/>
                </a:solidFill>
              </a:rPr>
              <a:t>Raci</a:t>
            </a:r>
            <a:endParaRPr b="0" i="0" sz="1400" u="none" cap="none" strike="noStrike">
              <a:solidFill>
                <a:srgbClr val="000000"/>
              </a:solidFill>
              <a:latin typeface="Arial"/>
              <a:ea typeface="Arial"/>
              <a:cs typeface="Arial"/>
              <a:sym typeface="Arial"/>
            </a:endParaRPr>
          </a:p>
        </p:txBody>
      </p:sp>
      <p:sp>
        <p:nvSpPr>
          <p:cNvPr id="97" name="Google Shape;97;p4"/>
          <p:cNvSpPr txBox="1"/>
          <p:nvPr/>
        </p:nvSpPr>
        <p:spPr>
          <a:xfrm>
            <a:off x="14563724" y="3100110"/>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a:t>
            </a:r>
            <a:r>
              <a:rPr b="1" lang="es-CL" sz="6000">
                <a:solidFill>
                  <a:schemeClr val="dk1"/>
                </a:solidFill>
                <a:latin typeface="Arial Black"/>
                <a:ea typeface="Arial Black"/>
                <a:cs typeface="Arial Black"/>
                <a:sym typeface="Arial Black"/>
              </a:rPr>
              <a:t>8</a:t>
            </a:r>
            <a:endParaRPr b="0" i="0" sz="1400" u="none" cap="none" strike="noStrike">
              <a:solidFill>
                <a:srgbClr val="000000"/>
              </a:solidFill>
              <a:latin typeface="Arial"/>
              <a:ea typeface="Arial"/>
              <a:cs typeface="Arial"/>
              <a:sym typeface="Arial"/>
            </a:endParaRPr>
          </a:p>
        </p:txBody>
      </p:sp>
      <p:sp>
        <p:nvSpPr>
          <p:cNvPr id="98" name="Google Shape;98;p4"/>
          <p:cNvSpPr txBox="1"/>
          <p:nvPr/>
        </p:nvSpPr>
        <p:spPr>
          <a:xfrm>
            <a:off x="14762126" y="5440250"/>
            <a:ext cx="4473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lang="es-CL" sz="3000">
                <a:solidFill>
                  <a:schemeClr val="dk1"/>
                </a:solidFill>
              </a:rPr>
              <a:t>Evidencias y Resultados</a:t>
            </a:r>
            <a:endParaRPr b="0" i="0" sz="1400" u="none" cap="none" strike="noStrike">
              <a:solidFill>
                <a:srgbClr val="000000"/>
              </a:solidFill>
              <a:latin typeface="Arial"/>
              <a:ea typeface="Arial"/>
              <a:cs typeface="Arial"/>
              <a:sym typeface="Arial"/>
            </a:endParaRPr>
          </a:p>
        </p:txBody>
      </p:sp>
      <p:sp>
        <p:nvSpPr>
          <p:cNvPr id="99" name="Google Shape;99;p4"/>
          <p:cNvSpPr txBox="1"/>
          <p:nvPr/>
        </p:nvSpPr>
        <p:spPr>
          <a:xfrm>
            <a:off x="14639224" y="4678260"/>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a:t>
            </a:r>
            <a:r>
              <a:rPr b="1" lang="es-CL" sz="6000">
                <a:solidFill>
                  <a:schemeClr val="dk1"/>
                </a:solidFill>
                <a:latin typeface="Arial Black"/>
                <a:ea typeface="Arial Black"/>
                <a:cs typeface="Arial Black"/>
                <a:sym typeface="Arial Black"/>
              </a:rPr>
              <a:t>9</a:t>
            </a:r>
            <a:endParaRPr b="0" i="0" sz="1400" u="none" cap="none" strike="noStrike">
              <a:solidFill>
                <a:srgbClr val="000000"/>
              </a:solidFill>
              <a:latin typeface="Arial"/>
              <a:ea typeface="Arial"/>
              <a:cs typeface="Arial"/>
              <a:sym typeface="Arial"/>
            </a:endParaRPr>
          </a:p>
        </p:txBody>
      </p:sp>
      <p:sp>
        <p:nvSpPr>
          <p:cNvPr id="100" name="Google Shape;100;p4"/>
          <p:cNvSpPr txBox="1"/>
          <p:nvPr/>
        </p:nvSpPr>
        <p:spPr>
          <a:xfrm>
            <a:off x="9610575" y="7371875"/>
            <a:ext cx="4846800" cy="1200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3000"/>
              <a:buFont typeface="Arial"/>
              <a:buNone/>
            </a:pPr>
            <a:r>
              <a:rPr b="1" lang="es-CL" sz="3000">
                <a:solidFill>
                  <a:schemeClr val="dk1"/>
                </a:solidFill>
              </a:rPr>
              <a:t>Equipo y Roles</a:t>
            </a:r>
            <a:endParaRPr>
              <a:solidFill>
                <a:schemeClr val="dk1"/>
              </a:solidFill>
            </a:endParaRPr>
          </a:p>
          <a:p>
            <a:pPr indent="0" lvl="0" marL="0" rtl="0" algn="l">
              <a:lnSpc>
                <a:spcPct val="115000"/>
              </a:lnSpc>
              <a:spcBef>
                <a:spcPts val="1800"/>
              </a:spcBef>
              <a:spcAft>
                <a:spcPts val="400"/>
              </a:spcAft>
              <a:buClr>
                <a:schemeClr val="dk1"/>
              </a:buClr>
              <a:buSzPts val="1100"/>
              <a:buFont typeface="Arial"/>
              <a:buNone/>
            </a:pPr>
            <a:r>
              <a:t/>
            </a:r>
            <a:endParaRPr b="1" sz="3300">
              <a:solidFill>
                <a:schemeClr val="dk1"/>
              </a:solidFill>
              <a:latin typeface="Calibri"/>
              <a:ea typeface="Calibri"/>
              <a:cs typeface="Calibri"/>
              <a:sym typeface="Calibri"/>
            </a:endParaRPr>
          </a:p>
        </p:txBody>
      </p:sp>
      <p:sp>
        <p:nvSpPr>
          <p:cNvPr id="101" name="Google Shape;101;p4"/>
          <p:cNvSpPr txBox="1"/>
          <p:nvPr/>
        </p:nvSpPr>
        <p:spPr>
          <a:xfrm>
            <a:off x="9553724" y="8126914"/>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a:t>
            </a:r>
            <a:r>
              <a:rPr b="1" lang="es-CL" sz="6000">
                <a:solidFill>
                  <a:schemeClr val="dk1"/>
                </a:solidFill>
                <a:latin typeface="Arial Black"/>
                <a:ea typeface="Arial Black"/>
                <a:cs typeface="Arial Black"/>
                <a:sym typeface="Arial Black"/>
              </a:rPr>
              <a:t>5</a:t>
            </a:r>
            <a:endParaRPr b="0" i="0" sz="1400" u="none" cap="none" strike="noStrike">
              <a:solidFill>
                <a:srgbClr val="000000"/>
              </a:solidFill>
              <a:latin typeface="Arial"/>
              <a:ea typeface="Arial"/>
              <a:cs typeface="Arial"/>
              <a:sym typeface="Arial"/>
            </a:endParaRPr>
          </a:p>
        </p:txBody>
      </p:sp>
      <p:sp>
        <p:nvSpPr>
          <p:cNvPr id="102" name="Google Shape;102;p4"/>
          <p:cNvSpPr txBox="1"/>
          <p:nvPr/>
        </p:nvSpPr>
        <p:spPr>
          <a:xfrm>
            <a:off x="9669518" y="10228464"/>
            <a:ext cx="47289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3000"/>
              <a:buFont typeface="Arial"/>
              <a:buNone/>
            </a:pPr>
            <a:r>
              <a:rPr b="1" lang="es-CL" sz="3000">
                <a:solidFill>
                  <a:schemeClr val="dk1"/>
                </a:solidFill>
              </a:rPr>
              <a:t>Propuesta Técnica y Modelo de Datos</a:t>
            </a:r>
            <a:endParaRPr b="0" i="0" sz="100" u="none" cap="none" strike="noStrike">
              <a:solidFill>
                <a:schemeClr val="dk1"/>
              </a:solidFill>
              <a:latin typeface="Arial"/>
              <a:ea typeface="Arial"/>
              <a:cs typeface="Arial"/>
              <a:sym typeface="Arial"/>
            </a:endParaRPr>
          </a:p>
        </p:txBody>
      </p:sp>
      <p:sp>
        <p:nvSpPr>
          <p:cNvPr id="103" name="Google Shape;103;p4"/>
          <p:cNvSpPr txBox="1"/>
          <p:nvPr/>
        </p:nvSpPr>
        <p:spPr>
          <a:xfrm>
            <a:off x="9553724" y="9466464"/>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a:t>
            </a:r>
            <a:r>
              <a:rPr b="1" lang="es-CL" sz="6000">
                <a:solidFill>
                  <a:schemeClr val="dk1"/>
                </a:solidFill>
                <a:latin typeface="Arial Black"/>
                <a:ea typeface="Arial Black"/>
                <a:cs typeface="Arial Black"/>
                <a:sym typeface="Arial Black"/>
              </a:rPr>
              <a:t>6</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4413250" y="7559675"/>
            <a:ext cx="10134600" cy="10158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400"/>
              <a:buNone/>
            </a:pPr>
            <a:r>
              <a:rPr lang="es-CL" sz="6600"/>
              <a:t>Equipo de Trabajo</a:t>
            </a:r>
            <a:endParaRPr/>
          </a:p>
        </p:txBody>
      </p:sp>
      <p:sp>
        <p:nvSpPr>
          <p:cNvPr id="109" name="Google Shape;109;p5"/>
          <p:cNvSpPr txBox="1"/>
          <p:nvPr/>
        </p:nvSpPr>
        <p:spPr>
          <a:xfrm>
            <a:off x="12677531" y="6082347"/>
            <a:ext cx="1905000" cy="14773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9600"/>
              <a:buFont typeface="Arial"/>
              <a:buNone/>
            </a:pPr>
            <a:r>
              <a:rPr b="1" i="0" lang="es-CL" sz="9600" u="none" cap="none" strike="noStrike">
                <a:solidFill>
                  <a:schemeClr val="dk1"/>
                </a:solidFill>
                <a:latin typeface="Arial Black"/>
                <a:ea typeface="Arial Black"/>
                <a:cs typeface="Arial Black"/>
                <a:sym typeface="Arial Black"/>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nvSpPr>
        <p:spPr>
          <a:xfrm>
            <a:off x="1394650" y="8209525"/>
            <a:ext cx="3075000" cy="73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800">
                <a:latin typeface="Calibri"/>
                <a:ea typeface="Calibri"/>
                <a:cs typeface="Calibri"/>
                <a:sym typeface="Calibri"/>
              </a:rPr>
              <a:t>Martin Ignacio Diaz Estrada</a:t>
            </a:r>
            <a:br>
              <a:rPr lang="es-CL" sz="1800">
                <a:latin typeface="Calibri"/>
                <a:ea typeface="Calibri"/>
                <a:cs typeface="Calibri"/>
                <a:sym typeface="Calibri"/>
              </a:rPr>
            </a:br>
            <a:r>
              <a:rPr lang="es-CL" sz="1800">
                <a:latin typeface="Calibri"/>
                <a:ea typeface="Calibri"/>
                <a:cs typeface="Calibri"/>
                <a:sym typeface="Calibri"/>
              </a:rPr>
              <a:t>Prac. People Analytics Verisure</a:t>
            </a:r>
            <a:endParaRPr sz="1800">
              <a:latin typeface="Calibri"/>
              <a:ea typeface="Calibri"/>
              <a:cs typeface="Calibri"/>
              <a:sym typeface="Calibri"/>
            </a:endParaRPr>
          </a:p>
        </p:txBody>
      </p:sp>
      <p:sp>
        <p:nvSpPr>
          <p:cNvPr id="115" name="Google Shape;115;p6"/>
          <p:cNvSpPr txBox="1"/>
          <p:nvPr/>
        </p:nvSpPr>
        <p:spPr>
          <a:xfrm>
            <a:off x="6058100" y="8209525"/>
            <a:ext cx="3075000" cy="73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800">
                <a:latin typeface="Calibri"/>
                <a:ea typeface="Calibri"/>
                <a:cs typeface="Calibri"/>
                <a:sym typeface="Calibri"/>
              </a:rPr>
              <a:t>Amir Awad</a:t>
            </a:r>
            <a:br>
              <a:rPr lang="es-CL" sz="1800">
                <a:latin typeface="Calibri"/>
                <a:ea typeface="Calibri"/>
                <a:cs typeface="Calibri"/>
                <a:sym typeface="Calibri"/>
              </a:rPr>
            </a:br>
            <a:r>
              <a:rPr lang="es-CL" sz="1800">
                <a:latin typeface="Calibri"/>
                <a:ea typeface="Calibri"/>
                <a:cs typeface="Calibri"/>
                <a:sym typeface="Calibri"/>
              </a:rPr>
              <a:t>Prac. Desarrollador web frontend / backend DigiPlus</a:t>
            </a:r>
            <a:endParaRPr sz="1800">
              <a:latin typeface="Calibri"/>
              <a:ea typeface="Calibri"/>
              <a:cs typeface="Calibri"/>
              <a:sym typeface="Calibri"/>
            </a:endParaRPr>
          </a:p>
        </p:txBody>
      </p:sp>
      <p:sp>
        <p:nvSpPr>
          <p:cNvPr id="116" name="Google Shape;116;p6"/>
          <p:cNvSpPr txBox="1"/>
          <p:nvPr/>
        </p:nvSpPr>
        <p:spPr>
          <a:xfrm>
            <a:off x="11522075" y="8361475"/>
            <a:ext cx="3075000" cy="73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800">
                <a:latin typeface="Calibri"/>
                <a:ea typeface="Calibri"/>
                <a:cs typeface="Calibri"/>
                <a:sym typeface="Calibri"/>
              </a:rPr>
              <a:t>Gabriel Hernan Galvez Silva</a:t>
            </a:r>
            <a:br>
              <a:rPr lang="es-CL" sz="1800">
                <a:latin typeface="Calibri"/>
                <a:ea typeface="Calibri"/>
                <a:cs typeface="Calibri"/>
                <a:sym typeface="Calibri"/>
              </a:rPr>
            </a:br>
            <a:r>
              <a:rPr lang="es-CL" sz="1800">
                <a:latin typeface="Calibri"/>
                <a:ea typeface="Calibri"/>
                <a:cs typeface="Calibri"/>
                <a:sym typeface="Calibri"/>
              </a:rPr>
              <a:t>Prac. Soporte ti y desarrollador web TEXPRO- </a:t>
            </a:r>
            <a:endParaRPr sz="1800">
              <a:latin typeface="Calibri"/>
              <a:ea typeface="Calibri"/>
              <a:cs typeface="Calibri"/>
              <a:sym typeface="Calibri"/>
            </a:endParaRPr>
          </a:p>
          <a:p>
            <a:pPr indent="0" lvl="0" marL="0" rtl="0" algn="ctr">
              <a:spcBef>
                <a:spcPts val="0"/>
              </a:spcBef>
              <a:spcAft>
                <a:spcPts val="0"/>
              </a:spcAft>
              <a:buNone/>
            </a:pPr>
            <a:r>
              <a:t/>
            </a:r>
            <a:endParaRPr sz="1800">
              <a:latin typeface="Calibri"/>
              <a:ea typeface="Calibri"/>
              <a:cs typeface="Calibri"/>
              <a:sym typeface="Calibri"/>
            </a:endParaRPr>
          </a:p>
        </p:txBody>
      </p:sp>
      <p:sp>
        <p:nvSpPr>
          <p:cNvPr id="117" name="Google Shape;117;p6"/>
          <p:cNvSpPr txBox="1"/>
          <p:nvPr/>
        </p:nvSpPr>
        <p:spPr>
          <a:xfrm>
            <a:off x="15849300" y="8209525"/>
            <a:ext cx="3607200" cy="104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800">
                <a:latin typeface="Calibri"/>
                <a:ea typeface="Calibri"/>
                <a:cs typeface="Calibri"/>
                <a:sym typeface="Calibri"/>
              </a:rPr>
              <a:t>Jose Jimenez</a:t>
            </a:r>
            <a:br>
              <a:rPr lang="es-CL" sz="1800">
                <a:latin typeface="Calibri"/>
                <a:ea typeface="Calibri"/>
                <a:cs typeface="Calibri"/>
                <a:sym typeface="Calibri"/>
              </a:rPr>
            </a:br>
            <a:r>
              <a:rPr i="1" lang="es-CL" sz="1800">
                <a:solidFill>
                  <a:srgbClr val="0F004F"/>
                </a:solidFill>
                <a:highlight>
                  <a:srgbClr val="FFFFFF"/>
                </a:highlight>
                <a:latin typeface="Calibri"/>
                <a:ea typeface="Calibri"/>
                <a:cs typeface="Calibri"/>
                <a:sym typeface="Calibri"/>
              </a:rPr>
              <a:t>Practicante </a:t>
            </a:r>
            <a:r>
              <a:rPr lang="es-CL" sz="1800">
                <a:solidFill>
                  <a:srgbClr val="0F004F"/>
                </a:solidFill>
                <a:highlight>
                  <a:srgbClr val="FFFFFF"/>
                </a:highlight>
                <a:latin typeface="Calibri"/>
                <a:ea typeface="Calibri"/>
                <a:cs typeface="Calibri"/>
                <a:sym typeface="Calibri"/>
              </a:rPr>
              <a:t>Supply Chain</a:t>
            </a:r>
            <a:endParaRPr sz="1800">
              <a:solidFill>
                <a:srgbClr val="0F004F"/>
              </a:solidFill>
              <a:highlight>
                <a:srgbClr val="FFFFFF"/>
              </a:highlight>
              <a:latin typeface="Calibri"/>
              <a:ea typeface="Calibri"/>
              <a:cs typeface="Calibri"/>
              <a:sym typeface="Calibri"/>
            </a:endParaRPr>
          </a:p>
          <a:p>
            <a:pPr indent="0" lvl="0" marL="0" rtl="0" algn="l">
              <a:lnSpc>
                <a:spcPct val="115000"/>
              </a:lnSpc>
              <a:spcBef>
                <a:spcPts val="0"/>
              </a:spcBef>
              <a:spcAft>
                <a:spcPts val="0"/>
              </a:spcAft>
              <a:buNone/>
            </a:pPr>
            <a:r>
              <a:rPr lang="es-CL" sz="1800">
                <a:solidFill>
                  <a:srgbClr val="0F004F"/>
                </a:solidFill>
                <a:highlight>
                  <a:srgbClr val="FFFFFF"/>
                </a:highlight>
                <a:latin typeface="Calibri"/>
                <a:ea typeface="Calibri"/>
                <a:cs typeface="Calibri"/>
                <a:sym typeface="Calibri"/>
              </a:rPr>
              <a:t>Subgerencia Supply Chain APV &amp; Cat</a:t>
            </a:r>
            <a:endParaRPr sz="1800">
              <a:solidFill>
                <a:srgbClr val="0F004F"/>
              </a:solidFill>
              <a:highlight>
                <a:srgbClr val="FFFFFF"/>
              </a:highlight>
              <a:latin typeface="Calibri"/>
              <a:ea typeface="Calibri"/>
              <a:cs typeface="Calibri"/>
              <a:sym typeface="Calibri"/>
            </a:endParaRPr>
          </a:p>
          <a:p>
            <a:pPr indent="0" lvl="0" marL="0" rtl="0" algn="l">
              <a:lnSpc>
                <a:spcPct val="115000"/>
              </a:lnSpc>
              <a:spcBef>
                <a:spcPts val="0"/>
              </a:spcBef>
              <a:spcAft>
                <a:spcPts val="0"/>
              </a:spcAft>
              <a:buNone/>
            </a:pPr>
            <a:r>
              <a:rPr lang="es-CL" sz="1800">
                <a:solidFill>
                  <a:srgbClr val="0F004F"/>
                </a:solidFill>
                <a:highlight>
                  <a:srgbClr val="FFFFFF"/>
                </a:highlight>
                <a:latin typeface="Calibri"/>
                <a:ea typeface="Calibri"/>
                <a:cs typeface="Calibri"/>
                <a:sym typeface="Calibri"/>
              </a:rPr>
              <a:t>		    Latam Airlines</a:t>
            </a:r>
            <a:endParaRPr sz="1800">
              <a:solidFill>
                <a:srgbClr val="0F004F"/>
              </a:solidFill>
              <a:highlight>
                <a:srgbClr val="FFFFFF"/>
              </a:highlight>
              <a:latin typeface="Calibri"/>
              <a:ea typeface="Calibri"/>
              <a:cs typeface="Calibri"/>
              <a:sym typeface="Calibri"/>
            </a:endParaRPr>
          </a:p>
          <a:p>
            <a:pPr indent="0" lvl="0" marL="0" rtl="0" algn="ctr">
              <a:spcBef>
                <a:spcPts val="0"/>
              </a:spcBef>
              <a:spcAft>
                <a:spcPts val="0"/>
              </a:spcAft>
              <a:buNone/>
            </a:pPr>
            <a:r>
              <a:t/>
            </a:r>
            <a:endParaRPr sz="1800">
              <a:latin typeface="Calibri"/>
              <a:ea typeface="Calibri"/>
              <a:cs typeface="Calibri"/>
              <a:sym typeface="Calibri"/>
            </a:endParaRPr>
          </a:p>
        </p:txBody>
      </p:sp>
      <p:pic>
        <p:nvPicPr>
          <p:cNvPr id="118" name="Google Shape;118;p6"/>
          <p:cNvPicPr preferRelativeResize="0"/>
          <p:nvPr/>
        </p:nvPicPr>
        <p:blipFill>
          <a:blip r:embed="rId3">
            <a:alphaModFix/>
          </a:blip>
          <a:stretch>
            <a:fillRect/>
          </a:stretch>
        </p:blipFill>
        <p:spPr>
          <a:xfrm>
            <a:off x="16293650" y="4338973"/>
            <a:ext cx="2902899" cy="3870552"/>
          </a:xfrm>
          <a:prstGeom prst="rect">
            <a:avLst/>
          </a:prstGeom>
          <a:noFill/>
          <a:ln>
            <a:noFill/>
          </a:ln>
        </p:spPr>
      </p:pic>
      <p:pic>
        <p:nvPicPr>
          <p:cNvPr id="119" name="Google Shape;119;p6"/>
          <p:cNvPicPr preferRelativeResize="0"/>
          <p:nvPr/>
        </p:nvPicPr>
        <p:blipFill>
          <a:blip r:embed="rId4">
            <a:alphaModFix/>
          </a:blip>
          <a:stretch>
            <a:fillRect/>
          </a:stretch>
        </p:blipFill>
        <p:spPr>
          <a:xfrm>
            <a:off x="11916226" y="4360406"/>
            <a:ext cx="2569300" cy="3849119"/>
          </a:xfrm>
          <a:prstGeom prst="rect">
            <a:avLst/>
          </a:prstGeom>
          <a:noFill/>
          <a:ln>
            <a:noFill/>
          </a:ln>
        </p:spPr>
      </p:pic>
      <p:pic>
        <p:nvPicPr>
          <p:cNvPr id="120" name="Google Shape;120;p6"/>
          <p:cNvPicPr preferRelativeResize="0"/>
          <p:nvPr/>
        </p:nvPicPr>
        <p:blipFill rotWithShape="1">
          <a:blip r:embed="rId5">
            <a:alphaModFix/>
          </a:blip>
          <a:srcRect b="-3299" l="-3300" r="3299" t="3300"/>
          <a:stretch/>
        </p:blipFill>
        <p:spPr>
          <a:xfrm>
            <a:off x="6144142" y="3281413"/>
            <a:ext cx="2902896" cy="5080068"/>
          </a:xfrm>
          <a:prstGeom prst="rect">
            <a:avLst/>
          </a:prstGeom>
          <a:noFill/>
          <a:ln>
            <a:noFill/>
          </a:ln>
        </p:spPr>
      </p:pic>
      <p:pic>
        <p:nvPicPr>
          <p:cNvPr id="121" name="Google Shape;121;p6"/>
          <p:cNvPicPr preferRelativeResize="0"/>
          <p:nvPr/>
        </p:nvPicPr>
        <p:blipFill>
          <a:blip r:embed="rId6">
            <a:alphaModFix/>
          </a:blip>
          <a:stretch>
            <a:fillRect/>
          </a:stretch>
        </p:blipFill>
        <p:spPr>
          <a:xfrm>
            <a:off x="1411288" y="4097500"/>
            <a:ext cx="3041706" cy="40556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nvSpPr>
        <p:spPr>
          <a:xfrm>
            <a:off x="8159750" y="6250622"/>
            <a:ext cx="1905000"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02</a:t>
            </a:r>
            <a:endParaRPr b="0" i="0" sz="1400" u="none" cap="none" strike="noStrike">
              <a:solidFill>
                <a:srgbClr val="000000"/>
              </a:solidFill>
              <a:latin typeface="Arial"/>
              <a:ea typeface="Arial"/>
              <a:cs typeface="Arial"/>
              <a:sym typeface="Arial"/>
            </a:endParaRPr>
          </a:p>
        </p:txBody>
      </p:sp>
      <p:sp>
        <p:nvSpPr>
          <p:cNvPr id="127" name="Google Shape;127;p7"/>
          <p:cNvSpPr txBox="1"/>
          <p:nvPr/>
        </p:nvSpPr>
        <p:spPr>
          <a:xfrm>
            <a:off x="1517650" y="7712075"/>
            <a:ext cx="8305800" cy="738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4800"/>
              <a:buFont typeface="Arial"/>
              <a:buNone/>
            </a:pPr>
            <a:r>
              <a:rPr b="1" lang="es-CL" sz="4800">
                <a:solidFill>
                  <a:schemeClr val="lt1"/>
                </a:solidFill>
              </a:rPr>
              <a:t>Contexto Del Caso</a:t>
            </a:r>
            <a:endParaRPr b="1" i="0" sz="48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8" title="FOOTER-SIN-LOGO (1).png"/>
          <p:cNvPicPr preferRelativeResize="0"/>
          <p:nvPr/>
        </p:nvPicPr>
        <p:blipFill>
          <a:blip r:embed="rId3">
            <a:alphaModFix/>
          </a:blip>
          <a:stretch>
            <a:fillRect/>
          </a:stretch>
        </p:blipFill>
        <p:spPr>
          <a:xfrm>
            <a:off x="10821475" y="510825"/>
            <a:ext cx="6342748" cy="2107625"/>
          </a:xfrm>
          <a:prstGeom prst="rect">
            <a:avLst/>
          </a:prstGeom>
          <a:noFill/>
          <a:ln>
            <a:noFill/>
          </a:ln>
        </p:spPr>
      </p:pic>
      <p:pic>
        <p:nvPicPr>
          <p:cNvPr id="133" name="Google Shape;133;p8" title="LOGO-TROPEZON (1).png"/>
          <p:cNvPicPr preferRelativeResize="0"/>
          <p:nvPr/>
        </p:nvPicPr>
        <p:blipFill>
          <a:blip r:embed="rId4">
            <a:alphaModFix/>
          </a:blip>
          <a:stretch>
            <a:fillRect/>
          </a:stretch>
        </p:blipFill>
        <p:spPr>
          <a:xfrm>
            <a:off x="11148375" y="332024"/>
            <a:ext cx="5790652" cy="2465225"/>
          </a:xfrm>
          <a:prstGeom prst="rect">
            <a:avLst/>
          </a:prstGeom>
          <a:noFill/>
          <a:ln>
            <a:noFill/>
          </a:ln>
        </p:spPr>
      </p:pic>
      <p:sp>
        <p:nvSpPr>
          <p:cNvPr id="134" name="Google Shape;134;p8"/>
          <p:cNvSpPr txBox="1"/>
          <p:nvPr/>
        </p:nvSpPr>
        <p:spPr>
          <a:xfrm>
            <a:off x="543275" y="280350"/>
            <a:ext cx="4218900" cy="9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3900">
                <a:latin typeface="Calibri"/>
                <a:ea typeface="Calibri"/>
                <a:cs typeface="Calibri"/>
                <a:sym typeface="Calibri"/>
              </a:rPr>
              <a:t>¿Que Es Tropezón?</a:t>
            </a:r>
            <a:endParaRPr b="1" sz="3900">
              <a:latin typeface="Calibri"/>
              <a:ea typeface="Calibri"/>
              <a:cs typeface="Calibri"/>
              <a:sym typeface="Calibri"/>
            </a:endParaRPr>
          </a:p>
        </p:txBody>
      </p:sp>
      <p:sp>
        <p:nvSpPr>
          <p:cNvPr id="135" name="Google Shape;135;p8"/>
          <p:cNvSpPr txBox="1"/>
          <p:nvPr/>
        </p:nvSpPr>
        <p:spPr>
          <a:xfrm>
            <a:off x="733875" y="1195275"/>
            <a:ext cx="59469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Diario de comunas de pudahuel y comunas aledañas que a operado por 18 años mostrando y apoyando a su comunidad con noticias de la zona y de interés público.</a:t>
            </a:r>
            <a:endParaRPr sz="1800">
              <a:latin typeface="Calibri"/>
              <a:ea typeface="Calibri"/>
              <a:cs typeface="Calibri"/>
              <a:sym typeface="Calibri"/>
            </a:endParaRPr>
          </a:p>
        </p:txBody>
      </p:sp>
      <p:sp>
        <p:nvSpPr>
          <p:cNvPr id="136" name="Google Shape;136;p8"/>
          <p:cNvSpPr txBox="1"/>
          <p:nvPr/>
        </p:nvSpPr>
        <p:spPr>
          <a:xfrm>
            <a:off x="543275" y="3178475"/>
            <a:ext cx="6671100" cy="78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3400">
                <a:latin typeface="Calibri"/>
                <a:ea typeface="Calibri"/>
                <a:cs typeface="Calibri"/>
                <a:sym typeface="Calibri"/>
              </a:rPr>
              <a:t>¿</a:t>
            </a:r>
            <a:r>
              <a:rPr b="1" lang="es-CL" sz="3400">
                <a:latin typeface="Calibri"/>
                <a:ea typeface="Calibri"/>
                <a:cs typeface="Calibri"/>
                <a:sym typeface="Calibri"/>
              </a:rPr>
              <a:t>Qué</a:t>
            </a:r>
            <a:r>
              <a:rPr b="1" lang="es-CL" sz="3400">
                <a:latin typeface="Calibri"/>
                <a:ea typeface="Calibri"/>
                <a:cs typeface="Calibri"/>
                <a:sym typeface="Calibri"/>
              </a:rPr>
              <a:t> </a:t>
            </a:r>
            <a:r>
              <a:rPr b="1" lang="es-CL" sz="3400">
                <a:latin typeface="Calibri"/>
                <a:ea typeface="Calibri"/>
                <a:cs typeface="Calibri"/>
                <a:sym typeface="Calibri"/>
              </a:rPr>
              <a:t>Problemática</a:t>
            </a:r>
            <a:r>
              <a:rPr b="1" lang="es-CL" sz="3400">
                <a:latin typeface="Calibri"/>
                <a:ea typeface="Calibri"/>
                <a:cs typeface="Calibri"/>
                <a:sym typeface="Calibri"/>
              </a:rPr>
              <a:t> Tiene Tropezón?</a:t>
            </a:r>
            <a:endParaRPr b="1" sz="3400">
              <a:latin typeface="Calibri"/>
              <a:ea typeface="Calibri"/>
              <a:cs typeface="Calibri"/>
              <a:sym typeface="Calibri"/>
            </a:endParaRPr>
          </a:p>
        </p:txBody>
      </p:sp>
      <p:sp>
        <p:nvSpPr>
          <p:cNvPr id="137" name="Google Shape;137;p8"/>
          <p:cNvSpPr txBox="1"/>
          <p:nvPr/>
        </p:nvSpPr>
        <p:spPr>
          <a:xfrm>
            <a:off x="606825" y="4244975"/>
            <a:ext cx="7916400" cy="45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Actual proceso de recepción y publicación de noticias se genera de forma manual generando un alto retraso en el proceso de analizar noticias, prepararlas y publicarlas. </a:t>
            </a:r>
            <a:r>
              <a:rPr b="1" lang="es-CL" sz="1800">
                <a:solidFill>
                  <a:schemeClr val="dk1"/>
                </a:solidFill>
                <a:latin typeface="Calibri"/>
                <a:ea typeface="Calibri"/>
                <a:cs typeface="Calibri"/>
                <a:sym typeface="Calibri"/>
              </a:rPr>
              <a:t>Tiempo por publicación de noticia 30 - 40 minutos.</a:t>
            </a:r>
            <a:endParaRPr sz="1800">
              <a:solidFill>
                <a:schemeClr val="dk1"/>
              </a:solidFill>
              <a:latin typeface="Calibri"/>
              <a:ea typeface="Calibri"/>
              <a:cs typeface="Calibri"/>
              <a:sym typeface="Calibri"/>
            </a:endParaRPr>
          </a:p>
          <a:p>
            <a:pPr indent="0" lvl="0" marL="0" rtl="0" algn="l">
              <a:spcBef>
                <a:spcPts val="0"/>
              </a:spcBef>
              <a:spcAft>
                <a:spcPts val="0"/>
              </a:spcAft>
              <a:buNone/>
            </a:pPr>
            <a:br>
              <a:rPr lang="es-CL" sz="1800">
                <a:latin typeface="Calibri"/>
                <a:ea typeface="Calibri"/>
                <a:cs typeface="Calibri"/>
                <a:sym typeface="Calibri"/>
              </a:rPr>
            </a:br>
            <a:r>
              <a:rPr lang="es-CL" sz="1800">
                <a:latin typeface="Calibri"/>
                <a:ea typeface="Calibri"/>
                <a:cs typeface="Calibri"/>
                <a:sym typeface="Calibri"/>
              </a:rPr>
              <a:t>Estética Visual Poco Atractiva y poca interacción con las noticias. </a:t>
            </a:r>
            <a:r>
              <a:rPr b="1" lang="es-CL" sz="1800">
                <a:latin typeface="Calibri"/>
                <a:ea typeface="Calibri"/>
                <a:cs typeface="Calibri"/>
                <a:sym typeface="Calibri"/>
              </a:rPr>
              <a:t>Estética básica sin estructura basada en importancia ni interés visual por parte de los visitantes </a:t>
            </a:r>
            <a:br>
              <a:rPr lang="es-CL" sz="1800">
                <a:latin typeface="Calibri"/>
                <a:ea typeface="Calibri"/>
                <a:cs typeface="Calibri"/>
                <a:sym typeface="Calibri"/>
              </a:rPr>
            </a:br>
            <a:br>
              <a:rPr lang="es-CL" sz="1800">
                <a:latin typeface="Calibri"/>
                <a:ea typeface="Calibri"/>
                <a:cs typeface="Calibri"/>
                <a:sym typeface="Calibri"/>
              </a:rPr>
            </a:br>
            <a:r>
              <a:rPr lang="es-CL" sz="1800">
                <a:latin typeface="Calibri"/>
                <a:ea typeface="Calibri"/>
                <a:cs typeface="Calibri"/>
                <a:sym typeface="Calibri"/>
              </a:rPr>
              <a:t>Ningún sistema de optimización de contenido y de SEO para la página ni sistemas de Interacción con los clientes que consumen su medio. </a:t>
            </a:r>
            <a:r>
              <a:rPr b="1" lang="es-CL" sz="1800">
                <a:latin typeface="Calibri"/>
                <a:ea typeface="Calibri"/>
                <a:cs typeface="Calibri"/>
                <a:sym typeface="Calibri"/>
              </a:rPr>
              <a:t>Ningún sistema de palabras claves para aumentar posicionamiento o visualización de noticias</a:t>
            </a:r>
            <a:br>
              <a:rPr lang="es-CL" sz="1800">
                <a:latin typeface="Calibri"/>
                <a:ea typeface="Calibri"/>
                <a:cs typeface="Calibri"/>
                <a:sym typeface="Calibri"/>
              </a:rPr>
            </a:br>
            <a:br>
              <a:rPr lang="es-CL" sz="1800">
                <a:latin typeface="Calibri"/>
                <a:ea typeface="Calibri"/>
                <a:cs typeface="Calibri"/>
                <a:sym typeface="Calibri"/>
              </a:rPr>
            </a:br>
            <a:r>
              <a:rPr lang="es-CL" sz="1800">
                <a:latin typeface="Calibri"/>
                <a:ea typeface="Calibri"/>
                <a:cs typeface="Calibri"/>
                <a:sym typeface="Calibri"/>
              </a:rPr>
              <a:t>Ningún método de monetización generada gracias a la página web generando una gran carga económica para el dueño del medio de comunicación </a:t>
            </a:r>
            <a:r>
              <a:rPr b="1" lang="es-CL" sz="1800">
                <a:latin typeface="Calibri"/>
                <a:ea typeface="Calibri"/>
                <a:cs typeface="Calibri"/>
                <a:sym typeface="Calibri"/>
              </a:rPr>
              <a:t>Monetización generada por las noticias publicadas en Facebook ronda los </a:t>
            </a:r>
            <a:r>
              <a:rPr b="1" lang="es-CL" sz="1800" u="sng">
                <a:latin typeface="Calibri"/>
                <a:ea typeface="Calibri"/>
                <a:cs typeface="Calibri"/>
                <a:sym typeface="Calibri"/>
              </a:rPr>
              <a:t>2-14 CLP</a:t>
            </a:r>
            <a:r>
              <a:rPr b="1" lang="es-CL" sz="1800">
                <a:latin typeface="Calibri"/>
                <a:ea typeface="Calibri"/>
                <a:cs typeface="Calibri"/>
                <a:sym typeface="Calibri"/>
              </a:rPr>
              <a:t>. Generando una nula ganancia para el medio</a:t>
            </a:r>
            <a:endParaRPr b="1" sz="1800">
              <a:latin typeface="Calibri"/>
              <a:ea typeface="Calibri"/>
              <a:cs typeface="Calibri"/>
              <a:sym typeface="Calibri"/>
            </a:endParaRPr>
          </a:p>
        </p:txBody>
      </p:sp>
      <p:sp>
        <p:nvSpPr>
          <p:cNvPr id="138" name="Google Shape;138;p8"/>
          <p:cNvSpPr/>
          <p:nvPr/>
        </p:nvSpPr>
        <p:spPr>
          <a:xfrm>
            <a:off x="10721700" y="3266525"/>
            <a:ext cx="7700400" cy="6798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9" name="Google Shape;139;p8"/>
          <p:cNvSpPr txBox="1"/>
          <p:nvPr/>
        </p:nvSpPr>
        <p:spPr>
          <a:xfrm>
            <a:off x="11591600" y="7332800"/>
            <a:ext cx="6131700" cy="18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CL" sz="1800">
                <a:latin typeface="Calibri"/>
                <a:ea typeface="Calibri"/>
                <a:cs typeface="Calibri"/>
                <a:sym typeface="Calibri"/>
              </a:rPr>
              <a:t>“Buscamos que tropezón sea algo </a:t>
            </a:r>
            <a:r>
              <a:rPr i="1" lang="es-CL" sz="1800">
                <a:latin typeface="Calibri"/>
                <a:ea typeface="Calibri"/>
                <a:cs typeface="Calibri"/>
                <a:sym typeface="Calibri"/>
              </a:rPr>
              <a:t>más</a:t>
            </a:r>
            <a:r>
              <a:rPr i="1" lang="es-CL" sz="1800">
                <a:latin typeface="Calibri"/>
                <a:ea typeface="Calibri"/>
                <a:cs typeface="Calibri"/>
                <a:sym typeface="Calibri"/>
              </a:rPr>
              <a:t> que un diario que la gente lea, queremos que sea un apoyo a la comunidad que si la señora del bazar tiene una noticia que contar que vea que somos el medio para que la cuente y que la gente se identifique”</a:t>
            </a:r>
            <a:endParaRPr i="1" sz="1800">
              <a:latin typeface="Calibri"/>
              <a:ea typeface="Calibri"/>
              <a:cs typeface="Calibri"/>
              <a:sym typeface="Calibri"/>
            </a:endParaRPr>
          </a:p>
        </p:txBody>
      </p:sp>
      <p:sp>
        <p:nvSpPr>
          <p:cNvPr id="140" name="Google Shape;140;p8"/>
          <p:cNvSpPr txBox="1"/>
          <p:nvPr/>
        </p:nvSpPr>
        <p:spPr>
          <a:xfrm>
            <a:off x="11148375" y="8781275"/>
            <a:ext cx="6774900" cy="54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1800">
                <a:latin typeface="Calibri"/>
                <a:ea typeface="Calibri"/>
                <a:cs typeface="Calibri"/>
                <a:sym typeface="Calibri"/>
              </a:rPr>
              <a:t>Gabriel</a:t>
            </a:r>
            <a:r>
              <a:rPr lang="es-CL" sz="1800">
                <a:latin typeface="Calibri"/>
                <a:ea typeface="Calibri"/>
                <a:cs typeface="Calibri"/>
                <a:sym typeface="Calibri"/>
              </a:rPr>
              <a:t> Riveros - Dueño diario Tropezon</a:t>
            </a:r>
            <a:br>
              <a:rPr lang="es-CL" sz="1800">
                <a:latin typeface="Calibri"/>
                <a:ea typeface="Calibri"/>
                <a:cs typeface="Calibri"/>
                <a:sym typeface="Calibri"/>
              </a:rPr>
            </a:br>
            <a:r>
              <a:rPr lang="es-CL" sz="1800">
                <a:latin typeface="Calibri"/>
                <a:ea typeface="Calibri"/>
                <a:cs typeface="Calibri"/>
                <a:sym typeface="Calibri"/>
              </a:rPr>
              <a:t>Frase recuperada de primera </a:t>
            </a:r>
            <a:r>
              <a:rPr lang="es-CL" sz="1800">
                <a:latin typeface="Calibri"/>
                <a:ea typeface="Calibri"/>
                <a:cs typeface="Calibri"/>
                <a:sym typeface="Calibri"/>
              </a:rPr>
              <a:t>reunión</a:t>
            </a:r>
            <a:r>
              <a:rPr lang="es-CL" sz="1800">
                <a:latin typeface="Calibri"/>
                <a:ea typeface="Calibri"/>
                <a:cs typeface="Calibri"/>
                <a:sym typeface="Calibri"/>
              </a:rPr>
              <a:t> presencial junto al equipo </a:t>
            </a:r>
            <a:r>
              <a:rPr lang="es-CL" sz="1800">
                <a:latin typeface="Calibri"/>
                <a:ea typeface="Calibri"/>
                <a:cs typeface="Calibri"/>
                <a:sym typeface="Calibri"/>
              </a:rPr>
              <a:t>Tropezón</a:t>
            </a:r>
            <a:r>
              <a:rPr lang="es-CL" sz="1800">
                <a:latin typeface="Calibri"/>
                <a:ea typeface="Calibri"/>
                <a:cs typeface="Calibri"/>
                <a:sym typeface="Calibri"/>
              </a:rPr>
              <a:t>  y el equipo de trabajo.</a:t>
            </a:r>
            <a:endParaRPr sz="1800">
              <a:latin typeface="Calibri"/>
              <a:ea typeface="Calibri"/>
              <a:cs typeface="Calibri"/>
              <a:sym typeface="Calibri"/>
            </a:endParaRPr>
          </a:p>
        </p:txBody>
      </p:sp>
      <p:pic>
        <p:nvPicPr>
          <p:cNvPr id="141" name="Google Shape;141;p8"/>
          <p:cNvPicPr preferRelativeResize="0"/>
          <p:nvPr/>
        </p:nvPicPr>
        <p:blipFill>
          <a:blip r:embed="rId5">
            <a:alphaModFix/>
          </a:blip>
          <a:stretch>
            <a:fillRect/>
          </a:stretch>
        </p:blipFill>
        <p:spPr>
          <a:xfrm>
            <a:off x="8229175" y="453937"/>
            <a:ext cx="2221400" cy="2221400"/>
          </a:xfrm>
          <a:prstGeom prst="rect">
            <a:avLst/>
          </a:prstGeom>
          <a:noFill/>
          <a:ln>
            <a:noFill/>
          </a:ln>
        </p:spPr>
      </p:pic>
      <p:pic>
        <p:nvPicPr>
          <p:cNvPr id="142" name="Google Shape;142;p8"/>
          <p:cNvPicPr preferRelativeResize="0"/>
          <p:nvPr/>
        </p:nvPicPr>
        <p:blipFill>
          <a:blip r:embed="rId6">
            <a:alphaModFix/>
          </a:blip>
          <a:stretch>
            <a:fillRect/>
          </a:stretch>
        </p:blipFill>
        <p:spPr>
          <a:xfrm>
            <a:off x="13160959" y="3266525"/>
            <a:ext cx="2992976" cy="40321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rot="104">
            <a:off x="3661394" y="4268953"/>
            <a:ext cx="9930300" cy="40635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lang="es-CL" sz="6600">
                <a:latin typeface="Calibri"/>
                <a:ea typeface="Calibri"/>
                <a:cs typeface="Calibri"/>
                <a:sym typeface="Calibri"/>
              </a:rPr>
              <a:t>Objetivo General y Específicos </a:t>
            </a:r>
            <a:endParaRPr sz="6600">
              <a:latin typeface="Roboto"/>
              <a:ea typeface="Roboto"/>
              <a:cs typeface="Roboto"/>
              <a:sym typeface="Roboto"/>
            </a:endParaRPr>
          </a:p>
          <a:p>
            <a:pPr indent="0" lvl="0" marL="0" rtl="0" algn="r">
              <a:lnSpc>
                <a:spcPct val="100000"/>
              </a:lnSpc>
              <a:spcBef>
                <a:spcPts val="0"/>
              </a:spcBef>
              <a:spcAft>
                <a:spcPts val="0"/>
              </a:spcAft>
              <a:buSzPts val="1400"/>
              <a:buNone/>
            </a:pPr>
            <a:r>
              <a:t/>
            </a:r>
            <a:endParaRPr sz="6600"/>
          </a:p>
        </p:txBody>
      </p:sp>
      <p:sp>
        <p:nvSpPr>
          <p:cNvPr id="148" name="Google Shape;148;p9"/>
          <p:cNvSpPr txBox="1"/>
          <p:nvPr/>
        </p:nvSpPr>
        <p:spPr>
          <a:xfrm>
            <a:off x="8949397" y="2207550"/>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chemeClr val="dk1"/>
                </a:solidFill>
                <a:latin typeface="Arial Black"/>
                <a:ea typeface="Arial Black"/>
                <a:cs typeface="Arial Black"/>
                <a:sym typeface="Arial Black"/>
              </a:rPr>
              <a:t>03</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p:nvPr/>
        </p:nvSpPr>
        <p:spPr>
          <a:xfrm>
            <a:off x="835625" y="3025100"/>
            <a:ext cx="7840200" cy="7230300"/>
          </a:xfrm>
          <a:prstGeom prst="roundRect">
            <a:avLst>
              <a:gd fmla="val 16667" name="adj"/>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4" name="Google Shape;154;p10"/>
          <p:cNvSpPr txBox="1"/>
          <p:nvPr/>
        </p:nvSpPr>
        <p:spPr>
          <a:xfrm>
            <a:off x="985925" y="3923650"/>
            <a:ext cx="7539600" cy="6801900"/>
          </a:xfrm>
          <a:prstGeom prst="rect">
            <a:avLst/>
          </a:prstGeom>
          <a:noFill/>
          <a:ln>
            <a:noFill/>
          </a:ln>
        </p:spPr>
        <p:txBody>
          <a:bodyPr anchorCtr="0" anchor="t" bIns="91425" lIns="91425" spcFirstLastPara="1" rIns="91425" wrap="square" tIns="91425">
            <a:noAutofit/>
          </a:bodyPr>
          <a:lstStyle/>
          <a:p>
            <a:pPr indent="-368300" lvl="0" marL="457200" rtl="0" algn="l">
              <a:lnSpc>
                <a:spcPct val="100000"/>
              </a:lnSpc>
              <a:spcBef>
                <a:spcPts val="0"/>
              </a:spcBef>
              <a:spcAft>
                <a:spcPts val="0"/>
              </a:spcAft>
              <a:buClr>
                <a:schemeClr val="lt1"/>
              </a:buClr>
              <a:buSzPts val="2200"/>
              <a:buFont typeface="Calibri"/>
              <a:buChar char="●"/>
            </a:pPr>
            <a:r>
              <a:rPr b="1" lang="es-CL" sz="2100">
                <a:solidFill>
                  <a:schemeClr val="lt1"/>
                </a:solidFill>
                <a:latin typeface="Calibri"/>
                <a:ea typeface="Calibri"/>
                <a:cs typeface="Calibri"/>
                <a:sym typeface="Calibri"/>
              </a:rPr>
              <a:t>Modernizar el portal web</a:t>
            </a:r>
            <a:r>
              <a:rPr lang="es-CL" sz="2100">
                <a:solidFill>
                  <a:schemeClr val="lt1"/>
                </a:solidFill>
                <a:latin typeface="Calibri"/>
                <a:ea typeface="Calibri"/>
                <a:cs typeface="Calibri"/>
                <a:sym typeface="Calibri"/>
              </a:rPr>
              <a:t> mediante la implementación de un CMS WordPress con diseño responsive basado en Elementor.</a:t>
            </a:r>
            <a:endParaRPr sz="2100">
              <a:solidFill>
                <a:schemeClr val="lt1"/>
              </a:solidFill>
              <a:latin typeface="Calibri"/>
              <a:ea typeface="Calibri"/>
              <a:cs typeface="Calibri"/>
              <a:sym typeface="Calibri"/>
            </a:endParaRPr>
          </a:p>
          <a:p>
            <a:pPr indent="-368300" lvl="0" marL="457200" rtl="0" algn="l">
              <a:lnSpc>
                <a:spcPct val="100000"/>
              </a:lnSpc>
              <a:spcBef>
                <a:spcPts val="0"/>
              </a:spcBef>
              <a:spcAft>
                <a:spcPts val="0"/>
              </a:spcAft>
              <a:buClr>
                <a:schemeClr val="lt1"/>
              </a:buClr>
              <a:buSzPts val="2200"/>
              <a:buFont typeface="Calibri"/>
              <a:buChar char="●"/>
            </a:pPr>
            <a:r>
              <a:rPr b="1" lang="es-CL" sz="2100">
                <a:solidFill>
                  <a:schemeClr val="lt1"/>
                </a:solidFill>
                <a:latin typeface="Calibri"/>
                <a:ea typeface="Calibri"/>
                <a:cs typeface="Calibri"/>
                <a:sym typeface="Calibri"/>
              </a:rPr>
              <a:t>Optimizar el panel editorial</a:t>
            </a:r>
            <a:r>
              <a:rPr lang="es-CL" sz="2100">
                <a:solidFill>
                  <a:schemeClr val="lt1"/>
                </a:solidFill>
                <a:latin typeface="Calibri"/>
                <a:ea typeface="Calibri"/>
                <a:cs typeface="Calibri"/>
                <a:sym typeface="Calibri"/>
              </a:rPr>
              <a:t> para mejorar la agilidad en la creación y gestión de contenidos.</a:t>
            </a:r>
            <a:endParaRPr sz="2100">
              <a:solidFill>
                <a:schemeClr val="lt1"/>
              </a:solidFill>
              <a:latin typeface="Calibri"/>
              <a:ea typeface="Calibri"/>
              <a:cs typeface="Calibri"/>
              <a:sym typeface="Calibri"/>
            </a:endParaRPr>
          </a:p>
          <a:p>
            <a:pPr indent="-368300" lvl="0" marL="457200" rtl="0" algn="l">
              <a:lnSpc>
                <a:spcPct val="100000"/>
              </a:lnSpc>
              <a:spcBef>
                <a:spcPts val="0"/>
              </a:spcBef>
              <a:spcAft>
                <a:spcPts val="0"/>
              </a:spcAft>
              <a:buClr>
                <a:schemeClr val="lt1"/>
              </a:buClr>
              <a:buSzPts val="2200"/>
              <a:buFont typeface="Calibri"/>
              <a:buChar char="●"/>
            </a:pPr>
            <a:r>
              <a:rPr b="1" lang="es-CL" sz="2100">
                <a:solidFill>
                  <a:schemeClr val="lt1"/>
                </a:solidFill>
                <a:latin typeface="Calibri"/>
                <a:ea typeface="Calibri"/>
                <a:cs typeface="Calibri"/>
                <a:sym typeface="Calibri"/>
              </a:rPr>
              <a:t>Realizar la migración histórica del contenido</a:t>
            </a:r>
            <a:r>
              <a:rPr lang="es-CL" sz="2100">
                <a:solidFill>
                  <a:schemeClr val="lt1"/>
                </a:solidFill>
                <a:latin typeface="Calibri"/>
                <a:ea typeface="Calibri"/>
                <a:cs typeface="Calibri"/>
                <a:sym typeface="Calibri"/>
              </a:rPr>
              <a:t> sin pérdida de información, asegurando continuidad operativa.</a:t>
            </a:r>
            <a:endParaRPr sz="2100">
              <a:solidFill>
                <a:schemeClr val="lt1"/>
              </a:solidFill>
              <a:latin typeface="Calibri"/>
              <a:ea typeface="Calibri"/>
              <a:cs typeface="Calibri"/>
              <a:sym typeface="Calibri"/>
            </a:endParaRPr>
          </a:p>
          <a:p>
            <a:pPr indent="-368300" lvl="0" marL="457200" rtl="0" algn="l">
              <a:lnSpc>
                <a:spcPct val="100000"/>
              </a:lnSpc>
              <a:spcBef>
                <a:spcPts val="0"/>
              </a:spcBef>
              <a:spcAft>
                <a:spcPts val="0"/>
              </a:spcAft>
              <a:buClr>
                <a:schemeClr val="lt1"/>
              </a:buClr>
              <a:buSzPts val="2200"/>
              <a:buFont typeface="Calibri"/>
              <a:buChar char="●"/>
            </a:pPr>
            <a:r>
              <a:rPr b="1" lang="es-CL" sz="2100">
                <a:solidFill>
                  <a:schemeClr val="lt1"/>
                </a:solidFill>
                <a:latin typeface="Calibri"/>
                <a:ea typeface="Calibri"/>
                <a:cs typeface="Calibri"/>
                <a:sym typeface="Calibri"/>
              </a:rPr>
              <a:t>Capacitar a los usuarios del sistema</a:t>
            </a:r>
            <a:r>
              <a:rPr lang="es-CL" sz="2100">
                <a:solidFill>
                  <a:schemeClr val="lt1"/>
                </a:solidFill>
                <a:latin typeface="Calibri"/>
                <a:ea typeface="Calibri"/>
                <a:cs typeface="Calibri"/>
                <a:sym typeface="Calibri"/>
              </a:rPr>
              <a:t> para garantizar un uso eficiente del nuevo portal.</a:t>
            </a:r>
            <a:endParaRPr sz="2100">
              <a:solidFill>
                <a:schemeClr val="lt1"/>
              </a:solidFill>
              <a:latin typeface="Calibri"/>
              <a:ea typeface="Calibri"/>
              <a:cs typeface="Calibri"/>
              <a:sym typeface="Calibri"/>
            </a:endParaRPr>
          </a:p>
          <a:p>
            <a:pPr indent="0" lvl="0" marL="457200" rtl="0" algn="l">
              <a:lnSpc>
                <a:spcPct val="100000"/>
              </a:lnSpc>
              <a:spcBef>
                <a:spcPts val="0"/>
              </a:spcBef>
              <a:spcAft>
                <a:spcPts val="0"/>
              </a:spcAft>
              <a:buNone/>
            </a:pPr>
            <a:r>
              <a:t/>
            </a:r>
            <a:endParaRPr sz="2100">
              <a:solidFill>
                <a:schemeClr val="lt1"/>
              </a:solidFill>
              <a:latin typeface="Calibri"/>
              <a:ea typeface="Calibri"/>
              <a:cs typeface="Calibri"/>
              <a:sym typeface="Calibri"/>
            </a:endParaRPr>
          </a:p>
          <a:p>
            <a:pPr indent="0" lvl="0" marL="0" rtl="0" algn="l">
              <a:lnSpc>
                <a:spcPct val="100000"/>
              </a:lnSpc>
              <a:spcBef>
                <a:spcPts val="0"/>
              </a:spcBef>
              <a:spcAft>
                <a:spcPts val="0"/>
              </a:spcAft>
              <a:buNone/>
            </a:pPr>
            <a:r>
              <a:t/>
            </a:r>
            <a:endParaRPr sz="2100">
              <a:solidFill>
                <a:schemeClr val="lt1"/>
              </a:solidFill>
              <a:latin typeface="Calibri"/>
              <a:ea typeface="Calibri"/>
              <a:cs typeface="Calibri"/>
              <a:sym typeface="Calibri"/>
            </a:endParaRPr>
          </a:p>
          <a:p>
            <a:pPr indent="0" lvl="0" marL="457200" rtl="0" algn="l">
              <a:lnSpc>
                <a:spcPct val="100000"/>
              </a:lnSpc>
              <a:spcBef>
                <a:spcPts val="0"/>
              </a:spcBef>
              <a:spcAft>
                <a:spcPts val="0"/>
              </a:spcAft>
              <a:buNone/>
            </a:pPr>
            <a:r>
              <a:t/>
            </a:r>
            <a:endParaRPr sz="2100">
              <a:solidFill>
                <a:schemeClr val="lt1"/>
              </a:solidFill>
              <a:latin typeface="Calibri"/>
              <a:ea typeface="Calibri"/>
              <a:cs typeface="Calibri"/>
              <a:sym typeface="Calibri"/>
            </a:endParaRPr>
          </a:p>
          <a:p>
            <a:pPr indent="-361950" lvl="0" marL="457200" rtl="0" algn="l">
              <a:lnSpc>
                <a:spcPct val="100000"/>
              </a:lnSpc>
              <a:spcBef>
                <a:spcPts val="0"/>
              </a:spcBef>
              <a:spcAft>
                <a:spcPts val="0"/>
              </a:spcAft>
              <a:buClr>
                <a:schemeClr val="lt1"/>
              </a:buClr>
              <a:buSzPts val="2100"/>
              <a:buFont typeface="Calibri"/>
              <a:buChar char="●"/>
            </a:pPr>
            <a:r>
              <a:rPr b="1" lang="es-CL" sz="2100">
                <a:solidFill>
                  <a:schemeClr val="lt1"/>
                </a:solidFill>
                <a:latin typeface="Calibri"/>
                <a:ea typeface="Calibri"/>
                <a:cs typeface="Calibri"/>
                <a:sym typeface="Calibri"/>
              </a:rPr>
              <a:t>Potenciar la experiencia de los segmentos de usuarios</a:t>
            </a:r>
            <a:r>
              <a:rPr lang="es-CL" sz="2100">
                <a:solidFill>
                  <a:schemeClr val="lt1"/>
                </a:solidFill>
                <a:latin typeface="Calibri"/>
                <a:ea typeface="Calibri"/>
                <a:cs typeface="Calibri"/>
                <a:sym typeface="Calibri"/>
              </a:rPr>
              <a:t> (lectores digitales, equipo editorial y columnistas) entregando acceso inmediato, autogestión de publicaciones, SEO optimizado y una navegación más rápida y atractiva.</a:t>
            </a:r>
            <a:endParaRPr sz="2100">
              <a:solidFill>
                <a:schemeClr val="lt1"/>
              </a:solidFill>
              <a:latin typeface="Calibri"/>
              <a:ea typeface="Calibri"/>
              <a:cs typeface="Calibri"/>
              <a:sym typeface="Calibri"/>
            </a:endParaRPr>
          </a:p>
        </p:txBody>
      </p:sp>
      <p:sp>
        <p:nvSpPr>
          <p:cNvPr id="155" name="Google Shape;155;p10"/>
          <p:cNvSpPr txBox="1"/>
          <p:nvPr/>
        </p:nvSpPr>
        <p:spPr>
          <a:xfrm>
            <a:off x="1475825" y="1918700"/>
            <a:ext cx="6559800" cy="10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5000">
                <a:latin typeface="Calibri"/>
                <a:ea typeface="Calibri"/>
                <a:cs typeface="Calibri"/>
                <a:sym typeface="Calibri"/>
              </a:rPr>
              <a:t>Objetivos</a:t>
            </a:r>
            <a:r>
              <a:rPr lang="es-CL" sz="5000">
                <a:latin typeface="Calibri"/>
                <a:ea typeface="Calibri"/>
                <a:cs typeface="Calibri"/>
                <a:sym typeface="Calibri"/>
              </a:rPr>
              <a:t> Generales</a:t>
            </a:r>
            <a:endParaRPr sz="5000">
              <a:latin typeface="Calibri"/>
              <a:ea typeface="Calibri"/>
              <a:cs typeface="Calibri"/>
              <a:sym typeface="Calibri"/>
            </a:endParaRPr>
          </a:p>
        </p:txBody>
      </p:sp>
      <p:cxnSp>
        <p:nvCxnSpPr>
          <p:cNvPr id="156" name="Google Shape;156;p10"/>
          <p:cNvCxnSpPr/>
          <p:nvPr/>
        </p:nvCxnSpPr>
        <p:spPr>
          <a:xfrm flipH="1" rot="10800000">
            <a:off x="1084925" y="7040525"/>
            <a:ext cx="6950700" cy="12600"/>
          </a:xfrm>
          <a:prstGeom prst="straightConnector1">
            <a:avLst/>
          </a:prstGeom>
          <a:noFill/>
          <a:ln cap="flat" cmpd="sng" w="9525">
            <a:solidFill>
              <a:schemeClr val="accent6"/>
            </a:solidFill>
            <a:prstDash val="solid"/>
            <a:round/>
            <a:headEnd len="med" w="med" type="none"/>
            <a:tailEnd len="med" w="med" type="none"/>
          </a:ln>
        </p:spPr>
      </p:cxnSp>
      <p:sp>
        <p:nvSpPr>
          <p:cNvPr id="157" name="Google Shape;157;p10"/>
          <p:cNvSpPr/>
          <p:nvPr/>
        </p:nvSpPr>
        <p:spPr>
          <a:xfrm>
            <a:off x="9222250" y="5401325"/>
            <a:ext cx="3596100" cy="16392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8" name="Google Shape;158;p10"/>
          <p:cNvSpPr/>
          <p:nvPr/>
        </p:nvSpPr>
        <p:spPr>
          <a:xfrm>
            <a:off x="13034400" y="3025100"/>
            <a:ext cx="6645600" cy="6975900"/>
          </a:xfrm>
          <a:prstGeom prst="roundRect">
            <a:avLst>
              <a:gd fmla="val 16667" name="adj"/>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9" name="Google Shape;159;p10"/>
          <p:cNvSpPr txBox="1"/>
          <p:nvPr/>
        </p:nvSpPr>
        <p:spPr>
          <a:xfrm>
            <a:off x="13120200" y="1740650"/>
            <a:ext cx="6559800" cy="10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5000">
                <a:latin typeface="Calibri"/>
                <a:ea typeface="Calibri"/>
                <a:cs typeface="Calibri"/>
                <a:sym typeface="Calibri"/>
              </a:rPr>
              <a:t>Objetivos de </a:t>
            </a:r>
            <a:r>
              <a:rPr lang="es-CL" sz="5000">
                <a:latin typeface="Calibri"/>
                <a:ea typeface="Calibri"/>
                <a:cs typeface="Calibri"/>
                <a:sym typeface="Calibri"/>
              </a:rPr>
              <a:t>Específicos</a:t>
            </a:r>
            <a:endParaRPr sz="5000">
              <a:latin typeface="Calibri"/>
              <a:ea typeface="Calibri"/>
              <a:cs typeface="Calibri"/>
              <a:sym typeface="Calibri"/>
            </a:endParaRPr>
          </a:p>
        </p:txBody>
      </p:sp>
      <p:sp>
        <p:nvSpPr>
          <p:cNvPr id="160" name="Google Shape;160;p10"/>
          <p:cNvSpPr txBox="1"/>
          <p:nvPr/>
        </p:nvSpPr>
        <p:spPr>
          <a:xfrm>
            <a:off x="13784125" y="3419025"/>
            <a:ext cx="5121000" cy="5527500"/>
          </a:xfrm>
          <a:prstGeom prst="rect">
            <a:avLst/>
          </a:prstGeom>
          <a:noFill/>
          <a:ln>
            <a:noFill/>
          </a:ln>
        </p:spPr>
        <p:txBody>
          <a:bodyPr anchorCtr="0" anchor="t" bIns="91425" lIns="91425" spcFirstLastPara="1" rIns="91425" wrap="square" tIns="91425">
            <a:noAutofit/>
          </a:bodyPr>
          <a:lstStyle/>
          <a:p>
            <a:pPr indent="-361950" lvl="0" marL="457200" rtl="0" algn="l">
              <a:lnSpc>
                <a:spcPct val="100000"/>
              </a:lnSpc>
              <a:spcBef>
                <a:spcPts val="0"/>
              </a:spcBef>
              <a:spcAft>
                <a:spcPts val="0"/>
              </a:spcAft>
              <a:buClr>
                <a:schemeClr val="lt1"/>
              </a:buClr>
              <a:buSzPts val="2100"/>
              <a:buFont typeface="Calibri"/>
              <a:buChar char="●"/>
            </a:pPr>
            <a:r>
              <a:rPr b="1" lang="es-CL" sz="2100">
                <a:solidFill>
                  <a:schemeClr val="lt1"/>
                </a:solidFill>
                <a:latin typeface="Calibri"/>
                <a:ea typeface="Calibri"/>
                <a:cs typeface="Calibri"/>
                <a:sym typeface="Calibri"/>
              </a:rPr>
              <a:t>Reducir los tiempos de publicación de noticias</a:t>
            </a:r>
            <a:r>
              <a:rPr lang="es-CL" sz="2100">
                <a:solidFill>
                  <a:schemeClr val="lt1"/>
                </a:solidFill>
                <a:latin typeface="Calibri"/>
                <a:ea typeface="Calibri"/>
                <a:cs typeface="Calibri"/>
                <a:sym typeface="Calibri"/>
              </a:rPr>
              <a:t> mediante la definición e implementación de procesos claros y estandarizados.</a:t>
            </a:r>
            <a:br>
              <a:rPr lang="es-CL" sz="2100">
                <a:solidFill>
                  <a:schemeClr val="lt1"/>
                </a:solidFill>
                <a:latin typeface="Calibri"/>
                <a:ea typeface="Calibri"/>
                <a:cs typeface="Calibri"/>
                <a:sym typeface="Calibri"/>
              </a:rPr>
            </a:br>
            <a:endParaRPr sz="2100">
              <a:solidFill>
                <a:schemeClr val="lt1"/>
              </a:solidFill>
              <a:latin typeface="Calibri"/>
              <a:ea typeface="Calibri"/>
              <a:cs typeface="Calibri"/>
              <a:sym typeface="Calibri"/>
            </a:endParaRPr>
          </a:p>
          <a:p>
            <a:pPr indent="-361950" lvl="0" marL="457200" rtl="0" algn="l">
              <a:lnSpc>
                <a:spcPct val="100000"/>
              </a:lnSpc>
              <a:spcBef>
                <a:spcPts val="0"/>
              </a:spcBef>
              <a:spcAft>
                <a:spcPts val="0"/>
              </a:spcAft>
              <a:buClr>
                <a:schemeClr val="lt1"/>
              </a:buClr>
              <a:buSzPts val="2100"/>
              <a:buFont typeface="Calibri"/>
              <a:buChar char="●"/>
            </a:pPr>
            <a:r>
              <a:rPr b="1" lang="es-CL" sz="2100">
                <a:solidFill>
                  <a:schemeClr val="lt1"/>
                </a:solidFill>
                <a:latin typeface="Calibri"/>
                <a:ea typeface="Calibri"/>
                <a:cs typeface="Calibri"/>
                <a:sym typeface="Calibri"/>
              </a:rPr>
              <a:t>Incrementar la interacción con los usuarios</a:t>
            </a:r>
            <a:r>
              <a:rPr lang="es-CL" sz="2100">
                <a:solidFill>
                  <a:schemeClr val="lt1"/>
                </a:solidFill>
                <a:latin typeface="Calibri"/>
                <a:ea typeface="Calibri"/>
                <a:cs typeface="Calibri"/>
                <a:sym typeface="Calibri"/>
              </a:rPr>
              <a:t> integrando un espacio participativo de “Sube </a:t>
            </a:r>
            <a:r>
              <a:rPr lang="es-CL" sz="2100">
                <a:solidFill>
                  <a:schemeClr val="lt1"/>
                </a:solidFill>
                <a:latin typeface="Calibri"/>
                <a:ea typeface="Calibri"/>
                <a:cs typeface="Calibri"/>
                <a:sym typeface="Calibri"/>
              </a:rPr>
              <a:t>Tu</a:t>
            </a:r>
            <a:r>
              <a:rPr lang="es-CL" sz="2100">
                <a:solidFill>
                  <a:schemeClr val="lt1"/>
                </a:solidFill>
                <a:latin typeface="Calibri"/>
                <a:ea typeface="Calibri"/>
                <a:cs typeface="Calibri"/>
                <a:sym typeface="Calibri"/>
              </a:rPr>
              <a:t> Noticia”.</a:t>
            </a:r>
            <a:br>
              <a:rPr lang="es-CL" sz="2100">
                <a:solidFill>
                  <a:schemeClr val="lt1"/>
                </a:solidFill>
                <a:latin typeface="Calibri"/>
                <a:ea typeface="Calibri"/>
                <a:cs typeface="Calibri"/>
                <a:sym typeface="Calibri"/>
              </a:rPr>
            </a:br>
            <a:endParaRPr sz="2100">
              <a:solidFill>
                <a:schemeClr val="lt1"/>
              </a:solidFill>
              <a:latin typeface="Calibri"/>
              <a:ea typeface="Calibri"/>
              <a:cs typeface="Calibri"/>
              <a:sym typeface="Calibri"/>
            </a:endParaRPr>
          </a:p>
          <a:p>
            <a:pPr indent="-361950" lvl="0" marL="457200" rtl="0" algn="l">
              <a:lnSpc>
                <a:spcPct val="100000"/>
              </a:lnSpc>
              <a:spcBef>
                <a:spcPts val="0"/>
              </a:spcBef>
              <a:spcAft>
                <a:spcPts val="0"/>
              </a:spcAft>
              <a:buClr>
                <a:schemeClr val="lt1"/>
              </a:buClr>
              <a:buSzPts val="2100"/>
              <a:buFont typeface="Calibri"/>
              <a:buChar char="●"/>
            </a:pPr>
            <a:r>
              <a:rPr b="1" lang="es-CL" sz="2100">
                <a:solidFill>
                  <a:schemeClr val="lt1"/>
                </a:solidFill>
                <a:latin typeface="Calibri"/>
                <a:ea typeface="Calibri"/>
                <a:cs typeface="Calibri"/>
                <a:sym typeface="Calibri"/>
              </a:rPr>
              <a:t>Aumentar el tráfico hacia las noticias</a:t>
            </a:r>
            <a:r>
              <a:rPr lang="es-CL" sz="2100">
                <a:solidFill>
                  <a:schemeClr val="lt1"/>
                </a:solidFill>
                <a:latin typeface="Calibri"/>
                <a:ea typeface="Calibri"/>
                <a:cs typeface="Calibri"/>
                <a:sym typeface="Calibri"/>
              </a:rPr>
              <a:t> mediante un diseño visual más atractivo y orientado a la experiencia de usuario.</a:t>
            </a:r>
            <a:br>
              <a:rPr lang="es-CL" sz="2100">
                <a:solidFill>
                  <a:schemeClr val="lt1"/>
                </a:solidFill>
                <a:latin typeface="Calibri"/>
                <a:ea typeface="Calibri"/>
                <a:cs typeface="Calibri"/>
                <a:sym typeface="Calibri"/>
              </a:rPr>
            </a:br>
            <a:endParaRPr sz="2100">
              <a:solidFill>
                <a:schemeClr val="lt1"/>
              </a:solidFill>
              <a:latin typeface="Calibri"/>
              <a:ea typeface="Calibri"/>
              <a:cs typeface="Calibri"/>
              <a:sym typeface="Calibri"/>
            </a:endParaRPr>
          </a:p>
          <a:p>
            <a:pPr indent="-361950" lvl="0" marL="457200" rtl="0" algn="l">
              <a:lnSpc>
                <a:spcPct val="100000"/>
              </a:lnSpc>
              <a:spcBef>
                <a:spcPts val="0"/>
              </a:spcBef>
              <a:spcAft>
                <a:spcPts val="0"/>
              </a:spcAft>
              <a:buClr>
                <a:schemeClr val="lt1"/>
              </a:buClr>
              <a:buSzPts val="2100"/>
              <a:buFont typeface="Calibri"/>
              <a:buChar char="●"/>
            </a:pPr>
            <a:r>
              <a:rPr b="1" lang="es-CL" sz="2100">
                <a:solidFill>
                  <a:schemeClr val="lt1"/>
                </a:solidFill>
                <a:latin typeface="Calibri"/>
                <a:ea typeface="Calibri"/>
                <a:cs typeface="Calibri"/>
                <a:sym typeface="Calibri"/>
              </a:rPr>
              <a:t>Fortalecer la seguridad del portal</a:t>
            </a:r>
            <a:r>
              <a:rPr lang="es-CL" sz="2100">
                <a:solidFill>
                  <a:schemeClr val="lt1"/>
                </a:solidFill>
                <a:latin typeface="Calibri"/>
                <a:ea typeface="Calibri"/>
                <a:cs typeface="Calibri"/>
                <a:sym typeface="Calibri"/>
              </a:rPr>
              <a:t> implementando buenas prácticas en la gestión y resguardo de las contraseñas de los administradores.</a:t>
            </a:r>
            <a:endParaRPr sz="2100">
              <a:solidFill>
                <a:schemeClr val="lt1"/>
              </a:solidFill>
              <a:latin typeface="Calibri"/>
              <a:ea typeface="Calibri"/>
              <a:cs typeface="Calibri"/>
              <a:sym typeface="Calibri"/>
            </a:endParaRPr>
          </a:p>
          <a:p>
            <a:pPr indent="0" lvl="0" marL="457200" rtl="0" algn="l">
              <a:lnSpc>
                <a:spcPct val="100000"/>
              </a:lnSpc>
              <a:spcBef>
                <a:spcPts val="0"/>
              </a:spcBef>
              <a:spcAft>
                <a:spcPts val="0"/>
              </a:spcAft>
              <a:buNone/>
            </a:pPr>
            <a:r>
              <a:t/>
            </a:r>
            <a:endParaRPr sz="2100">
              <a:solidFill>
                <a:schemeClr val="lt1"/>
              </a:solidFill>
              <a:latin typeface="Calibri"/>
              <a:ea typeface="Calibri"/>
              <a:cs typeface="Calibri"/>
              <a:sym typeface="Calibri"/>
            </a:endParaRPr>
          </a:p>
        </p:txBody>
      </p:sp>
      <p:cxnSp>
        <p:nvCxnSpPr>
          <p:cNvPr id="161" name="Google Shape;161;p10"/>
          <p:cNvCxnSpPr/>
          <p:nvPr/>
        </p:nvCxnSpPr>
        <p:spPr>
          <a:xfrm flipH="1" rot="10800000">
            <a:off x="1407750" y="2762150"/>
            <a:ext cx="5415600" cy="51000"/>
          </a:xfrm>
          <a:prstGeom prst="straightConnector1">
            <a:avLst/>
          </a:prstGeom>
          <a:noFill/>
          <a:ln cap="flat" cmpd="sng" w="9525">
            <a:solidFill>
              <a:schemeClr val="accent6"/>
            </a:solidFill>
            <a:prstDash val="solid"/>
            <a:round/>
            <a:headEnd len="med" w="med" type="none"/>
            <a:tailEnd len="med" w="med" type="none"/>
          </a:ln>
        </p:spPr>
      </p:cxnSp>
      <p:cxnSp>
        <p:nvCxnSpPr>
          <p:cNvPr id="162" name="Google Shape;162;p10"/>
          <p:cNvCxnSpPr/>
          <p:nvPr/>
        </p:nvCxnSpPr>
        <p:spPr>
          <a:xfrm flipH="1" rot="10800000">
            <a:off x="13272175" y="2657725"/>
            <a:ext cx="6144900" cy="4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nvSpPr>
        <p:spPr>
          <a:xfrm>
            <a:off x="4718050" y="4177347"/>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a:t>
            </a:r>
            <a:r>
              <a:rPr b="1" lang="es-CL" sz="9600">
                <a:solidFill>
                  <a:srgbClr val="257CE1"/>
                </a:solidFill>
                <a:latin typeface="Arial Black"/>
                <a:ea typeface="Arial Black"/>
                <a:cs typeface="Arial Black"/>
                <a:sym typeface="Arial Black"/>
              </a:rPr>
              <a:t>4</a:t>
            </a:r>
            <a:endParaRPr b="0" i="0" sz="1400" u="none" cap="none" strike="noStrike">
              <a:solidFill>
                <a:srgbClr val="000000"/>
              </a:solidFill>
              <a:latin typeface="Arial"/>
              <a:ea typeface="Arial"/>
              <a:cs typeface="Arial"/>
              <a:sym typeface="Arial"/>
            </a:endParaRPr>
          </a:p>
        </p:txBody>
      </p:sp>
      <p:sp>
        <p:nvSpPr>
          <p:cNvPr id="168" name="Google Shape;168;p13"/>
          <p:cNvSpPr txBox="1"/>
          <p:nvPr>
            <p:ph type="title"/>
          </p:nvPr>
        </p:nvSpPr>
        <p:spPr>
          <a:xfrm>
            <a:off x="4794250" y="5349875"/>
            <a:ext cx="9020100" cy="2235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b="0" lang="es-CL" sz="6600">
                <a:solidFill>
                  <a:srgbClr val="FFFFFF"/>
                </a:solidFill>
                <a:latin typeface="Calibri"/>
                <a:ea typeface="Calibri"/>
                <a:cs typeface="Calibri"/>
                <a:sym typeface="Calibri"/>
              </a:rPr>
              <a:t>Equipo y Roles</a:t>
            </a:r>
            <a:endParaRPr b="0" sz="6600">
              <a:solidFill>
                <a:srgbClr val="FFFFFF"/>
              </a:solidFill>
              <a:latin typeface="Calibri"/>
              <a:ea typeface="Calibri"/>
              <a:cs typeface="Calibri"/>
              <a:sym typeface="Calibri"/>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14"/>
          <p:cNvPicPr preferRelativeResize="0"/>
          <p:nvPr/>
        </p:nvPicPr>
        <p:blipFill>
          <a:blip r:embed="rId3">
            <a:alphaModFix/>
          </a:blip>
          <a:stretch>
            <a:fillRect/>
          </a:stretch>
        </p:blipFill>
        <p:spPr>
          <a:xfrm>
            <a:off x="8565138" y="3834150"/>
            <a:ext cx="3818950" cy="3818950"/>
          </a:xfrm>
          <a:prstGeom prst="rect">
            <a:avLst/>
          </a:prstGeom>
          <a:noFill/>
          <a:ln>
            <a:noFill/>
          </a:ln>
        </p:spPr>
      </p:pic>
      <p:sp>
        <p:nvSpPr>
          <p:cNvPr id="174" name="Google Shape;174;p14"/>
          <p:cNvSpPr/>
          <p:nvPr/>
        </p:nvSpPr>
        <p:spPr>
          <a:xfrm>
            <a:off x="1947450" y="190687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5" name="Google Shape;175;p14"/>
          <p:cNvSpPr txBox="1"/>
          <p:nvPr/>
        </p:nvSpPr>
        <p:spPr>
          <a:xfrm>
            <a:off x="2290550" y="2122925"/>
            <a:ext cx="4561800" cy="156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2100">
                <a:solidFill>
                  <a:schemeClr val="lt1"/>
                </a:solidFill>
                <a:latin typeface="Calibri"/>
                <a:ea typeface="Calibri"/>
                <a:cs typeface="Calibri"/>
                <a:sym typeface="Calibri"/>
              </a:rPr>
              <a:t>Martin Diaz</a:t>
            </a:r>
            <a:br>
              <a:rPr b="1" lang="es-CL" sz="2100">
                <a:solidFill>
                  <a:schemeClr val="lt1"/>
                </a:solidFill>
                <a:latin typeface="Calibri"/>
                <a:ea typeface="Calibri"/>
                <a:cs typeface="Calibri"/>
                <a:sym typeface="Calibri"/>
              </a:rPr>
            </a:br>
            <a:br>
              <a:rPr b="1" lang="es-CL" sz="2100">
                <a:solidFill>
                  <a:schemeClr val="lt1"/>
                </a:solidFill>
                <a:latin typeface="Calibri"/>
                <a:ea typeface="Calibri"/>
                <a:cs typeface="Calibri"/>
                <a:sym typeface="Calibri"/>
              </a:rPr>
            </a:br>
            <a:r>
              <a:rPr lang="es-CL" sz="2300">
                <a:solidFill>
                  <a:schemeClr val="lt1"/>
                </a:solidFill>
                <a:latin typeface="Calibri"/>
                <a:ea typeface="Calibri"/>
                <a:cs typeface="Calibri"/>
                <a:sym typeface="Calibri"/>
              </a:rPr>
              <a:t>Leader</a:t>
            </a:r>
            <a:r>
              <a:rPr lang="es-CL" sz="2300">
                <a:solidFill>
                  <a:schemeClr val="lt1"/>
                </a:solidFill>
                <a:latin typeface="Calibri"/>
                <a:ea typeface="Calibri"/>
                <a:cs typeface="Calibri"/>
                <a:sym typeface="Calibri"/>
              </a:rPr>
              <a:t>/Scrum Master/</a:t>
            </a:r>
            <a:r>
              <a:rPr lang="es-CL" sz="2300">
                <a:solidFill>
                  <a:schemeClr val="lt1"/>
                </a:solidFill>
                <a:latin typeface="Calibri"/>
                <a:ea typeface="Calibri"/>
                <a:cs typeface="Calibri"/>
                <a:sym typeface="Calibri"/>
              </a:rPr>
              <a:t>Coordinación</a:t>
            </a:r>
            <a:r>
              <a:rPr lang="es-CL" sz="2300">
                <a:solidFill>
                  <a:schemeClr val="lt1"/>
                </a:solidFill>
                <a:latin typeface="Calibri"/>
                <a:ea typeface="Calibri"/>
                <a:cs typeface="Calibri"/>
                <a:sym typeface="Calibri"/>
              </a:rPr>
              <a:t> y validación</a:t>
            </a:r>
            <a:endParaRPr sz="2300">
              <a:solidFill>
                <a:schemeClr val="lt1"/>
              </a:solidFill>
              <a:latin typeface="Calibri"/>
              <a:ea typeface="Calibri"/>
              <a:cs typeface="Calibri"/>
              <a:sym typeface="Calibri"/>
            </a:endParaRPr>
          </a:p>
        </p:txBody>
      </p:sp>
      <p:sp>
        <p:nvSpPr>
          <p:cNvPr id="176" name="Google Shape;176;p14"/>
          <p:cNvSpPr/>
          <p:nvPr/>
        </p:nvSpPr>
        <p:spPr>
          <a:xfrm>
            <a:off x="1947438" y="6500488"/>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sp>
        <p:nvSpPr>
          <p:cNvPr id="177" name="Google Shape;177;p14"/>
          <p:cNvSpPr txBox="1"/>
          <p:nvPr/>
        </p:nvSpPr>
        <p:spPr>
          <a:xfrm>
            <a:off x="2290538" y="6634063"/>
            <a:ext cx="4561800" cy="156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2100">
                <a:solidFill>
                  <a:schemeClr val="lt1"/>
                </a:solidFill>
                <a:latin typeface="Calibri"/>
                <a:ea typeface="Calibri"/>
                <a:cs typeface="Calibri"/>
                <a:sym typeface="Calibri"/>
              </a:rPr>
              <a:t>Amir Awad</a:t>
            </a:r>
            <a:endParaRPr b="1" sz="2100">
              <a:solidFill>
                <a:schemeClr val="lt1"/>
              </a:solidFill>
              <a:latin typeface="Calibri"/>
              <a:ea typeface="Calibri"/>
              <a:cs typeface="Calibri"/>
              <a:sym typeface="Calibri"/>
            </a:endParaRPr>
          </a:p>
          <a:p>
            <a:pPr indent="0" lvl="0" marL="0" rtl="0" algn="ctr">
              <a:spcBef>
                <a:spcPts val="0"/>
              </a:spcBef>
              <a:spcAft>
                <a:spcPts val="0"/>
              </a:spcAft>
              <a:buNone/>
            </a:pPr>
            <a:br>
              <a:rPr b="1" lang="es-CL" sz="2100">
                <a:solidFill>
                  <a:schemeClr val="lt1"/>
                </a:solidFill>
                <a:latin typeface="Calibri"/>
                <a:ea typeface="Calibri"/>
                <a:cs typeface="Calibri"/>
                <a:sym typeface="Calibri"/>
              </a:rPr>
            </a:br>
            <a:r>
              <a:rPr lang="es-CL" sz="2300">
                <a:solidFill>
                  <a:schemeClr val="lt1"/>
                </a:solidFill>
                <a:latin typeface="Calibri"/>
                <a:ea typeface="Calibri"/>
                <a:cs typeface="Calibri"/>
                <a:sym typeface="Calibri"/>
              </a:rPr>
              <a:t>Frontend/Backend/Desarrollo Panel Administrador.</a:t>
            </a:r>
            <a:endParaRPr sz="2400">
              <a:solidFill>
                <a:schemeClr val="lt1"/>
              </a:solidFill>
              <a:latin typeface="Calibri"/>
              <a:ea typeface="Calibri"/>
              <a:cs typeface="Calibri"/>
              <a:sym typeface="Calibri"/>
            </a:endParaRPr>
          </a:p>
        </p:txBody>
      </p:sp>
      <p:sp>
        <p:nvSpPr>
          <p:cNvPr id="178" name="Google Shape;178;p14"/>
          <p:cNvSpPr/>
          <p:nvPr/>
        </p:nvSpPr>
        <p:spPr>
          <a:xfrm>
            <a:off x="1947450" y="417922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sp>
        <p:nvSpPr>
          <p:cNvPr id="179" name="Google Shape;179;p14"/>
          <p:cNvSpPr txBox="1"/>
          <p:nvPr/>
        </p:nvSpPr>
        <p:spPr>
          <a:xfrm>
            <a:off x="2290550" y="4395275"/>
            <a:ext cx="4561800" cy="156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2100">
                <a:solidFill>
                  <a:schemeClr val="lt1"/>
                </a:solidFill>
                <a:latin typeface="Calibri"/>
                <a:ea typeface="Calibri"/>
                <a:cs typeface="Calibri"/>
                <a:sym typeface="Calibri"/>
              </a:rPr>
              <a:t>Gabriel</a:t>
            </a:r>
            <a:r>
              <a:rPr b="1" lang="es-CL" sz="2100">
                <a:solidFill>
                  <a:schemeClr val="lt1"/>
                </a:solidFill>
                <a:latin typeface="Calibri"/>
                <a:ea typeface="Calibri"/>
                <a:cs typeface="Calibri"/>
                <a:sym typeface="Calibri"/>
              </a:rPr>
              <a:t> Galvez</a:t>
            </a:r>
            <a:br>
              <a:rPr b="1" lang="es-CL" sz="2100">
                <a:solidFill>
                  <a:schemeClr val="lt1"/>
                </a:solidFill>
                <a:latin typeface="Calibri"/>
                <a:ea typeface="Calibri"/>
                <a:cs typeface="Calibri"/>
                <a:sym typeface="Calibri"/>
              </a:rPr>
            </a:br>
            <a:br>
              <a:rPr b="1" lang="es-CL" sz="2100">
                <a:solidFill>
                  <a:schemeClr val="lt1"/>
                </a:solidFill>
                <a:latin typeface="Calibri"/>
                <a:ea typeface="Calibri"/>
                <a:cs typeface="Calibri"/>
                <a:sym typeface="Calibri"/>
              </a:rPr>
            </a:br>
            <a:r>
              <a:rPr lang="es-CL" sz="2200">
                <a:solidFill>
                  <a:schemeClr val="lt1"/>
                </a:solidFill>
                <a:latin typeface="Calibri"/>
                <a:ea typeface="Calibri"/>
                <a:cs typeface="Calibri"/>
                <a:sym typeface="Calibri"/>
              </a:rPr>
              <a:t>Gestor BD/Migraciones de Datos.</a:t>
            </a:r>
            <a:br>
              <a:rPr lang="es-CL" sz="2200">
                <a:solidFill>
                  <a:schemeClr val="lt1"/>
                </a:solidFill>
                <a:latin typeface="Calibri"/>
                <a:ea typeface="Calibri"/>
                <a:cs typeface="Calibri"/>
                <a:sym typeface="Calibri"/>
              </a:rPr>
            </a:br>
            <a:endParaRPr sz="2300">
              <a:solidFill>
                <a:schemeClr val="lt1"/>
              </a:solidFill>
              <a:latin typeface="Calibri"/>
              <a:ea typeface="Calibri"/>
              <a:cs typeface="Calibri"/>
              <a:sym typeface="Calibri"/>
            </a:endParaRPr>
          </a:p>
        </p:txBody>
      </p:sp>
      <p:sp>
        <p:nvSpPr>
          <p:cNvPr id="180" name="Google Shape;180;p14"/>
          <p:cNvSpPr/>
          <p:nvPr/>
        </p:nvSpPr>
        <p:spPr>
          <a:xfrm>
            <a:off x="1947438" y="8821763"/>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sp>
        <p:nvSpPr>
          <p:cNvPr id="181" name="Google Shape;181;p14"/>
          <p:cNvSpPr txBox="1"/>
          <p:nvPr/>
        </p:nvSpPr>
        <p:spPr>
          <a:xfrm>
            <a:off x="2290538" y="9037813"/>
            <a:ext cx="4561800" cy="156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2100">
                <a:solidFill>
                  <a:schemeClr val="lt1"/>
                </a:solidFill>
                <a:latin typeface="Calibri"/>
                <a:ea typeface="Calibri"/>
                <a:cs typeface="Calibri"/>
                <a:sym typeface="Calibri"/>
              </a:rPr>
              <a:t>Jose Jimenez</a:t>
            </a:r>
            <a:br>
              <a:rPr b="1" lang="es-CL" sz="2100">
                <a:solidFill>
                  <a:schemeClr val="lt1"/>
                </a:solidFill>
                <a:latin typeface="Calibri"/>
                <a:ea typeface="Calibri"/>
                <a:cs typeface="Calibri"/>
                <a:sym typeface="Calibri"/>
              </a:rPr>
            </a:br>
            <a:br>
              <a:rPr b="1" lang="es-CL" sz="2100">
                <a:solidFill>
                  <a:schemeClr val="lt1"/>
                </a:solidFill>
                <a:latin typeface="Calibri"/>
                <a:ea typeface="Calibri"/>
                <a:cs typeface="Calibri"/>
                <a:sym typeface="Calibri"/>
              </a:rPr>
            </a:br>
            <a:r>
              <a:rPr lang="es-CL" sz="2200">
                <a:solidFill>
                  <a:schemeClr val="lt1"/>
                </a:solidFill>
                <a:latin typeface="Calibri"/>
                <a:ea typeface="Calibri"/>
                <a:cs typeface="Calibri"/>
                <a:sym typeface="Calibri"/>
              </a:rPr>
              <a:t>UX/UI/Diseño FrontEnd Principal.</a:t>
            </a:r>
            <a:endParaRPr sz="2200">
              <a:solidFill>
                <a:schemeClr val="lt1"/>
              </a:solidFill>
              <a:latin typeface="Calibri"/>
              <a:ea typeface="Calibri"/>
              <a:cs typeface="Calibri"/>
              <a:sym typeface="Calibri"/>
            </a:endParaRPr>
          </a:p>
          <a:p>
            <a:pPr indent="0" lvl="0" marL="0" rtl="0" algn="ctr">
              <a:spcBef>
                <a:spcPts val="0"/>
              </a:spcBef>
              <a:spcAft>
                <a:spcPts val="0"/>
              </a:spcAft>
              <a:buNone/>
            </a:pPr>
            <a:r>
              <a:t/>
            </a:r>
            <a:endParaRPr sz="2200">
              <a:solidFill>
                <a:schemeClr val="lt1"/>
              </a:solidFill>
              <a:latin typeface="Calibri"/>
              <a:ea typeface="Calibri"/>
              <a:cs typeface="Calibri"/>
              <a:sym typeface="Calibri"/>
            </a:endParaRPr>
          </a:p>
        </p:txBody>
      </p:sp>
      <p:sp>
        <p:nvSpPr>
          <p:cNvPr id="182" name="Google Shape;182;p14"/>
          <p:cNvSpPr/>
          <p:nvPr/>
        </p:nvSpPr>
        <p:spPr>
          <a:xfrm>
            <a:off x="13486975" y="190687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sp>
        <p:nvSpPr>
          <p:cNvPr id="183" name="Google Shape;183;p14"/>
          <p:cNvSpPr txBox="1"/>
          <p:nvPr/>
        </p:nvSpPr>
        <p:spPr>
          <a:xfrm>
            <a:off x="13830075" y="2122925"/>
            <a:ext cx="4561800" cy="156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2100">
                <a:solidFill>
                  <a:schemeClr val="lt1"/>
                </a:solidFill>
                <a:latin typeface="Calibri"/>
                <a:ea typeface="Calibri"/>
                <a:cs typeface="Calibri"/>
                <a:sym typeface="Calibri"/>
              </a:rPr>
              <a:t>Gabriel Riveros</a:t>
            </a:r>
            <a:endParaRPr b="1" sz="2100">
              <a:solidFill>
                <a:schemeClr val="lt1"/>
              </a:solidFill>
              <a:latin typeface="Calibri"/>
              <a:ea typeface="Calibri"/>
              <a:cs typeface="Calibri"/>
              <a:sym typeface="Calibri"/>
            </a:endParaRPr>
          </a:p>
          <a:p>
            <a:pPr indent="0" lvl="0" marL="0" rtl="0" algn="ctr">
              <a:spcBef>
                <a:spcPts val="0"/>
              </a:spcBef>
              <a:spcAft>
                <a:spcPts val="0"/>
              </a:spcAft>
              <a:buNone/>
            </a:pPr>
            <a:br>
              <a:rPr lang="es-CL" sz="2200">
                <a:solidFill>
                  <a:schemeClr val="lt1"/>
                </a:solidFill>
                <a:latin typeface="Calibri"/>
                <a:ea typeface="Calibri"/>
                <a:cs typeface="Calibri"/>
                <a:sym typeface="Calibri"/>
              </a:rPr>
            </a:br>
            <a:r>
              <a:rPr lang="es-CL" sz="2200">
                <a:solidFill>
                  <a:schemeClr val="lt1"/>
                </a:solidFill>
                <a:latin typeface="Roboto"/>
                <a:ea typeface="Roboto"/>
                <a:cs typeface="Roboto"/>
                <a:sym typeface="Roboto"/>
              </a:rPr>
              <a:t>Dueño del medio/principal stakeholder.</a:t>
            </a:r>
            <a:endParaRPr sz="2300">
              <a:solidFill>
                <a:schemeClr val="lt1"/>
              </a:solidFill>
              <a:latin typeface="Calibri"/>
              <a:ea typeface="Calibri"/>
              <a:cs typeface="Calibri"/>
              <a:sym typeface="Calibri"/>
            </a:endParaRPr>
          </a:p>
        </p:txBody>
      </p:sp>
      <p:sp>
        <p:nvSpPr>
          <p:cNvPr id="184" name="Google Shape;184;p14"/>
          <p:cNvSpPr/>
          <p:nvPr/>
        </p:nvSpPr>
        <p:spPr>
          <a:xfrm>
            <a:off x="13486975" y="429467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sp>
        <p:nvSpPr>
          <p:cNvPr id="185" name="Google Shape;185;p14"/>
          <p:cNvSpPr txBox="1"/>
          <p:nvPr/>
        </p:nvSpPr>
        <p:spPr>
          <a:xfrm>
            <a:off x="13830075" y="4510725"/>
            <a:ext cx="4561800" cy="156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2100">
                <a:solidFill>
                  <a:schemeClr val="lt1"/>
                </a:solidFill>
                <a:latin typeface="Calibri"/>
                <a:ea typeface="Calibri"/>
                <a:cs typeface="Calibri"/>
                <a:sym typeface="Calibri"/>
              </a:rPr>
              <a:t>Agenor Tapia</a:t>
            </a:r>
            <a:endParaRPr b="1" sz="2100">
              <a:solidFill>
                <a:schemeClr val="lt1"/>
              </a:solidFill>
              <a:latin typeface="Calibri"/>
              <a:ea typeface="Calibri"/>
              <a:cs typeface="Calibri"/>
              <a:sym typeface="Calibri"/>
            </a:endParaRPr>
          </a:p>
          <a:p>
            <a:pPr indent="0" lvl="0" marL="0" rtl="0" algn="ctr">
              <a:spcBef>
                <a:spcPts val="0"/>
              </a:spcBef>
              <a:spcAft>
                <a:spcPts val="0"/>
              </a:spcAft>
              <a:buNone/>
            </a:pPr>
            <a:br>
              <a:rPr lang="es-CL" sz="2200">
                <a:solidFill>
                  <a:schemeClr val="lt1"/>
                </a:solidFill>
                <a:latin typeface="Calibri"/>
                <a:ea typeface="Calibri"/>
                <a:cs typeface="Calibri"/>
                <a:sym typeface="Calibri"/>
              </a:rPr>
            </a:br>
            <a:r>
              <a:rPr lang="es-CL" sz="2200">
                <a:solidFill>
                  <a:schemeClr val="lt1"/>
                </a:solidFill>
                <a:latin typeface="Roboto"/>
                <a:ea typeface="Roboto"/>
                <a:cs typeface="Roboto"/>
                <a:sym typeface="Roboto"/>
              </a:rPr>
              <a:t>Editor/Validador de Sistema de noticias</a:t>
            </a:r>
            <a:endParaRPr sz="2300">
              <a:solidFill>
                <a:schemeClr val="lt1"/>
              </a:solidFill>
              <a:latin typeface="Calibri"/>
              <a:ea typeface="Calibri"/>
              <a:cs typeface="Calibri"/>
              <a:sym typeface="Calibri"/>
            </a:endParaRPr>
          </a:p>
        </p:txBody>
      </p:sp>
      <p:sp>
        <p:nvSpPr>
          <p:cNvPr id="186" name="Google Shape;186;p14"/>
          <p:cNvSpPr txBox="1"/>
          <p:nvPr/>
        </p:nvSpPr>
        <p:spPr>
          <a:xfrm>
            <a:off x="2773350" y="1164050"/>
            <a:ext cx="4345800" cy="116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3200">
                <a:latin typeface="Calibri"/>
                <a:ea typeface="Calibri"/>
                <a:cs typeface="Calibri"/>
                <a:sym typeface="Calibri"/>
              </a:rPr>
              <a:t>Equipo de Trabajo</a:t>
            </a:r>
            <a:endParaRPr b="1" sz="3200">
              <a:latin typeface="Calibri"/>
              <a:ea typeface="Calibri"/>
              <a:cs typeface="Calibri"/>
              <a:sym typeface="Calibri"/>
            </a:endParaRPr>
          </a:p>
        </p:txBody>
      </p:sp>
      <p:sp>
        <p:nvSpPr>
          <p:cNvPr id="187" name="Google Shape;187;p14"/>
          <p:cNvSpPr txBox="1"/>
          <p:nvPr/>
        </p:nvSpPr>
        <p:spPr>
          <a:xfrm>
            <a:off x="15157875" y="1253000"/>
            <a:ext cx="1906200" cy="7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3100">
                <a:latin typeface="Calibri"/>
                <a:ea typeface="Calibri"/>
                <a:cs typeface="Calibri"/>
                <a:sym typeface="Calibri"/>
              </a:rPr>
              <a:t>Tropezón</a:t>
            </a:r>
            <a:endParaRPr b="1" sz="3100">
              <a:latin typeface="Calibri"/>
              <a:ea typeface="Calibri"/>
              <a:cs typeface="Calibri"/>
              <a:sym typeface="Calibri"/>
            </a:endParaRPr>
          </a:p>
        </p:txBody>
      </p:sp>
      <p:sp>
        <p:nvSpPr>
          <p:cNvPr id="188" name="Google Shape;188;p14"/>
          <p:cNvSpPr/>
          <p:nvPr/>
        </p:nvSpPr>
        <p:spPr>
          <a:xfrm>
            <a:off x="13486975" y="668247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sp>
        <p:nvSpPr>
          <p:cNvPr id="189" name="Google Shape;189;p14"/>
          <p:cNvSpPr txBox="1"/>
          <p:nvPr/>
        </p:nvSpPr>
        <p:spPr>
          <a:xfrm>
            <a:off x="13830075" y="6898525"/>
            <a:ext cx="4561800" cy="156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2100">
                <a:solidFill>
                  <a:schemeClr val="lt1"/>
                </a:solidFill>
                <a:latin typeface="Calibri"/>
                <a:ea typeface="Calibri"/>
                <a:cs typeface="Calibri"/>
                <a:sym typeface="Calibri"/>
              </a:rPr>
              <a:t>Vanesa Kammel</a:t>
            </a:r>
            <a:br>
              <a:rPr b="1" lang="es-CL" sz="2100">
                <a:solidFill>
                  <a:schemeClr val="lt1"/>
                </a:solidFill>
                <a:latin typeface="Calibri"/>
                <a:ea typeface="Calibri"/>
                <a:cs typeface="Calibri"/>
                <a:sym typeface="Calibri"/>
              </a:rPr>
            </a:br>
            <a:br>
              <a:rPr lang="es-CL" sz="2200">
                <a:solidFill>
                  <a:schemeClr val="lt1"/>
                </a:solidFill>
                <a:latin typeface="Calibri"/>
                <a:ea typeface="Calibri"/>
                <a:cs typeface="Calibri"/>
                <a:sym typeface="Calibri"/>
              </a:rPr>
            </a:br>
            <a:r>
              <a:rPr lang="es-CL" sz="2200">
                <a:solidFill>
                  <a:schemeClr val="lt1"/>
                </a:solidFill>
                <a:latin typeface="Roboto"/>
                <a:ea typeface="Roboto"/>
                <a:cs typeface="Roboto"/>
                <a:sym typeface="Roboto"/>
              </a:rPr>
              <a:t>Diseñadora </a:t>
            </a:r>
            <a:r>
              <a:rPr lang="es-CL" sz="2200">
                <a:solidFill>
                  <a:schemeClr val="lt1"/>
                </a:solidFill>
                <a:latin typeface="Roboto"/>
                <a:ea typeface="Roboto"/>
                <a:cs typeface="Roboto"/>
                <a:sym typeface="Roboto"/>
              </a:rPr>
              <a:t>Gráfica</a:t>
            </a:r>
            <a:r>
              <a:rPr lang="es-CL" sz="2200">
                <a:solidFill>
                  <a:schemeClr val="lt1"/>
                </a:solidFill>
                <a:latin typeface="Roboto"/>
                <a:ea typeface="Roboto"/>
                <a:cs typeface="Roboto"/>
                <a:sym typeface="Roboto"/>
              </a:rPr>
              <a:t> </a:t>
            </a:r>
            <a:endParaRPr sz="2300">
              <a:solidFill>
                <a:schemeClr val="lt1"/>
              </a:solidFill>
              <a:latin typeface="Calibri"/>
              <a:ea typeface="Calibri"/>
              <a:cs typeface="Calibri"/>
              <a:sym typeface="Calibri"/>
            </a:endParaRPr>
          </a:p>
        </p:txBody>
      </p:sp>
      <p:cxnSp>
        <p:nvCxnSpPr>
          <p:cNvPr id="190" name="Google Shape;190;p14"/>
          <p:cNvCxnSpPr/>
          <p:nvPr/>
        </p:nvCxnSpPr>
        <p:spPr>
          <a:xfrm>
            <a:off x="2442950" y="2707425"/>
            <a:ext cx="4257000" cy="0"/>
          </a:xfrm>
          <a:prstGeom prst="straightConnector1">
            <a:avLst/>
          </a:prstGeom>
          <a:noFill/>
          <a:ln cap="flat" cmpd="sng" w="9525">
            <a:solidFill>
              <a:schemeClr val="accent6"/>
            </a:solidFill>
            <a:prstDash val="solid"/>
            <a:round/>
            <a:headEnd len="med" w="med" type="none"/>
            <a:tailEnd len="med" w="med" type="none"/>
          </a:ln>
        </p:spPr>
      </p:cxnSp>
      <p:cxnSp>
        <p:nvCxnSpPr>
          <p:cNvPr id="191" name="Google Shape;191;p14"/>
          <p:cNvCxnSpPr/>
          <p:nvPr/>
        </p:nvCxnSpPr>
        <p:spPr>
          <a:xfrm>
            <a:off x="2462050" y="4892975"/>
            <a:ext cx="4257000" cy="0"/>
          </a:xfrm>
          <a:prstGeom prst="straightConnector1">
            <a:avLst/>
          </a:prstGeom>
          <a:noFill/>
          <a:ln cap="flat" cmpd="sng" w="9525">
            <a:solidFill>
              <a:schemeClr val="accent6"/>
            </a:solidFill>
            <a:prstDash val="solid"/>
            <a:round/>
            <a:headEnd len="med" w="med" type="none"/>
            <a:tailEnd len="med" w="med" type="none"/>
          </a:ln>
        </p:spPr>
      </p:cxnSp>
      <p:cxnSp>
        <p:nvCxnSpPr>
          <p:cNvPr id="192" name="Google Shape;192;p14"/>
          <p:cNvCxnSpPr/>
          <p:nvPr/>
        </p:nvCxnSpPr>
        <p:spPr>
          <a:xfrm>
            <a:off x="2462050" y="7142050"/>
            <a:ext cx="4257000" cy="0"/>
          </a:xfrm>
          <a:prstGeom prst="straightConnector1">
            <a:avLst/>
          </a:prstGeom>
          <a:noFill/>
          <a:ln cap="flat" cmpd="sng" w="9525">
            <a:solidFill>
              <a:schemeClr val="accent6"/>
            </a:solidFill>
            <a:prstDash val="solid"/>
            <a:round/>
            <a:headEnd len="med" w="med" type="none"/>
            <a:tailEnd len="med" w="med" type="none"/>
          </a:ln>
        </p:spPr>
      </p:cxnSp>
      <p:cxnSp>
        <p:nvCxnSpPr>
          <p:cNvPr id="193" name="Google Shape;193;p14"/>
          <p:cNvCxnSpPr/>
          <p:nvPr/>
        </p:nvCxnSpPr>
        <p:spPr>
          <a:xfrm>
            <a:off x="2334900" y="9569025"/>
            <a:ext cx="4257000" cy="0"/>
          </a:xfrm>
          <a:prstGeom prst="straightConnector1">
            <a:avLst/>
          </a:prstGeom>
          <a:noFill/>
          <a:ln cap="flat" cmpd="sng" w="9525">
            <a:solidFill>
              <a:schemeClr val="accent6"/>
            </a:solidFill>
            <a:prstDash val="solid"/>
            <a:round/>
            <a:headEnd len="med" w="med" type="none"/>
            <a:tailEnd len="med" w="med" type="none"/>
          </a:ln>
        </p:spPr>
      </p:cxnSp>
      <p:cxnSp>
        <p:nvCxnSpPr>
          <p:cNvPr id="194" name="Google Shape;194;p14"/>
          <p:cNvCxnSpPr/>
          <p:nvPr/>
        </p:nvCxnSpPr>
        <p:spPr>
          <a:xfrm>
            <a:off x="13982475" y="2630850"/>
            <a:ext cx="4257000" cy="0"/>
          </a:xfrm>
          <a:prstGeom prst="straightConnector1">
            <a:avLst/>
          </a:prstGeom>
          <a:noFill/>
          <a:ln cap="flat" cmpd="sng" w="9525">
            <a:solidFill>
              <a:schemeClr val="accent6"/>
            </a:solidFill>
            <a:prstDash val="solid"/>
            <a:round/>
            <a:headEnd len="med" w="med" type="none"/>
            <a:tailEnd len="med" w="med" type="none"/>
          </a:ln>
        </p:spPr>
      </p:cxnSp>
      <p:cxnSp>
        <p:nvCxnSpPr>
          <p:cNvPr id="195" name="Google Shape;195;p14"/>
          <p:cNvCxnSpPr/>
          <p:nvPr/>
        </p:nvCxnSpPr>
        <p:spPr>
          <a:xfrm>
            <a:off x="13969875" y="5007000"/>
            <a:ext cx="4257000" cy="0"/>
          </a:xfrm>
          <a:prstGeom prst="straightConnector1">
            <a:avLst/>
          </a:prstGeom>
          <a:noFill/>
          <a:ln cap="flat" cmpd="sng" w="9525">
            <a:solidFill>
              <a:schemeClr val="accent6"/>
            </a:solidFill>
            <a:prstDash val="solid"/>
            <a:round/>
            <a:headEnd len="med" w="med" type="none"/>
            <a:tailEnd len="med" w="med" type="none"/>
          </a:ln>
        </p:spPr>
      </p:cxnSp>
      <p:cxnSp>
        <p:nvCxnSpPr>
          <p:cNvPr id="196" name="Google Shape;196;p14"/>
          <p:cNvCxnSpPr/>
          <p:nvPr/>
        </p:nvCxnSpPr>
        <p:spPr>
          <a:xfrm>
            <a:off x="13874425" y="7415575"/>
            <a:ext cx="4257000" cy="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6242050" y="9007475"/>
            <a:ext cx="9020100" cy="2448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lang="es-CL" sz="6600">
                <a:solidFill>
                  <a:schemeClr val="lt1"/>
                </a:solidFill>
                <a:latin typeface="Calibri"/>
                <a:ea typeface="Calibri"/>
                <a:cs typeface="Calibri"/>
                <a:sym typeface="Calibri"/>
              </a:rPr>
              <a:t>Alcance y Metodología</a:t>
            </a:r>
            <a:endParaRPr sz="6600">
              <a:solidFill>
                <a:schemeClr val="lt1"/>
              </a:solidFill>
              <a:latin typeface="Calibri"/>
              <a:ea typeface="Calibri"/>
              <a:cs typeface="Calibri"/>
              <a:sym typeface="Calibri"/>
            </a:endParaRPr>
          </a:p>
          <a:p>
            <a:pPr indent="-304800" lvl="0" marL="457200" rtl="0" algn="l">
              <a:lnSpc>
                <a:spcPct val="115000"/>
              </a:lnSpc>
              <a:spcBef>
                <a:spcPts val="400"/>
              </a:spcBef>
              <a:spcAft>
                <a:spcPts val="0"/>
              </a:spcAft>
              <a:buClr>
                <a:schemeClr val="dk1"/>
              </a:buClr>
              <a:buSzPts val="1200"/>
              <a:buFont typeface="Roboto"/>
              <a:buChar char="●"/>
            </a:pPr>
            <a:r>
              <a:t/>
            </a:r>
            <a:endParaRPr b="0"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400"/>
              <a:buNone/>
            </a:pPr>
            <a:r>
              <a:t/>
            </a:r>
            <a:endParaRPr sz="6600"/>
          </a:p>
        </p:txBody>
      </p:sp>
      <p:sp>
        <p:nvSpPr>
          <p:cNvPr id="202" name="Google Shape;202;p11"/>
          <p:cNvSpPr txBox="1"/>
          <p:nvPr/>
        </p:nvSpPr>
        <p:spPr>
          <a:xfrm>
            <a:off x="6276975" y="7752358"/>
            <a:ext cx="1671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a:t>
            </a:r>
            <a:r>
              <a:rPr b="1" lang="es-CL" sz="9600">
                <a:solidFill>
                  <a:srgbClr val="257CE1"/>
                </a:solidFill>
                <a:latin typeface="Arial Black"/>
                <a:ea typeface="Arial Black"/>
                <a:cs typeface="Arial Black"/>
                <a:sym typeface="Arial Black"/>
              </a:rPr>
              <a:t>5</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a5555b7c7b_2_21"/>
          <p:cNvSpPr txBox="1"/>
          <p:nvPr/>
        </p:nvSpPr>
        <p:spPr>
          <a:xfrm>
            <a:off x="10281925" y="-327700"/>
            <a:ext cx="674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p:txBody>
      </p:sp>
      <p:sp>
        <p:nvSpPr>
          <p:cNvPr id="208" name="Google Shape;208;g3a5555b7c7b_2_21"/>
          <p:cNvSpPr/>
          <p:nvPr/>
        </p:nvSpPr>
        <p:spPr>
          <a:xfrm>
            <a:off x="7947075" y="1596775"/>
            <a:ext cx="2845200" cy="896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9" name="Google Shape;209;g3a5555b7c7b_2_21"/>
          <p:cNvSpPr txBox="1"/>
          <p:nvPr/>
        </p:nvSpPr>
        <p:spPr>
          <a:xfrm>
            <a:off x="893675" y="150225"/>
            <a:ext cx="6885900" cy="15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4800">
                <a:latin typeface="Roboto"/>
                <a:ea typeface="Roboto"/>
                <a:cs typeface="Roboto"/>
                <a:sym typeface="Roboto"/>
              </a:rPr>
              <a:t>Alcances Del Proyecto</a:t>
            </a:r>
            <a:endParaRPr b="1" sz="4800">
              <a:latin typeface="Roboto"/>
              <a:ea typeface="Roboto"/>
              <a:cs typeface="Roboto"/>
              <a:sym typeface="Roboto"/>
            </a:endParaRPr>
          </a:p>
        </p:txBody>
      </p:sp>
      <p:pic>
        <p:nvPicPr>
          <p:cNvPr id="210" name="Google Shape;210;g3a5555b7c7b_2_21"/>
          <p:cNvPicPr preferRelativeResize="0"/>
          <p:nvPr/>
        </p:nvPicPr>
        <p:blipFill>
          <a:blip r:embed="rId3">
            <a:alphaModFix/>
          </a:blip>
          <a:stretch>
            <a:fillRect/>
          </a:stretch>
        </p:blipFill>
        <p:spPr>
          <a:xfrm>
            <a:off x="3817425" y="744138"/>
            <a:ext cx="11224075" cy="9821074"/>
          </a:xfrm>
          <a:prstGeom prst="rect">
            <a:avLst/>
          </a:prstGeom>
          <a:noFill/>
          <a:ln>
            <a:noFill/>
          </a:ln>
        </p:spPr>
      </p:pic>
      <p:sp>
        <p:nvSpPr>
          <p:cNvPr id="211" name="Google Shape;211;g3a5555b7c7b_2_21"/>
          <p:cNvSpPr/>
          <p:nvPr/>
        </p:nvSpPr>
        <p:spPr>
          <a:xfrm>
            <a:off x="12780950" y="9785900"/>
            <a:ext cx="2534400" cy="96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2" name="Google Shape;212;g3a5555b7c7b_2_21"/>
          <p:cNvSpPr/>
          <p:nvPr/>
        </p:nvSpPr>
        <p:spPr>
          <a:xfrm>
            <a:off x="7696063" y="744150"/>
            <a:ext cx="3466800" cy="96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213" name="Google Shape;213;g3a5555b7c7b_2_21"/>
          <p:cNvCxnSpPr/>
          <p:nvPr/>
        </p:nvCxnSpPr>
        <p:spPr>
          <a:xfrm flipH="1" rot="10800000">
            <a:off x="893675" y="963150"/>
            <a:ext cx="6144900" cy="4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g3a5555b7c7b_0_1"/>
          <p:cNvPicPr preferRelativeResize="0"/>
          <p:nvPr/>
        </p:nvPicPr>
        <p:blipFill rotWithShape="1">
          <a:blip r:embed="rId3">
            <a:alphaModFix/>
          </a:blip>
          <a:srcRect b="0" l="0" r="0" t="9297"/>
          <a:stretch/>
        </p:blipFill>
        <p:spPr>
          <a:xfrm>
            <a:off x="3686050" y="1985150"/>
            <a:ext cx="14013925" cy="8454449"/>
          </a:xfrm>
          <a:prstGeom prst="rect">
            <a:avLst/>
          </a:prstGeom>
          <a:noFill/>
          <a:ln>
            <a:noFill/>
          </a:ln>
        </p:spPr>
      </p:pic>
      <p:sp>
        <p:nvSpPr>
          <p:cNvPr id="220" name="Google Shape;220;g3a5555b7c7b_0_1"/>
          <p:cNvSpPr txBox="1"/>
          <p:nvPr/>
        </p:nvSpPr>
        <p:spPr>
          <a:xfrm>
            <a:off x="893675" y="150225"/>
            <a:ext cx="6885900" cy="15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4800">
                <a:latin typeface="Roboto"/>
                <a:ea typeface="Roboto"/>
                <a:cs typeface="Roboto"/>
                <a:sym typeface="Roboto"/>
              </a:rPr>
              <a:t>Roadmap</a:t>
            </a:r>
            <a:endParaRPr b="1" sz="4800">
              <a:latin typeface="Roboto"/>
              <a:ea typeface="Roboto"/>
              <a:cs typeface="Roboto"/>
              <a:sym typeface="Roboto"/>
            </a:endParaRPr>
          </a:p>
        </p:txBody>
      </p:sp>
      <p:cxnSp>
        <p:nvCxnSpPr>
          <p:cNvPr id="221" name="Google Shape;221;g3a5555b7c7b_0_1"/>
          <p:cNvCxnSpPr/>
          <p:nvPr/>
        </p:nvCxnSpPr>
        <p:spPr>
          <a:xfrm flipH="1" rot="10800000">
            <a:off x="893675" y="963150"/>
            <a:ext cx="6144900" cy="4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a5555b7c7b_2_0"/>
          <p:cNvSpPr txBox="1"/>
          <p:nvPr/>
        </p:nvSpPr>
        <p:spPr>
          <a:xfrm>
            <a:off x="10281925" y="-327700"/>
            <a:ext cx="674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p:txBody>
      </p:sp>
      <p:sp>
        <p:nvSpPr>
          <p:cNvPr id="227" name="Google Shape;227;g3a5555b7c7b_2_0"/>
          <p:cNvSpPr/>
          <p:nvPr/>
        </p:nvSpPr>
        <p:spPr>
          <a:xfrm>
            <a:off x="7947075" y="1596775"/>
            <a:ext cx="2845200" cy="896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8" name="Google Shape;228;g3a5555b7c7b_2_0"/>
          <p:cNvSpPr txBox="1"/>
          <p:nvPr/>
        </p:nvSpPr>
        <p:spPr>
          <a:xfrm>
            <a:off x="893675" y="150225"/>
            <a:ext cx="6885900" cy="15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4800">
                <a:latin typeface="Roboto"/>
                <a:ea typeface="Roboto"/>
                <a:cs typeface="Roboto"/>
                <a:sym typeface="Roboto"/>
              </a:rPr>
              <a:t>Metodología</a:t>
            </a:r>
            <a:r>
              <a:rPr b="1" lang="es-CL" sz="4800">
                <a:latin typeface="Roboto"/>
                <a:ea typeface="Roboto"/>
                <a:cs typeface="Roboto"/>
                <a:sym typeface="Roboto"/>
              </a:rPr>
              <a:t> Utilizada</a:t>
            </a:r>
            <a:endParaRPr b="1" sz="4800">
              <a:latin typeface="Roboto"/>
              <a:ea typeface="Roboto"/>
              <a:cs typeface="Roboto"/>
              <a:sym typeface="Roboto"/>
            </a:endParaRPr>
          </a:p>
        </p:txBody>
      </p:sp>
      <p:pic>
        <p:nvPicPr>
          <p:cNvPr id="229" name="Google Shape;229;g3a5555b7c7b_2_0"/>
          <p:cNvPicPr preferRelativeResize="0"/>
          <p:nvPr/>
        </p:nvPicPr>
        <p:blipFill>
          <a:blip r:embed="rId3">
            <a:alphaModFix/>
          </a:blip>
          <a:stretch>
            <a:fillRect/>
          </a:stretch>
        </p:blipFill>
        <p:spPr>
          <a:xfrm>
            <a:off x="4133350" y="577675"/>
            <a:ext cx="11668076" cy="9211649"/>
          </a:xfrm>
          <a:prstGeom prst="rect">
            <a:avLst/>
          </a:prstGeom>
          <a:noFill/>
          <a:ln>
            <a:noFill/>
          </a:ln>
        </p:spPr>
      </p:pic>
      <p:sp>
        <p:nvSpPr>
          <p:cNvPr id="230" name="Google Shape;230;g3a5555b7c7b_2_0"/>
          <p:cNvSpPr/>
          <p:nvPr/>
        </p:nvSpPr>
        <p:spPr>
          <a:xfrm>
            <a:off x="13115675" y="9415300"/>
            <a:ext cx="2534400" cy="96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231" name="Google Shape;231;g3a5555b7c7b_2_0"/>
          <p:cNvCxnSpPr/>
          <p:nvPr/>
        </p:nvCxnSpPr>
        <p:spPr>
          <a:xfrm flipH="1" rot="10800000">
            <a:off x="893675" y="963150"/>
            <a:ext cx="6144900" cy="4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g3a26a7b47d1_0_0"/>
          <p:cNvPicPr preferRelativeResize="0"/>
          <p:nvPr/>
        </p:nvPicPr>
        <p:blipFill>
          <a:blip r:embed="rId3">
            <a:alphaModFix/>
          </a:blip>
          <a:stretch>
            <a:fillRect/>
          </a:stretch>
        </p:blipFill>
        <p:spPr>
          <a:xfrm>
            <a:off x="1108500" y="618500"/>
            <a:ext cx="17887098" cy="9531600"/>
          </a:xfrm>
          <a:prstGeom prst="rect">
            <a:avLst/>
          </a:prstGeom>
          <a:noFill/>
          <a:ln>
            <a:noFill/>
          </a:ln>
        </p:spPr>
      </p:pic>
      <p:sp>
        <p:nvSpPr>
          <p:cNvPr id="237" name="Google Shape;237;g3a26a7b47d1_0_0"/>
          <p:cNvSpPr txBox="1"/>
          <p:nvPr/>
        </p:nvSpPr>
        <p:spPr>
          <a:xfrm>
            <a:off x="6486550" y="349850"/>
            <a:ext cx="7427400" cy="9528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6600">
                <a:latin typeface="Calibri"/>
                <a:ea typeface="Calibri"/>
                <a:cs typeface="Calibri"/>
                <a:sym typeface="Calibri"/>
              </a:rPr>
              <a:t>Modelo de negocios</a:t>
            </a:r>
            <a:endParaRPr sz="6600">
              <a:latin typeface="Calibri"/>
              <a:ea typeface="Calibri"/>
              <a:cs typeface="Calibri"/>
              <a:sym typeface="Calibri"/>
            </a:endParaRPr>
          </a:p>
        </p:txBody>
      </p:sp>
      <p:cxnSp>
        <p:nvCxnSpPr>
          <p:cNvPr id="238" name="Google Shape;238;g3a26a7b47d1_0_0"/>
          <p:cNvCxnSpPr/>
          <p:nvPr/>
        </p:nvCxnSpPr>
        <p:spPr>
          <a:xfrm flipH="1" rot="10800000">
            <a:off x="6486550" y="1459050"/>
            <a:ext cx="7031400" cy="246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5"/>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06</a:t>
            </a:r>
            <a:endParaRPr b="0" i="0" sz="1400" u="none" cap="none" strike="noStrike">
              <a:solidFill>
                <a:srgbClr val="000000"/>
              </a:solidFill>
              <a:latin typeface="Arial"/>
              <a:ea typeface="Arial"/>
              <a:cs typeface="Arial"/>
              <a:sym typeface="Arial"/>
            </a:endParaRPr>
          </a:p>
        </p:txBody>
      </p:sp>
      <p:sp>
        <p:nvSpPr>
          <p:cNvPr id="244" name="Google Shape;244;p15"/>
          <p:cNvSpPr txBox="1"/>
          <p:nvPr>
            <p:ph type="title"/>
          </p:nvPr>
        </p:nvSpPr>
        <p:spPr>
          <a:xfrm>
            <a:off x="7549150" y="7250550"/>
            <a:ext cx="9020100" cy="3403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lang="es-CL" sz="6600">
                <a:solidFill>
                  <a:schemeClr val="lt1"/>
                </a:solidFill>
                <a:latin typeface="Roboto"/>
                <a:ea typeface="Roboto"/>
                <a:cs typeface="Roboto"/>
                <a:sym typeface="Roboto"/>
              </a:rPr>
              <a:t>Propuesta Técnica y Modelo de Datos</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a2ea1eac06_1_6"/>
          <p:cNvSpPr txBox="1"/>
          <p:nvPr>
            <p:ph idx="1" type="body"/>
          </p:nvPr>
        </p:nvSpPr>
        <p:spPr>
          <a:xfrm>
            <a:off x="7525600" y="875775"/>
            <a:ext cx="5052900" cy="7389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s-CL"/>
              <a:t>Tipología</a:t>
            </a:r>
            <a:r>
              <a:rPr lang="es-CL"/>
              <a:t> </a:t>
            </a:r>
            <a:r>
              <a:rPr lang="es-CL"/>
              <a:t>técnica</a:t>
            </a:r>
            <a:r>
              <a:rPr lang="es-CL"/>
              <a:t> </a:t>
            </a:r>
            <a:endParaRPr/>
          </a:p>
        </p:txBody>
      </p:sp>
      <p:pic>
        <p:nvPicPr>
          <p:cNvPr descr="image.png" id="251" name="Google Shape;251;g3a2ea1eac06_1_6"/>
          <p:cNvPicPr preferRelativeResize="0"/>
          <p:nvPr/>
        </p:nvPicPr>
        <p:blipFill rotWithShape="1">
          <a:blip r:embed="rId3">
            <a:alphaModFix/>
          </a:blip>
          <a:srcRect b="0" l="0" r="0" t="0"/>
          <a:stretch/>
        </p:blipFill>
        <p:spPr>
          <a:xfrm>
            <a:off x="7428975" y="2401988"/>
            <a:ext cx="5289768" cy="4526712"/>
          </a:xfrm>
          <a:prstGeom prst="rect">
            <a:avLst/>
          </a:prstGeom>
          <a:noFill/>
          <a:ln>
            <a:noFill/>
          </a:ln>
        </p:spPr>
      </p:pic>
      <p:pic>
        <p:nvPicPr>
          <p:cNvPr descr="image.png" id="252" name="Google Shape;252;g3a2ea1eac06_1_6"/>
          <p:cNvPicPr preferRelativeResize="0"/>
          <p:nvPr/>
        </p:nvPicPr>
        <p:blipFill rotWithShape="1">
          <a:blip r:embed="rId4">
            <a:alphaModFix/>
          </a:blip>
          <a:srcRect b="0" l="0" r="0" t="0"/>
          <a:stretch/>
        </p:blipFill>
        <p:spPr>
          <a:xfrm>
            <a:off x="14062657" y="2401988"/>
            <a:ext cx="5289768" cy="4526712"/>
          </a:xfrm>
          <a:prstGeom prst="rect">
            <a:avLst/>
          </a:prstGeom>
          <a:noFill/>
          <a:ln>
            <a:noFill/>
          </a:ln>
        </p:spPr>
      </p:pic>
      <p:sp>
        <p:nvSpPr>
          <p:cNvPr id="253" name="Google Shape;253;g3a2ea1eac06_1_6"/>
          <p:cNvSpPr txBox="1"/>
          <p:nvPr/>
        </p:nvSpPr>
        <p:spPr>
          <a:xfrm>
            <a:off x="7615026" y="3483186"/>
            <a:ext cx="4917600"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2227" u="none" cap="none" strike="noStrike">
                <a:solidFill>
                  <a:srgbClr val="F39C12"/>
                </a:solidFill>
                <a:latin typeface="Roboto Slab"/>
                <a:ea typeface="Roboto Slab"/>
                <a:cs typeface="Roboto Slab"/>
                <a:sym typeface="Roboto Slab"/>
              </a:rPr>
              <a:t>Sistema A: Portal Público (CMS)</a:t>
            </a:r>
            <a:endParaRPr sz="1485"/>
          </a:p>
        </p:txBody>
      </p:sp>
      <p:sp>
        <p:nvSpPr>
          <p:cNvPr id="254" name="Google Shape;254;g3a2ea1eac06_1_6"/>
          <p:cNvSpPr txBox="1"/>
          <p:nvPr/>
        </p:nvSpPr>
        <p:spPr>
          <a:xfrm>
            <a:off x="7732114" y="4008627"/>
            <a:ext cx="4683600" cy="24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s-CL" sz="1591" u="none" cap="none" strike="noStrike">
                <a:solidFill>
                  <a:srgbClr val="FFFFFF"/>
                </a:solidFill>
                <a:latin typeface="Roboto"/>
                <a:ea typeface="Roboto"/>
                <a:cs typeface="Roboto"/>
                <a:sym typeface="Roboto"/>
              </a:rPr>
              <a:t>tropezon.space</a:t>
            </a:r>
            <a:endParaRPr sz="1485"/>
          </a:p>
        </p:txBody>
      </p:sp>
      <p:pic>
        <p:nvPicPr>
          <p:cNvPr descr="image.png" id="255" name="Google Shape;255;g3a2ea1eac06_1_6"/>
          <p:cNvPicPr preferRelativeResize="0"/>
          <p:nvPr/>
        </p:nvPicPr>
        <p:blipFill rotWithShape="1">
          <a:blip r:embed="rId5">
            <a:alphaModFix/>
          </a:blip>
          <a:srcRect b="0" l="0" r="0" t="0"/>
          <a:stretch/>
        </p:blipFill>
        <p:spPr>
          <a:xfrm>
            <a:off x="13122928" y="4346975"/>
            <a:ext cx="535545" cy="606277"/>
          </a:xfrm>
          <a:prstGeom prst="rect">
            <a:avLst/>
          </a:prstGeom>
          <a:noFill/>
          <a:ln>
            <a:noFill/>
          </a:ln>
        </p:spPr>
      </p:pic>
      <p:sp>
        <p:nvSpPr>
          <p:cNvPr id="256" name="Google Shape;256;g3a2ea1eac06_1_6"/>
          <p:cNvSpPr txBox="1"/>
          <p:nvPr/>
        </p:nvSpPr>
        <p:spPr>
          <a:xfrm>
            <a:off x="14248709" y="3483186"/>
            <a:ext cx="4917600"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2227" u="none" cap="none" strike="noStrike">
                <a:solidFill>
                  <a:srgbClr val="F39C12"/>
                </a:solidFill>
                <a:latin typeface="Roboto Slab"/>
                <a:ea typeface="Roboto Slab"/>
                <a:cs typeface="Roboto Slab"/>
                <a:sym typeface="Roboto Slab"/>
              </a:rPr>
              <a:t>Sistema B: App de Datos (A Medida)</a:t>
            </a:r>
            <a:endParaRPr sz="1485"/>
          </a:p>
        </p:txBody>
      </p:sp>
      <p:sp>
        <p:nvSpPr>
          <p:cNvPr id="257" name="Google Shape;257;g3a2ea1eac06_1_6"/>
          <p:cNvSpPr txBox="1"/>
          <p:nvPr/>
        </p:nvSpPr>
        <p:spPr>
          <a:xfrm>
            <a:off x="14365796" y="4382500"/>
            <a:ext cx="4683600" cy="24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s-CL" sz="1591" u="none" cap="none" strike="noStrike">
                <a:solidFill>
                  <a:srgbClr val="FFFFFF"/>
                </a:solidFill>
                <a:latin typeface="Roboto"/>
                <a:ea typeface="Roboto"/>
                <a:cs typeface="Roboto"/>
                <a:sym typeface="Roboto"/>
              </a:rPr>
              <a:t>form.tropezon.space</a:t>
            </a:r>
            <a:endParaRPr sz="1485"/>
          </a:p>
        </p:txBody>
      </p:sp>
      <p:pic>
        <p:nvPicPr>
          <p:cNvPr descr="image.png" id="258" name="Google Shape;258;g3a2ea1eac06_1_6"/>
          <p:cNvPicPr preferRelativeResize="0"/>
          <p:nvPr/>
        </p:nvPicPr>
        <p:blipFill rotWithShape="1">
          <a:blip r:embed="rId6">
            <a:alphaModFix/>
          </a:blip>
          <a:srcRect b="0" l="0" r="0" t="0"/>
          <a:stretch/>
        </p:blipFill>
        <p:spPr>
          <a:xfrm>
            <a:off x="9831348" y="2735442"/>
            <a:ext cx="485022" cy="485023"/>
          </a:xfrm>
          <a:prstGeom prst="rect">
            <a:avLst/>
          </a:prstGeom>
          <a:noFill/>
          <a:ln>
            <a:noFill/>
          </a:ln>
        </p:spPr>
      </p:pic>
      <p:sp>
        <p:nvSpPr>
          <p:cNvPr id="259" name="Google Shape;259;g3a2ea1eac06_1_6"/>
          <p:cNvSpPr txBox="1"/>
          <p:nvPr/>
        </p:nvSpPr>
        <p:spPr>
          <a:xfrm>
            <a:off x="7732114" y="4493651"/>
            <a:ext cx="4683600" cy="220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Tecnología:</a:t>
            </a:r>
            <a:r>
              <a:rPr b="0" i="0" lang="es-CL" sz="1432" u="none" cap="none" strike="noStrike">
                <a:solidFill>
                  <a:srgbClr val="FFFFFF"/>
                </a:solidFill>
                <a:latin typeface="Roboto"/>
                <a:ea typeface="Roboto"/>
                <a:cs typeface="Roboto"/>
                <a:sym typeface="Roboto"/>
              </a:rPr>
              <a:t> WordPress + Elementor.</a:t>
            </a:r>
            <a:endParaRPr sz="1485"/>
          </a:p>
        </p:txBody>
      </p:sp>
      <p:sp>
        <p:nvSpPr>
          <p:cNvPr id="260" name="Google Shape;260;g3a2ea1eac06_1_6"/>
          <p:cNvSpPr txBox="1"/>
          <p:nvPr/>
        </p:nvSpPr>
        <p:spPr>
          <a:xfrm>
            <a:off x="7732114" y="4885679"/>
            <a:ext cx="4683600" cy="573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Función:</a:t>
            </a:r>
            <a:r>
              <a:rPr b="0" i="0" lang="es-CL" sz="1432" u="none" cap="none" strike="noStrike">
                <a:solidFill>
                  <a:srgbClr val="FFFFFF"/>
                </a:solidFill>
                <a:latin typeface="Roboto"/>
                <a:ea typeface="Roboto"/>
                <a:cs typeface="Roboto"/>
                <a:sym typeface="Roboto"/>
              </a:rPr>
              <a:t> Gestión de contenido público, noticias y diseño visual del diario.</a:t>
            </a:r>
            <a:endParaRPr sz="1485"/>
          </a:p>
        </p:txBody>
      </p:sp>
      <p:sp>
        <p:nvSpPr>
          <p:cNvPr id="261" name="Google Shape;261;g3a2ea1eac06_1_6"/>
          <p:cNvSpPr txBox="1"/>
          <p:nvPr/>
        </p:nvSpPr>
        <p:spPr>
          <a:xfrm>
            <a:off x="7732114" y="5568690"/>
            <a:ext cx="4683600" cy="220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Base de Datos:</a:t>
            </a:r>
            <a:r>
              <a:rPr b="0" i="0" lang="es-CL" sz="1432" u="none" cap="none" strike="noStrike">
                <a:solidFill>
                  <a:srgbClr val="FFFFFF"/>
                </a:solidFill>
                <a:latin typeface="Roboto"/>
                <a:ea typeface="Roboto"/>
                <a:cs typeface="Roboto"/>
                <a:sym typeface="Roboto"/>
              </a:rPr>
              <a:t> Propia (`..._wp_2vdgb`).</a:t>
            </a:r>
            <a:endParaRPr sz="1485"/>
          </a:p>
        </p:txBody>
      </p:sp>
      <p:pic>
        <p:nvPicPr>
          <p:cNvPr descr="image.png" id="262" name="Google Shape;262;g3a2ea1eac06_1_6"/>
          <p:cNvPicPr preferRelativeResize="0"/>
          <p:nvPr/>
        </p:nvPicPr>
        <p:blipFill rotWithShape="1">
          <a:blip r:embed="rId7">
            <a:alphaModFix/>
          </a:blip>
          <a:srcRect b="0" l="0" r="0" t="0"/>
          <a:stretch/>
        </p:blipFill>
        <p:spPr>
          <a:xfrm>
            <a:off x="16404403" y="2735442"/>
            <a:ext cx="606277" cy="485022"/>
          </a:xfrm>
          <a:prstGeom prst="rect">
            <a:avLst/>
          </a:prstGeom>
          <a:noFill/>
          <a:ln>
            <a:noFill/>
          </a:ln>
        </p:spPr>
      </p:pic>
      <p:sp>
        <p:nvSpPr>
          <p:cNvPr id="263" name="Google Shape;263;g3a2ea1eac06_1_6"/>
          <p:cNvSpPr txBox="1"/>
          <p:nvPr/>
        </p:nvSpPr>
        <p:spPr>
          <a:xfrm>
            <a:off x="14365796" y="4867523"/>
            <a:ext cx="4683600" cy="220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Tecnología:</a:t>
            </a:r>
            <a:r>
              <a:rPr b="0" i="0" lang="es-CL" sz="1432" u="none" cap="none" strike="noStrike">
                <a:solidFill>
                  <a:srgbClr val="FFFFFF"/>
                </a:solidFill>
                <a:latin typeface="Roboto"/>
                <a:ea typeface="Roboto"/>
                <a:cs typeface="Roboto"/>
                <a:sym typeface="Roboto"/>
              </a:rPr>
              <a:t> PHP Nativo, MySQL, Bootstrap 5.</a:t>
            </a:r>
            <a:endParaRPr sz="1485"/>
          </a:p>
        </p:txBody>
      </p:sp>
      <p:sp>
        <p:nvSpPr>
          <p:cNvPr id="264" name="Google Shape;264;g3a2ea1eac06_1_6"/>
          <p:cNvSpPr txBox="1"/>
          <p:nvPr/>
        </p:nvSpPr>
        <p:spPr>
          <a:xfrm>
            <a:off x="14365796" y="5259551"/>
            <a:ext cx="4683600" cy="573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Función:</a:t>
            </a:r>
            <a:r>
              <a:rPr b="0" i="0" lang="es-CL" sz="1432" u="none" cap="none" strike="noStrike">
                <a:solidFill>
                  <a:srgbClr val="FFFFFF"/>
                </a:solidFill>
                <a:latin typeface="Roboto"/>
                <a:ea typeface="Roboto"/>
                <a:cs typeface="Roboto"/>
                <a:sym typeface="Roboto"/>
              </a:rPr>
              <a:t> Captura y gestión segura de datos sensibles (formularios y panel de admin).</a:t>
            </a:r>
            <a:endParaRPr sz="1485"/>
          </a:p>
        </p:txBody>
      </p:sp>
      <p:sp>
        <p:nvSpPr>
          <p:cNvPr id="265" name="Google Shape;265;g3a2ea1eac06_1_6"/>
          <p:cNvSpPr txBox="1"/>
          <p:nvPr/>
        </p:nvSpPr>
        <p:spPr>
          <a:xfrm>
            <a:off x="14365796" y="5942562"/>
            <a:ext cx="4683600" cy="573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Base de Datos:</a:t>
            </a:r>
            <a:r>
              <a:rPr b="0" i="0" lang="es-CL" sz="1432" u="none" cap="none" strike="noStrike">
                <a:solidFill>
                  <a:srgbClr val="FFFFFF"/>
                </a:solidFill>
                <a:latin typeface="Roboto"/>
                <a:ea typeface="Roboto"/>
                <a:cs typeface="Roboto"/>
                <a:sym typeface="Roboto"/>
              </a:rPr>
              <a:t> Propia e independiente (`..._form_datos`).</a:t>
            </a:r>
            <a:endParaRPr sz="1485"/>
          </a:p>
        </p:txBody>
      </p:sp>
      <p:pic>
        <p:nvPicPr>
          <p:cNvPr descr="image.png" id="266" name="Google Shape;266;g3a2ea1eac06_1_6"/>
          <p:cNvPicPr preferRelativeResize="0"/>
          <p:nvPr/>
        </p:nvPicPr>
        <p:blipFill rotWithShape="1">
          <a:blip r:embed="rId8">
            <a:alphaModFix/>
          </a:blip>
          <a:srcRect b="0" l="0" r="0" t="0"/>
          <a:stretch/>
        </p:blipFill>
        <p:spPr>
          <a:xfrm>
            <a:off x="7771025" y="7370387"/>
            <a:ext cx="3555950" cy="3209776"/>
          </a:xfrm>
          <a:prstGeom prst="rect">
            <a:avLst/>
          </a:prstGeom>
          <a:noFill/>
          <a:ln>
            <a:noFill/>
          </a:ln>
        </p:spPr>
      </p:pic>
      <p:pic>
        <p:nvPicPr>
          <p:cNvPr descr="image.png" id="267" name="Google Shape;267;g3a2ea1eac06_1_6"/>
          <p:cNvPicPr preferRelativeResize="0"/>
          <p:nvPr/>
        </p:nvPicPr>
        <p:blipFill rotWithShape="1">
          <a:blip r:embed="rId9">
            <a:alphaModFix/>
          </a:blip>
          <a:srcRect b="0" l="0" r="0" t="0"/>
          <a:stretch/>
        </p:blipFill>
        <p:spPr>
          <a:xfrm>
            <a:off x="11612725" y="7370387"/>
            <a:ext cx="3555950" cy="3209776"/>
          </a:xfrm>
          <a:prstGeom prst="rect">
            <a:avLst/>
          </a:prstGeom>
          <a:noFill/>
          <a:ln>
            <a:noFill/>
          </a:ln>
        </p:spPr>
      </p:pic>
      <p:pic>
        <p:nvPicPr>
          <p:cNvPr descr="image.png" id="268" name="Google Shape;268;g3a2ea1eac06_1_6"/>
          <p:cNvPicPr preferRelativeResize="0"/>
          <p:nvPr/>
        </p:nvPicPr>
        <p:blipFill rotWithShape="1">
          <a:blip r:embed="rId10">
            <a:alphaModFix/>
          </a:blip>
          <a:srcRect b="0" l="0" r="0" t="0"/>
          <a:stretch/>
        </p:blipFill>
        <p:spPr>
          <a:xfrm>
            <a:off x="15454425" y="7370387"/>
            <a:ext cx="3555950" cy="3209776"/>
          </a:xfrm>
          <a:prstGeom prst="rect">
            <a:avLst/>
          </a:prstGeom>
          <a:noFill/>
          <a:ln>
            <a:noFill/>
          </a:ln>
        </p:spPr>
      </p:pic>
      <p:sp>
        <p:nvSpPr>
          <p:cNvPr id="269" name="Google Shape;269;g3a2ea1eac06_1_6"/>
          <p:cNvSpPr txBox="1"/>
          <p:nvPr/>
        </p:nvSpPr>
        <p:spPr>
          <a:xfrm>
            <a:off x="8002166" y="8408612"/>
            <a:ext cx="30936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2100" u="none" cap="none" strike="noStrike">
                <a:solidFill>
                  <a:srgbClr val="F39C12"/>
                </a:solidFill>
                <a:latin typeface="Roboto Slab"/>
                <a:ea typeface="Roboto Slab"/>
                <a:cs typeface="Roboto Slab"/>
                <a:sym typeface="Roboto Slab"/>
              </a:rPr>
              <a:t>Seguridad Mejorada</a:t>
            </a:r>
            <a:endParaRPr/>
          </a:p>
        </p:txBody>
      </p:sp>
      <p:sp>
        <p:nvSpPr>
          <p:cNvPr id="270" name="Google Shape;270;g3a2ea1eac06_1_6"/>
          <p:cNvSpPr txBox="1"/>
          <p:nvPr/>
        </p:nvSpPr>
        <p:spPr>
          <a:xfrm>
            <a:off x="8075825" y="8903912"/>
            <a:ext cx="2946300" cy="1537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350" u="none" cap="none" strike="noStrike">
                <a:solidFill>
                  <a:srgbClr val="FFFFFF"/>
                </a:solidFill>
                <a:latin typeface="Roboto"/>
                <a:ea typeface="Roboto"/>
                <a:cs typeface="Roboto"/>
                <a:sym typeface="Roboto"/>
              </a:rPr>
              <a:t>Los datos sensibles (RUT, teléfonos) están en una base de datos **aislada**. Un ataque al WordPress público no expone la información privada del panel.</a:t>
            </a:r>
            <a:endParaRPr/>
          </a:p>
        </p:txBody>
      </p:sp>
      <p:sp>
        <p:nvSpPr>
          <p:cNvPr id="271" name="Google Shape;271;g3a2ea1eac06_1_6"/>
          <p:cNvSpPr txBox="1"/>
          <p:nvPr/>
        </p:nvSpPr>
        <p:spPr>
          <a:xfrm>
            <a:off x="11843866" y="8408612"/>
            <a:ext cx="30936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2100" u="none" cap="none" strike="noStrike">
                <a:solidFill>
                  <a:srgbClr val="F39C12"/>
                </a:solidFill>
                <a:latin typeface="Roboto Slab"/>
                <a:ea typeface="Roboto Slab"/>
                <a:cs typeface="Roboto Slab"/>
                <a:sym typeface="Roboto Slab"/>
              </a:rPr>
              <a:t>Rendimiento Superior</a:t>
            </a:r>
            <a:endParaRPr/>
          </a:p>
        </p:txBody>
      </p:sp>
      <p:sp>
        <p:nvSpPr>
          <p:cNvPr id="272" name="Google Shape;272;g3a2ea1eac06_1_6"/>
          <p:cNvSpPr txBox="1"/>
          <p:nvPr/>
        </p:nvSpPr>
        <p:spPr>
          <a:xfrm>
            <a:off x="11917525" y="8903912"/>
            <a:ext cx="2946300" cy="1537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350" u="none" cap="none" strike="noStrike">
                <a:solidFill>
                  <a:srgbClr val="FFFFFF"/>
                </a:solidFill>
                <a:latin typeface="Roboto"/>
                <a:ea typeface="Roboto"/>
                <a:cs typeface="Roboto"/>
                <a:sym typeface="Roboto"/>
              </a:rPr>
              <a:t>La App de formularios (PHP) es ultra-ligera. **No carga plugins** ni el motor pesado de WordPress, asegurando un envío de datos rápido y fiable.</a:t>
            </a:r>
            <a:endParaRPr/>
          </a:p>
        </p:txBody>
      </p:sp>
      <p:sp>
        <p:nvSpPr>
          <p:cNvPr id="273" name="Google Shape;273;g3a2ea1eac06_1_6"/>
          <p:cNvSpPr txBox="1"/>
          <p:nvPr/>
        </p:nvSpPr>
        <p:spPr>
          <a:xfrm>
            <a:off x="15685567" y="8408612"/>
            <a:ext cx="30936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2100" u="none" cap="none" strike="noStrike">
                <a:solidFill>
                  <a:srgbClr val="F39C12"/>
                </a:solidFill>
                <a:latin typeface="Roboto Slab"/>
                <a:ea typeface="Roboto Slab"/>
                <a:cs typeface="Roboto Slab"/>
                <a:sym typeface="Roboto Slab"/>
              </a:rPr>
              <a:t>Mantenimiento Simple</a:t>
            </a:r>
            <a:endParaRPr/>
          </a:p>
        </p:txBody>
      </p:sp>
      <p:sp>
        <p:nvSpPr>
          <p:cNvPr id="274" name="Google Shape;274;g3a2ea1eac06_1_6"/>
          <p:cNvSpPr txBox="1"/>
          <p:nvPr/>
        </p:nvSpPr>
        <p:spPr>
          <a:xfrm>
            <a:off x="15759225" y="8903912"/>
            <a:ext cx="2946300" cy="1537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350" u="none" cap="none" strike="noStrike">
                <a:solidFill>
                  <a:srgbClr val="FFFFFF"/>
                </a:solidFill>
                <a:latin typeface="Roboto"/>
                <a:ea typeface="Roboto"/>
                <a:cs typeface="Roboto"/>
                <a:sym typeface="Roboto"/>
              </a:rPr>
              <a:t>Se pueden actualizar el CMS (WordPress) y la App (PHP) de forma **independiente**. Una actualización de plugin **nunca** "romperá" el panel de admin.</a:t>
            </a:r>
            <a:endParaRPr/>
          </a:p>
        </p:txBody>
      </p:sp>
      <p:pic>
        <p:nvPicPr>
          <p:cNvPr descr="image.png" id="275" name="Google Shape;275;g3a2ea1eac06_1_6"/>
          <p:cNvPicPr preferRelativeResize="0"/>
          <p:nvPr/>
        </p:nvPicPr>
        <p:blipFill rotWithShape="1">
          <a:blip r:embed="rId11">
            <a:alphaModFix/>
          </a:blip>
          <a:srcRect b="0" l="0" r="0" t="0"/>
          <a:stretch/>
        </p:blipFill>
        <p:spPr>
          <a:xfrm>
            <a:off x="9320325" y="7703762"/>
            <a:ext cx="457200" cy="457200"/>
          </a:xfrm>
          <a:prstGeom prst="rect">
            <a:avLst/>
          </a:prstGeom>
          <a:noFill/>
          <a:ln>
            <a:noFill/>
          </a:ln>
        </p:spPr>
      </p:pic>
      <p:pic>
        <p:nvPicPr>
          <p:cNvPr descr="image.png" id="276" name="Google Shape;276;g3a2ea1eac06_1_6"/>
          <p:cNvPicPr preferRelativeResize="0"/>
          <p:nvPr/>
        </p:nvPicPr>
        <p:blipFill rotWithShape="1">
          <a:blip r:embed="rId12">
            <a:alphaModFix/>
          </a:blip>
          <a:srcRect b="0" l="0" r="0" t="0"/>
          <a:stretch/>
        </p:blipFill>
        <p:spPr>
          <a:xfrm>
            <a:off x="13162026" y="7703762"/>
            <a:ext cx="457200" cy="457200"/>
          </a:xfrm>
          <a:prstGeom prst="rect">
            <a:avLst/>
          </a:prstGeom>
          <a:noFill/>
          <a:ln>
            <a:noFill/>
          </a:ln>
        </p:spPr>
      </p:pic>
      <p:pic>
        <p:nvPicPr>
          <p:cNvPr descr="image.png" id="277" name="Google Shape;277;g3a2ea1eac06_1_6"/>
          <p:cNvPicPr preferRelativeResize="0"/>
          <p:nvPr/>
        </p:nvPicPr>
        <p:blipFill rotWithShape="1">
          <a:blip r:embed="rId13">
            <a:alphaModFix/>
          </a:blip>
          <a:srcRect b="0" l="0" r="0" t="0"/>
          <a:stretch/>
        </p:blipFill>
        <p:spPr>
          <a:xfrm>
            <a:off x="17003726" y="7703762"/>
            <a:ext cx="457200" cy="457200"/>
          </a:xfrm>
          <a:prstGeom prst="rect">
            <a:avLst/>
          </a:prstGeom>
          <a:noFill/>
          <a:ln>
            <a:noFill/>
          </a:ln>
        </p:spPr>
      </p:pic>
      <p:sp>
        <p:nvSpPr>
          <p:cNvPr id="278" name="Google Shape;278;g3a2ea1eac06_1_6"/>
          <p:cNvSpPr txBox="1"/>
          <p:nvPr/>
        </p:nvSpPr>
        <p:spPr>
          <a:xfrm>
            <a:off x="751975" y="3066125"/>
            <a:ext cx="5654700" cy="51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3000">
                <a:solidFill>
                  <a:schemeClr val="dk1"/>
                </a:solidFill>
              </a:rPr>
              <a:t>Se implementó una </a:t>
            </a:r>
            <a:r>
              <a:rPr b="1" lang="es-CL" sz="3000">
                <a:solidFill>
                  <a:schemeClr val="dk1"/>
                </a:solidFill>
              </a:rPr>
              <a:t>arquitectura híbrida y desacoplada</a:t>
            </a:r>
            <a:r>
              <a:rPr lang="es-CL" sz="3000">
                <a:solidFill>
                  <a:schemeClr val="dk1"/>
                </a:solidFill>
              </a:rPr>
              <a:t>: se usa </a:t>
            </a:r>
            <a:r>
              <a:rPr b="1" lang="es-CL" sz="3000">
                <a:solidFill>
                  <a:schemeClr val="dk1"/>
                </a:solidFill>
              </a:rPr>
              <a:t>WordPress</a:t>
            </a:r>
            <a:r>
              <a:rPr lang="es-CL" sz="3000">
                <a:solidFill>
                  <a:schemeClr val="dk1"/>
                </a:solidFill>
              </a:rPr>
              <a:t> para el portal público y una </a:t>
            </a:r>
            <a:r>
              <a:rPr b="1" lang="es-CL" sz="3000">
                <a:solidFill>
                  <a:schemeClr val="dk1"/>
                </a:solidFill>
              </a:rPr>
              <a:t>aplicación PHP a medida</a:t>
            </a:r>
            <a:r>
              <a:rPr lang="es-CL" sz="3000">
                <a:solidFill>
                  <a:schemeClr val="dk1"/>
                </a:solidFill>
              </a:rPr>
              <a:t> (independiente y segura) para los formularios y el panel de administración.</a:t>
            </a:r>
            <a:endParaRPr sz="3700">
              <a:latin typeface="Calibri"/>
              <a:ea typeface="Calibri"/>
              <a:cs typeface="Calibri"/>
              <a:sym typeface="Calibri"/>
            </a:endParaRPr>
          </a:p>
        </p:txBody>
      </p:sp>
      <p:cxnSp>
        <p:nvCxnSpPr>
          <p:cNvPr id="279" name="Google Shape;279;g3a2ea1eac06_1_6"/>
          <p:cNvCxnSpPr/>
          <p:nvPr/>
        </p:nvCxnSpPr>
        <p:spPr>
          <a:xfrm flipH="1" rot="10800000">
            <a:off x="7001475" y="1698250"/>
            <a:ext cx="6144900" cy="4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g390f15d3519_0_25"/>
          <p:cNvPicPr preferRelativeResize="0"/>
          <p:nvPr/>
        </p:nvPicPr>
        <p:blipFill>
          <a:blip r:embed="rId3">
            <a:alphaModFix/>
          </a:blip>
          <a:stretch>
            <a:fillRect/>
          </a:stretch>
        </p:blipFill>
        <p:spPr>
          <a:xfrm>
            <a:off x="2073850" y="1139400"/>
            <a:ext cx="15535049" cy="9686576"/>
          </a:xfrm>
          <a:prstGeom prst="rect">
            <a:avLst/>
          </a:prstGeom>
          <a:noFill/>
          <a:ln>
            <a:noFill/>
          </a:ln>
        </p:spPr>
      </p:pic>
      <p:sp>
        <p:nvSpPr>
          <p:cNvPr id="286" name="Google Shape;286;g390f15d3519_0_25"/>
          <p:cNvSpPr txBox="1"/>
          <p:nvPr>
            <p:ph idx="1" type="body"/>
          </p:nvPr>
        </p:nvSpPr>
        <p:spPr>
          <a:xfrm>
            <a:off x="4001100" y="459050"/>
            <a:ext cx="11878800" cy="7389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s-CL"/>
              <a:t>Arquitectura Híbrida de Tropezón News</a:t>
            </a:r>
            <a:endParaRPr/>
          </a:p>
        </p:txBody>
      </p:sp>
      <p:cxnSp>
        <p:nvCxnSpPr>
          <p:cNvPr id="287" name="Google Shape;287;g390f15d3519_0_25"/>
          <p:cNvCxnSpPr/>
          <p:nvPr/>
        </p:nvCxnSpPr>
        <p:spPr>
          <a:xfrm flipH="1" rot="10800000">
            <a:off x="4336700" y="1327600"/>
            <a:ext cx="11691900" cy="12600"/>
          </a:xfrm>
          <a:prstGeom prst="straightConnector1">
            <a:avLst/>
          </a:prstGeom>
          <a:noFill/>
          <a:ln cap="flat" cmpd="sng" w="9525">
            <a:solidFill>
              <a:schemeClr val="accent6"/>
            </a:solidFill>
            <a:prstDash val="solid"/>
            <a:round/>
            <a:headEnd len="med" w="med" type="none"/>
            <a:tailEnd len="med" w="med" type="none"/>
          </a:ln>
        </p:spPr>
      </p:cxnSp>
      <p:sp>
        <p:nvSpPr>
          <p:cNvPr id="288" name="Google Shape;288;g390f15d3519_0_25"/>
          <p:cNvSpPr/>
          <p:nvPr/>
        </p:nvSpPr>
        <p:spPr>
          <a:xfrm>
            <a:off x="6572250" y="1770025"/>
            <a:ext cx="6276300" cy="58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a2ea1eac06_1_268"/>
          <p:cNvSpPr txBox="1"/>
          <p:nvPr>
            <p:ph idx="1" type="body"/>
          </p:nvPr>
        </p:nvSpPr>
        <p:spPr>
          <a:xfrm>
            <a:off x="4361325" y="821200"/>
            <a:ext cx="11878800" cy="7389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s-CL"/>
              <a:t>Stack de Tecnologías y Herramientas</a:t>
            </a:r>
            <a:endParaRPr/>
          </a:p>
        </p:txBody>
      </p:sp>
      <p:pic>
        <p:nvPicPr>
          <p:cNvPr descr="image.png" id="295" name="Google Shape;295;g3a2ea1eac06_1_268"/>
          <p:cNvPicPr preferRelativeResize="0"/>
          <p:nvPr/>
        </p:nvPicPr>
        <p:blipFill rotWithShape="1">
          <a:blip r:embed="rId3">
            <a:alphaModFix/>
          </a:blip>
          <a:srcRect b="0" l="0" r="0" t="0"/>
          <a:stretch/>
        </p:blipFill>
        <p:spPr>
          <a:xfrm>
            <a:off x="1080700" y="6162775"/>
            <a:ext cx="4102880" cy="3888475"/>
          </a:xfrm>
          <a:prstGeom prst="rect">
            <a:avLst/>
          </a:prstGeom>
          <a:noFill/>
          <a:ln>
            <a:noFill/>
          </a:ln>
        </p:spPr>
      </p:pic>
      <p:pic>
        <p:nvPicPr>
          <p:cNvPr descr="image.png" id="296" name="Google Shape;296;g3a2ea1eac06_1_268"/>
          <p:cNvPicPr preferRelativeResize="0"/>
          <p:nvPr/>
        </p:nvPicPr>
        <p:blipFill rotWithShape="1">
          <a:blip r:embed="rId4">
            <a:alphaModFix/>
          </a:blip>
          <a:srcRect b="0" l="0" r="0" t="0"/>
          <a:stretch/>
        </p:blipFill>
        <p:spPr>
          <a:xfrm>
            <a:off x="5639480" y="6162775"/>
            <a:ext cx="4102880" cy="3888475"/>
          </a:xfrm>
          <a:prstGeom prst="rect">
            <a:avLst/>
          </a:prstGeom>
          <a:noFill/>
          <a:ln>
            <a:noFill/>
          </a:ln>
        </p:spPr>
      </p:pic>
      <p:pic>
        <p:nvPicPr>
          <p:cNvPr descr="image.png" id="297" name="Google Shape;297;g3a2ea1eac06_1_268"/>
          <p:cNvPicPr preferRelativeResize="0"/>
          <p:nvPr/>
        </p:nvPicPr>
        <p:blipFill rotWithShape="1">
          <a:blip r:embed="rId4">
            <a:alphaModFix/>
          </a:blip>
          <a:srcRect b="0" l="0" r="0" t="0"/>
          <a:stretch/>
        </p:blipFill>
        <p:spPr>
          <a:xfrm>
            <a:off x="10198260" y="6162775"/>
            <a:ext cx="4102880" cy="3888475"/>
          </a:xfrm>
          <a:prstGeom prst="rect">
            <a:avLst/>
          </a:prstGeom>
          <a:noFill/>
          <a:ln>
            <a:noFill/>
          </a:ln>
        </p:spPr>
      </p:pic>
      <p:sp>
        <p:nvSpPr>
          <p:cNvPr id="298" name="Google Shape;298;g3a2ea1eac06_1_268"/>
          <p:cNvSpPr txBox="1"/>
          <p:nvPr/>
        </p:nvSpPr>
        <p:spPr>
          <a:xfrm>
            <a:off x="1337131" y="7382248"/>
            <a:ext cx="3590100" cy="77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2512" u="none" cap="none" strike="noStrike">
                <a:solidFill>
                  <a:srgbClr val="F39C12"/>
                </a:solidFill>
                <a:latin typeface="Roboto Slab"/>
                <a:ea typeface="Roboto Slab"/>
                <a:cs typeface="Roboto Slab"/>
                <a:sym typeface="Roboto Slab"/>
              </a:rPr>
              <a:t>Portal Principal (tropezon.</a:t>
            </a:r>
            <a:r>
              <a:rPr b="1" lang="es-CL" sz="2512">
                <a:solidFill>
                  <a:srgbClr val="F39C12"/>
                </a:solidFill>
                <a:latin typeface="Roboto Slab"/>
                <a:ea typeface="Roboto Slab"/>
                <a:cs typeface="Roboto Slab"/>
                <a:sym typeface="Roboto Slab"/>
              </a:rPr>
              <a:t>space</a:t>
            </a:r>
            <a:r>
              <a:rPr b="1" i="0" lang="es-CL" sz="2512" u="none" cap="none" strike="noStrike">
                <a:solidFill>
                  <a:srgbClr val="F39C12"/>
                </a:solidFill>
                <a:latin typeface="Roboto Slab"/>
                <a:ea typeface="Roboto Slab"/>
                <a:cs typeface="Roboto Slab"/>
                <a:sym typeface="Roboto Slab"/>
              </a:rPr>
              <a:t>)</a:t>
            </a:r>
            <a:endParaRPr sz="1675"/>
          </a:p>
        </p:txBody>
      </p:sp>
      <p:sp>
        <p:nvSpPr>
          <p:cNvPr id="299" name="Google Shape;299;g3a2ea1eac06_1_268"/>
          <p:cNvSpPr txBox="1"/>
          <p:nvPr/>
        </p:nvSpPr>
        <p:spPr>
          <a:xfrm>
            <a:off x="1422608" y="8396575"/>
            <a:ext cx="3419100" cy="1143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s-CL" sz="1615" u="none" cap="none" strike="noStrike">
                <a:solidFill>
                  <a:srgbClr val="CBD5E1"/>
                </a:solidFill>
                <a:latin typeface="Roboto"/>
                <a:ea typeface="Roboto"/>
                <a:cs typeface="Roboto"/>
                <a:sym typeface="Roboto"/>
              </a:rPr>
              <a:t>WordPress 6.8.2</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Elementor 3.31.2</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MySQL 8.0.35</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Yoast SEO</a:t>
            </a:r>
            <a:endParaRPr sz="1675"/>
          </a:p>
        </p:txBody>
      </p:sp>
      <p:sp>
        <p:nvSpPr>
          <p:cNvPr id="300" name="Google Shape;300;g3a2ea1eac06_1_268"/>
          <p:cNvSpPr txBox="1"/>
          <p:nvPr/>
        </p:nvSpPr>
        <p:spPr>
          <a:xfrm>
            <a:off x="5895911" y="7382248"/>
            <a:ext cx="3590100" cy="77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2512" u="none" cap="none" strike="noStrike">
                <a:solidFill>
                  <a:srgbClr val="F39C12"/>
                </a:solidFill>
                <a:latin typeface="Roboto Slab"/>
                <a:ea typeface="Roboto Slab"/>
                <a:cs typeface="Roboto Slab"/>
                <a:sym typeface="Roboto Slab"/>
              </a:rPr>
              <a:t>App de Formularios (form.</a:t>
            </a:r>
            <a:r>
              <a:rPr b="1" lang="es-CL" sz="2512">
                <a:solidFill>
                  <a:srgbClr val="F39C12"/>
                </a:solidFill>
                <a:latin typeface="Roboto Slab"/>
                <a:ea typeface="Roboto Slab"/>
                <a:cs typeface="Roboto Slab"/>
                <a:sym typeface="Roboto Slab"/>
              </a:rPr>
              <a:t>tropezón</a:t>
            </a:r>
            <a:r>
              <a:rPr b="1" i="0" lang="es-CL" sz="2512" u="none" cap="none" strike="noStrike">
                <a:solidFill>
                  <a:srgbClr val="F39C12"/>
                </a:solidFill>
                <a:latin typeface="Roboto Slab"/>
                <a:ea typeface="Roboto Slab"/>
                <a:cs typeface="Roboto Slab"/>
                <a:sym typeface="Roboto Slab"/>
              </a:rPr>
              <a:t>.space)</a:t>
            </a:r>
            <a:endParaRPr sz="1675"/>
          </a:p>
        </p:txBody>
      </p:sp>
      <p:sp>
        <p:nvSpPr>
          <p:cNvPr id="301" name="Google Shape;301;g3a2ea1eac06_1_268"/>
          <p:cNvSpPr txBox="1"/>
          <p:nvPr/>
        </p:nvSpPr>
        <p:spPr>
          <a:xfrm>
            <a:off x="5981388" y="8396575"/>
            <a:ext cx="3419100" cy="1143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s-CL" sz="1615" u="none" cap="none" strike="noStrike">
                <a:solidFill>
                  <a:srgbClr val="CBD5E1"/>
                </a:solidFill>
                <a:latin typeface="Roboto"/>
                <a:ea typeface="Roboto"/>
                <a:cs typeface="Roboto"/>
                <a:sym typeface="Roboto"/>
              </a:rPr>
              <a:t>PHP (Nativo)</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HTML5 / CSS3</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Bootstrap 5 &amp; Icons</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JavaScript (Validaciones)</a:t>
            </a:r>
            <a:endParaRPr sz="1675"/>
          </a:p>
        </p:txBody>
      </p:sp>
      <p:sp>
        <p:nvSpPr>
          <p:cNvPr id="302" name="Google Shape;302;g3a2ea1eac06_1_268"/>
          <p:cNvSpPr txBox="1"/>
          <p:nvPr/>
        </p:nvSpPr>
        <p:spPr>
          <a:xfrm>
            <a:off x="10454691" y="7382248"/>
            <a:ext cx="3590100" cy="77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2512" u="none" cap="none" strike="noStrike">
                <a:solidFill>
                  <a:srgbClr val="F39C12"/>
                </a:solidFill>
                <a:latin typeface="Roboto Slab"/>
                <a:ea typeface="Roboto Slab"/>
                <a:cs typeface="Roboto Slab"/>
                <a:sym typeface="Roboto Slab"/>
              </a:rPr>
              <a:t>Gestión y Soporte (General)</a:t>
            </a:r>
            <a:endParaRPr sz="1675"/>
          </a:p>
        </p:txBody>
      </p:sp>
      <p:sp>
        <p:nvSpPr>
          <p:cNvPr id="303" name="Google Shape;303;g3a2ea1eac06_1_268"/>
          <p:cNvSpPr txBox="1"/>
          <p:nvPr/>
        </p:nvSpPr>
        <p:spPr>
          <a:xfrm>
            <a:off x="10540168" y="8396575"/>
            <a:ext cx="3419100" cy="1143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s-CL" sz="1615" u="none" cap="none" strike="noStrike">
                <a:solidFill>
                  <a:srgbClr val="CBD5E1"/>
                </a:solidFill>
                <a:latin typeface="Roboto"/>
                <a:ea typeface="Roboto"/>
                <a:cs typeface="Roboto"/>
                <a:sym typeface="Roboto"/>
              </a:rPr>
              <a:t>GitHub</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Trello / Jira</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Google Analytics</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Cpanel (Hosting)</a:t>
            </a:r>
            <a:endParaRPr sz="1675"/>
          </a:p>
        </p:txBody>
      </p:sp>
      <p:pic>
        <p:nvPicPr>
          <p:cNvPr descr="image.png" id="304" name="Google Shape;304;g3a2ea1eac06_1_268"/>
          <p:cNvPicPr preferRelativeResize="0"/>
          <p:nvPr/>
        </p:nvPicPr>
        <p:blipFill rotWithShape="1">
          <a:blip r:embed="rId5">
            <a:alphaModFix/>
          </a:blip>
          <a:srcRect b="0" l="0" r="0" t="0"/>
          <a:stretch/>
        </p:blipFill>
        <p:spPr>
          <a:xfrm>
            <a:off x="2504906" y="5701736"/>
            <a:ext cx="923625" cy="923625"/>
          </a:xfrm>
          <a:prstGeom prst="rect">
            <a:avLst/>
          </a:prstGeom>
          <a:noFill/>
          <a:ln>
            <a:noFill/>
          </a:ln>
        </p:spPr>
      </p:pic>
      <p:pic>
        <p:nvPicPr>
          <p:cNvPr descr="image.png" id="305" name="Google Shape;305;g3a2ea1eac06_1_268"/>
          <p:cNvPicPr preferRelativeResize="0"/>
          <p:nvPr/>
        </p:nvPicPr>
        <p:blipFill rotWithShape="1">
          <a:blip r:embed="rId6">
            <a:alphaModFix/>
          </a:blip>
          <a:srcRect b="0" l="0" r="0" t="0"/>
          <a:stretch/>
        </p:blipFill>
        <p:spPr>
          <a:xfrm>
            <a:off x="7156075" y="5794112"/>
            <a:ext cx="923633" cy="738900"/>
          </a:xfrm>
          <a:prstGeom prst="rect">
            <a:avLst/>
          </a:prstGeom>
          <a:noFill/>
          <a:ln>
            <a:noFill/>
          </a:ln>
        </p:spPr>
      </p:pic>
      <p:pic>
        <p:nvPicPr>
          <p:cNvPr descr="image.png" id="306" name="Google Shape;306;g3a2ea1eac06_1_268"/>
          <p:cNvPicPr preferRelativeResize="0"/>
          <p:nvPr/>
        </p:nvPicPr>
        <p:blipFill rotWithShape="1">
          <a:blip r:embed="rId7">
            <a:alphaModFix/>
          </a:blip>
          <a:srcRect b="0" l="0" r="0" t="0"/>
          <a:stretch/>
        </p:blipFill>
        <p:spPr>
          <a:xfrm>
            <a:off x="11953297" y="5794099"/>
            <a:ext cx="738931" cy="738900"/>
          </a:xfrm>
          <a:prstGeom prst="rect">
            <a:avLst/>
          </a:prstGeom>
          <a:noFill/>
          <a:ln>
            <a:noFill/>
          </a:ln>
        </p:spPr>
      </p:pic>
      <p:pic>
        <p:nvPicPr>
          <p:cNvPr descr="image.png" id="307" name="Google Shape;307;g3a2ea1eac06_1_268"/>
          <p:cNvPicPr preferRelativeResize="0"/>
          <p:nvPr/>
        </p:nvPicPr>
        <p:blipFill rotWithShape="1">
          <a:blip r:embed="rId4">
            <a:alphaModFix/>
          </a:blip>
          <a:srcRect b="0" l="0" r="0" t="0"/>
          <a:stretch/>
        </p:blipFill>
        <p:spPr>
          <a:xfrm>
            <a:off x="14911510" y="6162763"/>
            <a:ext cx="4102879" cy="3888475"/>
          </a:xfrm>
          <a:prstGeom prst="rect">
            <a:avLst/>
          </a:prstGeom>
          <a:noFill/>
          <a:ln>
            <a:noFill/>
          </a:ln>
        </p:spPr>
      </p:pic>
      <p:sp>
        <p:nvSpPr>
          <p:cNvPr id="308" name="Google Shape;308;g3a2ea1eac06_1_268"/>
          <p:cNvSpPr txBox="1"/>
          <p:nvPr/>
        </p:nvSpPr>
        <p:spPr>
          <a:xfrm>
            <a:off x="15129316" y="7386110"/>
            <a:ext cx="3590100" cy="771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s-CL" sz="2500">
                <a:solidFill>
                  <a:srgbClr val="F39C12"/>
                </a:solidFill>
                <a:latin typeface="Roboto Slab"/>
                <a:ea typeface="Roboto Slab"/>
                <a:cs typeface="Roboto Slab"/>
                <a:sym typeface="Roboto Slab"/>
              </a:rPr>
              <a:t>Integraciones Clave</a:t>
            </a:r>
            <a:endParaRPr sz="2500">
              <a:solidFill>
                <a:schemeClr val="dk1"/>
              </a:solidFill>
            </a:endParaRPr>
          </a:p>
          <a:p>
            <a:pPr indent="0" lvl="0" marL="0" marR="0" rtl="0" algn="ctr">
              <a:spcBef>
                <a:spcPts val="0"/>
              </a:spcBef>
              <a:spcAft>
                <a:spcPts val="0"/>
              </a:spcAft>
              <a:buNone/>
            </a:pPr>
            <a:r>
              <a:t/>
            </a:r>
            <a:endParaRPr b="1" sz="2512">
              <a:solidFill>
                <a:srgbClr val="F39C12"/>
              </a:solidFill>
              <a:latin typeface="Roboto Slab"/>
              <a:ea typeface="Roboto Slab"/>
              <a:cs typeface="Roboto Slab"/>
              <a:sym typeface="Roboto Slab"/>
            </a:endParaRPr>
          </a:p>
        </p:txBody>
      </p:sp>
      <p:sp>
        <p:nvSpPr>
          <p:cNvPr id="309" name="Google Shape;309;g3a2ea1eac06_1_268"/>
          <p:cNvSpPr txBox="1"/>
          <p:nvPr/>
        </p:nvSpPr>
        <p:spPr>
          <a:xfrm>
            <a:off x="15214793" y="8400438"/>
            <a:ext cx="3419100" cy="1036800"/>
          </a:xfrm>
          <a:prstGeom prst="rect">
            <a:avLst/>
          </a:prstGeom>
          <a:noFill/>
          <a:ln>
            <a:noFill/>
          </a:ln>
        </p:spPr>
        <p:txBody>
          <a:bodyPr anchorCtr="0" anchor="t" bIns="0" lIns="0" spcFirstLastPara="1" rIns="0" wrap="square" tIns="0">
            <a:spAutoFit/>
          </a:bodyPr>
          <a:lstStyle/>
          <a:p>
            <a:pPr indent="0" lvl="0" marL="0" rtl="0" algn="ctr">
              <a:lnSpc>
                <a:spcPct val="120000"/>
              </a:lnSpc>
              <a:spcBef>
                <a:spcPts val="0"/>
              </a:spcBef>
              <a:spcAft>
                <a:spcPts val="0"/>
              </a:spcAft>
              <a:buNone/>
            </a:pPr>
            <a:r>
              <a:rPr lang="es-CL" sz="1422">
                <a:solidFill>
                  <a:srgbClr val="CBD5E1"/>
                </a:solidFill>
                <a:latin typeface="Roboto"/>
                <a:ea typeface="Roboto"/>
                <a:cs typeface="Roboto"/>
                <a:sym typeface="Roboto"/>
              </a:rPr>
              <a:t>Plugins de SEO (Yoast)</a:t>
            </a:r>
            <a:br>
              <a:rPr lang="es-CL" sz="1896">
                <a:solidFill>
                  <a:schemeClr val="dk1"/>
                </a:solidFill>
                <a:latin typeface="Calibri"/>
                <a:ea typeface="Calibri"/>
                <a:cs typeface="Calibri"/>
                <a:sym typeface="Calibri"/>
              </a:rPr>
            </a:br>
            <a:r>
              <a:rPr lang="es-CL" sz="1422">
                <a:solidFill>
                  <a:srgbClr val="CBD5E1"/>
                </a:solidFill>
                <a:latin typeface="Roboto"/>
                <a:ea typeface="Roboto"/>
                <a:cs typeface="Roboto"/>
                <a:sym typeface="Roboto"/>
              </a:rPr>
              <a:t> Google Analytics</a:t>
            </a:r>
            <a:br>
              <a:rPr lang="es-CL" sz="1896">
                <a:solidFill>
                  <a:schemeClr val="dk1"/>
                </a:solidFill>
                <a:latin typeface="Calibri"/>
                <a:ea typeface="Calibri"/>
                <a:cs typeface="Calibri"/>
                <a:sym typeface="Calibri"/>
              </a:rPr>
            </a:br>
            <a:r>
              <a:rPr lang="es-CL" sz="1422">
                <a:solidFill>
                  <a:srgbClr val="CBD5E1"/>
                </a:solidFill>
                <a:latin typeface="Roboto"/>
                <a:ea typeface="Roboto"/>
                <a:cs typeface="Roboto"/>
                <a:sym typeface="Roboto"/>
              </a:rPr>
              <a:t> Sistemas de Seguridad y Backups</a:t>
            </a:r>
            <a:endParaRPr sz="1475">
              <a:solidFill>
                <a:schemeClr val="dk1"/>
              </a:solidFill>
            </a:endParaRPr>
          </a:p>
          <a:p>
            <a:pPr indent="0" lvl="0" marL="0" marR="0" rtl="0" algn="ctr">
              <a:lnSpc>
                <a:spcPct val="120000"/>
              </a:lnSpc>
              <a:spcBef>
                <a:spcPts val="0"/>
              </a:spcBef>
              <a:spcAft>
                <a:spcPts val="0"/>
              </a:spcAft>
              <a:buNone/>
            </a:pPr>
            <a:r>
              <a:t/>
            </a:r>
            <a:endParaRPr sz="1615">
              <a:solidFill>
                <a:srgbClr val="CBD5E1"/>
              </a:solidFill>
              <a:latin typeface="Roboto"/>
              <a:ea typeface="Roboto"/>
              <a:cs typeface="Roboto"/>
              <a:sym typeface="Roboto"/>
            </a:endParaRPr>
          </a:p>
        </p:txBody>
      </p:sp>
      <p:pic>
        <p:nvPicPr>
          <p:cNvPr descr="image.png" id="310" name="Google Shape;310;g3a2ea1eac06_1_268"/>
          <p:cNvPicPr preferRelativeResize="0"/>
          <p:nvPr/>
        </p:nvPicPr>
        <p:blipFill rotWithShape="1">
          <a:blip r:embed="rId8">
            <a:alphaModFix/>
          </a:blip>
          <a:srcRect b="0" l="0" r="0" t="0"/>
          <a:stretch/>
        </p:blipFill>
        <p:spPr>
          <a:xfrm>
            <a:off x="16565823" y="5719047"/>
            <a:ext cx="738925" cy="888993"/>
          </a:xfrm>
          <a:prstGeom prst="rect">
            <a:avLst/>
          </a:prstGeom>
          <a:noFill/>
          <a:ln>
            <a:noFill/>
          </a:ln>
        </p:spPr>
      </p:pic>
      <p:sp>
        <p:nvSpPr>
          <p:cNvPr id="311" name="Google Shape;311;g3a2ea1eac06_1_268"/>
          <p:cNvSpPr txBox="1"/>
          <p:nvPr/>
        </p:nvSpPr>
        <p:spPr>
          <a:xfrm>
            <a:off x="833725" y="2816225"/>
            <a:ext cx="4988100" cy="20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100">
                <a:solidFill>
                  <a:schemeClr val="dk1"/>
                </a:solidFill>
              </a:rPr>
              <a:t>El Portal Principal (</a:t>
            </a:r>
            <a:r>
              <a:rPr b="1" lang="es-CL" sz="2100">
                <a:solidFill>
                  <a:srgbClr val="188038"/>
                </a:solidFill>
                <a:latin typeface="Roboto Mono"/>
                <a:ea typeface="Roboto Mono"/>
                <a:cs typeface="Roboto Mono"/>
                <a:sym typeface="Roboto Mono"/>
              </a:rPr>
              <a:t>tropezón</a:t>
            </a:r>
            <a:r>
              <a:rPr b="1" lang="es-CL" sz="2100">
                <a:solidFill>
                  <a:srgbClr val="188038"/>
                </a:solidFill>
                <a:latin typeface="Roboto Mono"/>
                <a:ea typeface="Roboto Mono"/>
                <a:cs typeface="Roboto Mono"/>
                <a:sym typeface="Roboto Mono"/>
              </a:rPr>
              <a:t>.space</a:t>
            </a:r>
            <a:r>
              <a:rPr b="1" lang="es-CL" sz="2100">
                <a:solidFill>
                  <a:schemeClr val="dk1"/>
                </a:solidFill>
              </a:rPr>
              <a:t>) utiliza un stack probado de WordPress 6.8.2, Elementor 3.31.2 y MySQL 8.0.35, optimizado con Yoast SEO para la gestión de contenido.</a:t>
            </a:r>
            <a:endParaRPr b="1" sz="2100">
              <a:latin typeface="Calibri"/>
              <a:ea typeface="Calibri"/>
              <a:cs typeface="Calibri"/>
              <a:sym typeface="Calibri"/>
            </a:endParaRPr>
          </a:p>
        </p:txBody>
      </p:sp>
      <p:sp>
        <p:nvSpPr>
          <p:cNvPr id="312" name="Google Shape;312;g3a2ea1eac06_1_268"/>
          <p:cNvSpPr txBox="1"/>
          <p:nvPr/>
        </p:nvSpPr>
        <p:spPr>
          <a:xfrm>
            <a:off x="7558000" y="2652888"/>
            <a:ext cx="4988100" cy="180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2000">
                <a:solidFill>
                  <a:schemeClr val="dk1"/>
                </a:solidFill>
              </a:rPr>
              <a:t>paralelamente</a:t>
            </a:r>
            <a:r>
              <a:rPr b="1" lang="es-CL" sz="2000">
                <a:solidFill>
                  <a:schemeClr val="dk1"/>
                </a:solidFill>
              </a:rPr>
              <a:t>, la App de Formularios y el Panel Admin se desarrollaron como una solución a medida con PHP Nativo, HTML5/CSS3, Bootstrap 5 y JavaScript, garantizando una interfaz segura, rápida y responsive.</a:t>
            </a:r>
            <a:endParaRPr b="1" sz="2000">
              <a:latin typeface="Calibri"/>
              <a:ea typeface="Calibri"/>
              <a:cs typeface="Calibri"/>
              <a:sym typeface="Calibri"/>
            </a:endParaRPr>
          </a:p>
        </p:txBody>
      </p:sp>
      <p:sp>
        <p:nvSpPr>
          <p:cNvPr id="313" name="Google Shape;313;g3a2ea1eac06_1_268"/>
          <p:cNvSpPr txBox="1"/>
          <p:nvPr/>
        </p:nvSpPr>
        <p:spPr>
          <a:xfrm>
            <a:off x="14638475" y="2652888"/>
            <a:ext cx="4451400" cy="20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100">
                <a:solidFill>
                  <a:schemeClr val="dk1"/>
                </a:solidFill>
              </a:rPr>
              <a:t>Toda la gestión del proyecto se realizó con Trello y GitHub, se integró Google Analytics para la analítica y se desplegó en un Hosting Compartido con Cpanel</a:t>
            </a:r>
            <a:endParaRPr b="1" sz="2100">
              <a:latin typeface="Calibri"/>
              <a:ea typeface="Calibri"/>
              <a:cs typeface="Calibri"/>
              <a:sym typeface="Calibri"/>
            </a:endParaRPr>
          </a:p>
        </p:txBody>
      </p:sp>
      <p:cxnSp>
        <p:nvCxnSpPr>
          <p:cNvPr id="314" name="Google Shape;314;g3a2ea1eac06_1_268"/>
          <p:cNvCxnSpPr/>
          <p:nvPr/>
        </p:nvCxnSpPr>
        <p:spPr>
          <a:xfrm flipH="1" rot="10800000">
            <a:off x="-1550" y="4812525"/>
            <a:ext cx="20107200" cy="15000"/>
          </a:xfrm>
          <a:prstGeom prst="straightConnector1">
            <a:avLst/>
          </a:prstGeom>
          <a:noFill/>
          <a:ln cap="flat" cmpd="sng" w="38100">
            <a:solidFill>
              <a:schemeClr val="dk1"/>
            </a:solidFill>
            <a:prstDash val="solid"/>
            <a:round/>
            <a:headEnd len="med" w="med" type="none"/>
            <a:tailEnd len="med" w="med" type="none"/>
          </a:ln>
        </p:spPr>
      </p:cxnSp>
      <p:cxnSp>
        <p:nvCxnSpPr>
          <p:cNvPr id="315" name="Google Shape;315;g3a2ea1eac06_1_268"/>
          <p:cNvCxnSpPr/>
          <p:nvPr/>
        </p:nvCxnSpPr>
        <p:spPr>
          <a:xfrm flipH="1" rot="10800000">
            <a:off x="5364800" y="1566700"/>
            <a:ext cx="10890900" cy="357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descr="image.png" id="321" name="Google Shape;321;g3993719c3f7_2_72"/>
          <p:cNvPicPr preferRelativeResize="0"/>
          <p:nvPr/>
        </p:nvPicPr>
        <p:blipFill rotWithShape="1">
          <a:blip r:embed="rId3">
            <a:alphaModFix/>
          </a:blip>
          <a:srcRect b="0" l="0" r="0" t="0"/>
          <a:stretch/>
        </p:blipFill>
        <p:spPr>
          <a:xfrm>
            <a:off x="2682238" y="1689025"/>
            <a:ext cx="4663362" cy="8192750"/>
          </a:xfrm>
          <a:prstGeom prst="rect">
            <a:avLst/>
          </a:prstGeom>
          <a:noFill/>
          <a:ln>
            <a:noFill/>
          </a:ln>
        </p:spPr>
      </p:pic>
      <p:pic>
        <p:nvPicPr>
          <p:cNvPr descr="image.png" id="322" name="Google Shape;322;g3993719c3f7_2_72"/>
          <p:cNvPicPr preferRelativeResize="0"/>
          <p:nvPr/>
        </p:nvPicPr>
        <p:blipFill rotWithShape="1">
          <a:blip r:embed="rId4">
            <a:alphaModFix/>
          </a:blip>
          <a:srcRect b="0" l="0" r="0" t="0"/>
          <a:stretch/>
        </p:blipFill>
        <p:spPr>
          <a:xfrm>
            <a:off x="7720360" y="1775250"/>
            <a:ext cx="4663362" cy="8192750"/>
          </a:xfrm>
          <a:prstGeom prst="rect">
            <a:avLst/>
          </a:prstGeom>
          <a:noFill/>
          <a:ln>
            <a:noFill/>
          </a:ln>
        </p:spPr>
      </p:pic>
      <p:pic>
        <p:nvPicPr>
          <p:cNvPr descr="image.png" id="323" name="Google Shape;323;g3993719c3f7_2_72"/>
          <p:cNvPicPr preferRelativeResize="0"/>
          <p:nvPr/>
        </p:nvPicPr>
        <p:blipFill rotWithShape="1">
          <a:blip r:embed="rId5">
            <a:alphaModFix/>
          </a:blip>
          <a:srcRect b="0" l="0" r="0" t="0"/>
          <a:stretch/>
        </p:blipFill>
        <p:spPr>
          <a:xfrm>
            <a:off x="12758482" y="1775250"/>
            <a:ext cx="4663381" cy="8192751"/>
          </a:xfrm>
          <a:prstGeom prst="rect">
            <a:avLst/>
          </a:prstGeom>
          <a:noFill/>
          <a:ln>
            <a:noFill/>
          </a:ln>
        </p:spPr>
      </p:pic>
      <p:sp>
        <p:nvSpPr>
          <p:cNvPr id="324" name="Google Shape;324;g3993719c3f7_2_72"/>
          <p:cNvSpPr txBox="1"/>
          <p:nvPr/>
        </p:nvSpPr>
        <p:spPr>
          <a:xfrm>
            <a:off x="3419229" y="2087533"/>
            <a:ext cx="3794700" cy="78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2557" u="none" cap="none" strike="noStrike">
                <a:solidFill>
                  <a:srgbClr val="F39C12"/>
                </a:solidFill>
                <a:latin typeface="Roboto Slab"/>
                <a:ea typeface="Roboto Slab"/>
                <a:cs typeface="Roboto Slab"/>
                <a:sym typeface="Roboto Slab"/>
              </a:rPr>
              <a:t>Seguridad (Anti-Inyección SQL)</a:t>
            </a:r>
            <a:endParaRPr sz="1836"/>
          </a:p>
        </p:txBody>
      </p:sp>
      <p:sp>
        <p:nvSpPr>
          <p:cNvPr id="325" name="Google Shape;325;g3993719c3f7_2_72"/>
          <p:cNvSpPr txBox="1"/>
          <p:nvPr/>
        </p:nvSpPr>
        <p:spPr>
          <a:xfrm>
            <a:off x="8394894" y="2087533"/>
            <a:ext cx="3860400" cy="78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2557" u="none" cap="none" strike="noStrike">
                <a:solidFill>
                  <a:srgbClr val="F39C12"/>
                </a:solidFill>
                <a:latin typeface="Roboto Slab"/>
                <a:ea typeface="Roboto Slab"/>
                <a:cs typeface="Roboto Slab"/>
                <a:sym typeface="Roboto Slab"/>
              </a:rPr>
              <a:t>Gestión Inteligente de Archivos</a:t>
            </a:r>
            <a:endParaRPr sz="1836"/>
          </a:p>
        </p:txBody>
      </p:sp>
      <p:sp>
        <p:nvSpPr>
          <p:cNvPr id="326" name="Google Shape;326;g3993719c3f7_2_72"/>
          <p:cNvSpPr txBox="1"/>
          <p:nvPr/>
        </p:nvSpPr>
        <p:spPr>
          <a:xfrm>
            <a:off x="13433016" y="2087533"/>
            <a:ext cx="3860400" cy="393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2557" u="none" cap="none" strike="noStrike">
                <a:solidFill>
                  <a:srgbClr val="F39C12"/>
                </a:solidFill>
                <a:latin typeface="Roboto Slab"/>
                <a:ea typeface="Roboto Slab"/>
                <a:cs typeface="Roboto Slab"/>
                <a:sym typeface="Roboto Slab"/>
              </a:rPr>
              <a:t>UX &amp; Diseño Responsive</a:t>
            </a:r>
            <a:endParaRPr sz="1836"/>
          </a:p>
        </p:txBody>
      </p:sp>
      <p:pic>
        <p:nvPicPr>
          <p:cNvPr descr="image.png" id="327" name="Google Shape;327;g3993719c3f7_2_72"/>
          <p:cNvPicPr preferRelativeResize="0"/>
          <p:nvPr/>
        </p:nvPicPr>
        <p:blipFill rotWithShape="1">
          <a:blip r:embed="rId6">
            <a:alphaModFix/>
          </a:blip>
          <a:srcRect b="0" l="0" r="0" t="0"/>
          <a:stretch/>
        </p:blipFill>
        <p:spPr>
          <a:xfrm>
            <a:off x="2863127" y="2149770"/>
            <a:ext cx="406200" cy="406237"/>
          </a:xfrm>
          <a:prstGeom prst="rect">
            <a:avLst/>
          </a:prstGeom>
          <a:noFill/>
          <a:ln>
            <a:noFill/>
          </a:ln>
        </p:spPr>
      </p:pic>
      <p:sp>
        <p:nvSpPr>
          <p:cNvPr id="328" name="Google Shape;328;g3993719c3f7_2_72"/>
          <p:cNvSpPr txBox="1"/>
          <p:nvPr/>
        </p:nvSpPr>
        <p:spPr>
          <a:xfrm>
            <a:off x="2994522" y="3124313"/>
            <a:ext cx="4038900" cy="1404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573" u="none" cap="none" strike="noStrike">
                <a:solidFill>
                  <a:srgbClr val="CBD5E1"/>
                </a:solidFill>
                <a:latin typeface="Roboto"/>
                <a:ea typeface="Roboto"/>
                <a:cs typeface="Roboto"/>
                <a:sym typeface="Roboto"/>
              </a:rPr>
              <a:t>Protege la base de datos de ataques. Usamos </a:t>
            </a:r>
            <a:r>
              <a:rPr b="1" i="0" lang="es-CL" sz="1573" u="none" cap="none" strike="noStrike">
                <a:solidFill>
                  <a:srgbClr val="CBD5E1"/>
                </a:solidFill>
                <a:latin typeface="Roboto"/>
                <a:ea typeface="Roboto"/>
                <a:cs typeface="Roboto"/>
                <a:sym typeface="Roboto"/>
              </a:rPr>
              <a:t>Sentencias Preparadas</a:t>
            </a:r>
            <a:r>
              <a:rPr b="0" i="0" lang="es-CL" sz="1573" u="none" cap="none" strike="noStrike">
                <a:solidFill>
                  <a:srgbClr val="CBD5E1"/>
                </a:solidFill>
                <a:latin typeface="Roboto"/>
                <a:ea typeface="Roboto"/>
                <a:cs typeface="Roboto"/>
                <a:sym typeface="Roboto"/>
              </a:rPr>
              <a:t> para separar los comandos SQL de los datos del usuario, evitando código malicioso.</a:t>
            </a:r>
            <a:endParaRPr sz="1836"/>
          </a:p>
        </p:txBody>
      </p:sp>
      <p:sp>
        <p:nvSpPr>
          <p:cNvPr id="329" name="Google Shape;329;g3993719c3f7_2_72"/>
          <p:cNvSpPr txBox="1"/>
          <p:nvPr/>
        </p:nvSpPr>
        <p:spPr>
          <a:xfrm>
            <a:off x="3181893" y="7532190"/>
            <a:ext cx="11367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guardar.php</a:t>
            </a:r>
            <a:endParaRPr sz="1836"/>
          </a:p>
        </p:txBody>
      </p:sp>
      <p:sp>
        <p:nvSpPr>
          <p:cNvPr id="330" name="Google Shape;330;g3993719c3f7_2_72"/>
          <p:cNvSpPr txBox="1"/>
          <p:nvPr/>
        </p:nvSpPr>
        <p:spPr>
          <a:xfrm>
            <a:off x="3181893" y="7775770"/>
            <a:ext cx="4062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$stmt</a:t>
            </a:r>
            <a:endParaRPr sz="1836"/>
          </a:p>
        </p:txBody>
      </p:sp>
      <p:sp>
        <p:nvSpPr>
          <p:cNvPr id="331" name="Google Shape;331;g3993719c3f7_2_72"/>
          <p:cNvSpPr txBox="1"/>
          <p:nvPr/>
        </p:nvSpPr>
        <p:spPr>
          <a:xfrm>
            <a:off x="3831444" y="7775770"/>
            <a:ext cx="406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$conn</a:t>
            </a:r>
            <a:endParaRPr sz="1836"/>
          </a:p>
        </p:txBody>
      </p:sp>
      <p:sp>
        <p:nvSpPr>
          <p:cNvPr id="332" name="Google Shape;332;g3993719c3f7_2_72"/>
          <p:cNvSpPr txBox="1"/>
          <p:nvPr/>
        </p:nvSpPr>
        <p:spPr>
          <a:xfrm>
            <a:off x="4399801" y="7775770"/>
            <a:ext cx="5685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FACC15"/>
                </a:solidFill>
                <a:latin typeface="Arial"/>
                <a:ea typeface="Arial"/>
                <a:cs typeface="Arial"/>
                <a:sym typeface="Arial"/>
              </a:rPr>
              <a:t>prepare</a:t>
            </a:r>
            <a:endParaRPr sz="1836"/>
          </a:p>
        </p:txBody>
      </p:sp>
      <p:sp>
        <p:nvSpPr>
          <p:cNvPr id="333" name="Google Shape;333;g3993719c3f7_2_72"/>
          <p:cNvSpPr txBox="1"/>
          <p:nvPr/>
        </p:nvSpPr>
        <p:spPr>
          <a:xfrm>
            <a:off x="3181893" y="8506513"/>
            <a:ext cx="30042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Vincula variables de PHP a los '?'</a:t>
            </a:r>
            <a:endParaRPr sz="1836"/>
          </a:p>
        </p:txBody>
      </p:sp>
      <p:sp>
        <p:nvSpPr>
          <p:cNvPr id="334" name="Google Shape;334;g3993719c3f7_2_72"/>
          <p:cNvSpPr txBox="1"/>
          <p:nvPr/>
        </p:nvSpPr>
        <p:spPr>
          <a:xfrm>
            <a:off x="3181893" y="8750094"/>
            <a:ext cx="4062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$stmt</a:t>
            </a:r>
            <a:endParaRPr sz="1836"/>
          </a:p>
        </p:txBody>
      </p:sp>
      <p:sp>
        <p:nvSpPr>
          <p:cNvPr id="335" name="Google Shape;335;g3993719c3f7_2_72"/>
          <p:cNvSpPr txBox="1"/>
          <p:nvPr/>
        </p:nvSpPr>
        <p:spPr>
          <a:xfrm>
            <a:off x="4643383" y="8750094"/>
            <a:ext cx="7305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"sssssss"</a:t>
            </a:r>
            <a:endParaRPr sz="1836"/>
          </a:p>
        </p:txBody>
      </p:sp>
      <p:sp>
        <p:nvSpPr>
          <p:cNvPr id="336" name="Google Shape;336;g3993719c3f7_2_72"/>
          <p:cNvSpPr txBox="1"/>
          <p:nvPr/>
        </p:nvSpPr>
        <p:spPr>
          <a:xfrm>
            <a:off x="5536516" y="8750094"/>
            <a:ext cx="5685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$nomb</a:t>
            </a:r>
            <a:endParaRPr sz="1836"/>
          </a:p>
        </p:txBody>
      </p:sp>
      <p:sp>
        <p:nvSpPr>
          <p:cNvPr id="337" name="Google Shape;337;g3993719c3f7_2_72"/>
          <p:cNvSpPr txBox="1"/>
          <p:nvPr/>
        </p:nvSpPr>
        <p:spPr>
          <a:xfrm>
            <a:off x="6267262" y="8750094"/>
            <a:ext cx="3249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$rut</a:t>
            </a:r>
            <a:endParaRPr sz="1836"/>
          </a:p>
        </p:txBody>
      </p:sp>
      <p:sp>
        <p:nvSpPr>
          <p:cNvPr id="338" name="Google Shape;338;g3993719c3f7_2_72"/>
          <p:cNvSpPr txBox="1"/>
          <p:nvPr/>
        </p:nvSpPr>
        <p:spPr>
          <a:xfrm>
            <a:off x="3181893" y="9237255"/>
            <a:ext cx="406200" cy="0"/>
          </a:xfrm>
          <a:prstGeom prst="rect">
            <a:avLst/>
          </a:prstGeom>
          <a:noFill/>
          <a:ln>
            <a:noFill/>
          </a:ln>
        </p:spPr>
        <p:txBody>
          <a:bodyPr anchorCtr="0" anchor="t" bIns="0" lIns="0" spcFirstLastPara="1" rIns="0" wrap="square" tIns="0">
            <a:no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$stmt</a:t>
            </a:r>
            <a:endParaRPr sz="1836"/>
          </a:p>
        </p:txBody>
      </p:sp>
      <p:sp>
        <p:nvSpPr>
          <p:cNvPr id="339" name="Google Shape;339;g3993719c3f7_2_72"/>
          <p:cNvSpPr txBox="1"/>
          <p:nvPr/>
        </p:nvSpPr>
        <p:spPr>
          <a:xfrm>
            <a:off x="3750250" y="9237255"/>
            <a:ext cx="568500" cy="0"/>
          </a:xfrm>
          <a:prstGeom prst="rect">
            <a:avLst/>
          </a:prstGeom>
          <a:noFill/>
          <a:ln>
            <a:noFill/>
          </a:ln>
        </p:spPr>
        <p:txBody>
          <a:bodyPr anchorCtr="0" anchor="t" bIns="0" lIns="0" spcFirstLastPara="1" rIns="0" wrap="square" tIns="0">
            <a:noAutofit/>
          </a:bodyPr>
          <a:lstStyle/>
          <a:p>
            <a:pPr indent="0" lvl="0" marL="0" marR="0" rtl="0" algn="l">
              <a:lnSpc>
                <a:spcPct val="149948"/>
              </a:lnSpc>
              <a:spcBef>
                <a:spcPts val="0"/>
              </a:spcBef>
              <a:spcAft>
                <a:spcPts val="0"/>
              </a:spcAft>
              <a:buNone/>
            </a:pPr>
            <a:r>
              <a:rPr b="0" i="0" lang="es-CL" sz="1278" u="none" cap="none" strike="noStrike">
                <a:solidFill>
                  <a:srgbClr val="FACC15"/>
                </a:solidFill>
                <a:latin typeface="Arial"/>
                <a:ea typeface="Arial"/>
                <a:cs typeface="Arial"/>
                <a:sym typeface="Arial"/>
              </a:rPr>
              <a:t>execute</a:t>
            </a:r>
            <a:endParaRPr sz="1836"/>
          </a:p>
        </p:txBody>
      </p:sp>
      <p:pic>
        <p:nvPicPr>
          <p:cNvPr descr="image.png" id="340" name="Google Shape;340;g3993719c3f7_2_72"/>
          <p:cNvPicPr preferRelativeResize="0"/>
          <p:nvPr/>
        </p:nvPicPr>
        <p:blipFill rotWithShape="1">
          <a:blip r:embed="rId7">
            <a:alphaModFix/>
          </a:blip>
          <a:srcRect b="0" l="0" r="0" t="0"/>
          <a:stretch/>
        </p:blipFill>
        <p:spPr>
          <a:xfrm>
            <a:off x="7851453" y="2142645"/>
            <a:ext cx="324900" cy="420488"/>
          </a:xfrm>
          <a:prstGeom prst="rect">
            <a:avLst/>
          </a:prstGeom>
          <a:noFill/>
          <a:ln>
            <a:noFill/>
          </a:ln>
        </p:spPr>
      </p:pic>
      <p:sp>
        <p:nvSpPr>
          <p:cNvPr id="341" name="Google Shape;341;g3993719c3f7_2_72"/>
          <p:cNvSpPr txBox="1"/>
          <p:nvPr/>
        </p:nvSpPr>
        <p:spPr>
          <a:xfrm>
            <a:off x="8032582" y="2930513"/>
            <a:ext cx="4038900" cy="1792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573" u="none" cap="none" strike="noStrike">
                <a:solidFill>
                  <a:srgbClr val="CBD5E1"/>
                </a:solidFill>
                <a:latin typeface="Roboto"/>
                <a:ea typeface="Roboto"/>
                <a:cs typeface="Roboto"/>
                <a:sym typeface="Roboto"/>
              </a:rPr>
              <a:t>Maneja la subida de archivos (imágenes, PDF) de forma segura. El código mueve el archivo al servidor y **guarda solo la ruta de texto** en la base de datos, manteniéndola ligera.</a:t>
            </a:r>
            <a:endParaRPr sz="1836"/>
          </a:p>
        </p:txBody>
      </p:sp>
      <p:sp>
        <p:nvSpPr>
          <p:cNvPr id="342" name="Google Shape;342;g3993719c3f7_2_72"/>
          <p:cNvSpPr txBox="1"/>
          <p:nvPr/>
        </p:nvSpPr>
        <p:spPr>
          <a:xfrm>
            <a:off x="8220015" y="6801447"/>
            <a:ext cx="11367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guardar.php</a:t>
            </a:r>
            <a:endParaRPr sz="1836"/>
          </a:p>
        </p:txBody>
      </p:sp>
      <p:sp>
        <p:nvSpPr>
          <p:cNvPr id="343" name="Google Shape;343;g3993719c3f7_2_72"/>
          <p:cNvSpPr txBox="1"/>
          <p:nvPr/>
        </p:nvSpPr>
        <p:spPr>
          <a:xfrm>
            <a:off x="8220015" y="7045028"/>
            <a:ext cx="1705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$ruta_imagen_guardada</a:t>
            </a:r>
            <a:endParaRPr sz="1836"/>
          </a:p>
        </p:txBody>
      </p:sp>
      <p:sp>
        <p:nvSpPr>
          <p:cNvPr id="344" name="Google Shape;344;g3993719c3f7_2_72"/>
          <p:cNvSpPr txBox="1"/>
          <p:nvPr/>
        </p:nvSpPr>
        <p:spPr>
          <a:xfrm>
            <a:off x="10168669" y="7045028"/>
            <a:ext cx="3249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NULL</a:t>
            </a:r>
            <a:endParaRPr sz="1836"/>
          </a:p>
        </p:txBody>
      </p:sp>
      <p:sp>
        <p:nvSpPr>
          <p:cNvPr id="345" name="Google Shape;345;g3993719c3f7_2_72"/>
          <p:cNvSpPr txBox="1"/>
          <p:nvPr/>
        </p:nvSpPr>
        <p:spPr>
          <a:xfrm>
            <a:off x="8220015" y="7288608"/>
            <a:ext cx="9744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$target_file</a:t>
            </a:r>
            <a:endParaRPr sz="1836"/>
          </a:p>
        </p:txBody>
      </p:sp>
      <p:sp>
        <p:nvSpPr>
          <p:cNvPr id="346" name="Google Shape;346;g3993719c3f7_2_72"/>
          <p:cNvSpPr txBox="1"/>
          <p:nvPr/>
        </p:nvSpPr>
        <p:spPr>
          <a:xfrm>
            <a:off x="9437923" y="7288608"/>
            <a:ext cx="8931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$target_dir</a:t>
            </a:r>
            <a:endParaRPr sz="1836"/>
          </a:p>
        </p:txBody>
      </p:sp>
      <p:sp>
        <p:nvSpPr>
          <p:cNvPr id="347" name="Google Shape;347;g3993719c3f7_2_72"/>
          <p:cNvSpPr txBox="1"/>
          <p:nvPr/>
        </p:nvSpPr>
        <p:spPr>
          <a:xfrm>
            <a:off x="8220015" y="7532190"/>
            <a:ext cx="6498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FACC15"/>
                </a:solidFill>
                <a:latin typeface="Arial"/>
                <a:ea typeface="Arial"/>
                <a:cs typeface="Arial"/>
                <a:sym typeface="Arial"/>
              </a:rPr>
              <a:t>basename</a:t>
            </a:r>
            <a:endParaRPr sz="1836"/>
          </a:p>
        </p:txBody>
      </p:sp>
      <p:sp>
        <p:nvSpPr>
          <p:cNvPr id="348" name="Google Shape;348;g3993719c3f7_2_72"/>
          <p:cNvSpPr txBox="1"/>
          <p:nvPr/>
        </p:nvSpPr>
        <p:spPr>
          <a:xfrm>
            <a:off x="8950759" y="7532190"/>
            <a:ext cx="5685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$_FILES</a:t>
            </a:r>
            <a:endParaRPr sz="1836"/>
          </a:p>
        </p:txBody>
      </p:sp>
      <p:sp>
        <p:nvSpPr>
          <p:cNvPr id="349" name="Google Shape;349;g3993719c3f7_2_72"/>
          <p:cNvSpPr txBox="1"/>
          <p:nvPr/>
        </p:nvSpPr>
        <p:spPr>
          <a:xfrm>
            <a:off x="9600311" y="7532190"/>
            <a:ext cx="6498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"imagen"</a:t>
            </a:r>
            <a:endParaRPr sz="1836"/>
          </a:p>
        </p:txBody>
      </p:sp>
      <p:sp>
        <p:nvSpPr>
          <p:cNvPr id="350" name="Google Shape;350;g3993719c3f7_2_72"/>
          <p:cNvSpPr txBox="1"/>
          <p:nvPr/>
        </p:nvSpPr>
        <p:spPr>
          <a:xfrm>
            <a:off x="10412250" y="7532190"/>
            <a:ext cx="487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"name"</a:t>
            </a:r>
            <a:endParaRPr sz="1836"/>
          </a:p>
        </p:txBody>
      </p:sp>
      <p:sp>
        <p:nvSpPr>
          <p:cNvPr id="351" name="Google Shape;351;g3993719c3f7_2_72"/>
          <p:cNvSpPr txBox="1"/>
          <p:nvPr/>
        </p:nvSpPr>
        <p:spPr>
          <a:xfrm>
            <a:off x="8220015" y="8019352"/>
            <a:ext cx="25170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Mueve el archivo al servidor</a:t>
            </a:r>
            <a:endParaRPr sz="1836"/>
          </a:p>
        </p:txBody>
      </p:sp>
      <p:sp>
        <p:nvSpPr>
          <p:cNvPr id="352" name="Google Shape;352;g3993719c3f7_2_72"/>
          <p:cNvSpPr txBox="1"/>
          <p:nvPr/>
        </p:nvSpPr>
        <p:spPr>
          <a:xfrm>
            <a:off x="8544790" y="8262932"/>
            <a:ext cx="14616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FACC15"/>
                </a:solidFill>
                <a:latin typeface="Arial"/>
                <a:ea typeface="Arial"/>
                <a:cs typeface="Arial"/>
                <a:sym typeface="Arial"/>
              </a:rPr>
              <a:t>move_uploaded_file</a:t>
            </a:r>
            <a:endParaRPr sz="1836"/>
          </a:p>
        </p:txBody>
      </p:sp>
      <p:sp>
        <p:nvSpPr>
          <p:cNvPr id="353" name="Google Shape;353;g3993719c3f7_2_72"/>
          <p:cNvSpPr txBox="1"/>
          <p:nvPr/>
        </p:nvSpPr>
        <p:spPr>
          <a:xfrm>
            <a:off x="10087474" y="8262932"/>
            <a:ext cx="5685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$_FILES</a:t>
            </a:r>
            <a:endParaRPr sz="1836"/>
          </a:p>
        </p:txBody>
      </p:sp>
      <p:sp>
        <p:nvSpPr>
          <p:cNvPr id="354" name="Google Shape;354;g3993719c3f7_2_72"/>
          <p:cNvSpPr txBox="1"/>
          <p:nvPr/>
        </p:nvSpPr>
        <p:spPr>
          <a:xfrm>
            <a:off x="10737026" y="8262932"/>
            <a:ext cx="6498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"imagen"</a:t>
            </a:r>
            <a:endParaRPr sz="1836"/>
          </a:p>
        </p:txBody>
      </p:sp>
      <p:sp>
        <p:nvSpPr>
          <p:cNvPr id="355" name="Google Shape;355;g3993719c3f7_2_72"/>
          <p:cNvSpPr txBox="1"/>
          <p:nvPr/>
        </p:nvSpPr>
        <p:spPr>
          <a:xfrm>
            <a:off x="8301208" y="8506513"/>
            <a:ext cx="8121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"tmp_name"</a:t>
            </a:r>
            <a:endParaRPr sz="1836"/>
          </a:p>
        </p:txBody>
      </p:sp>
      <p:sp>
        <p:nvSpPr>
          <p:cNvPr id="356" name="Google Shape;356;g3993719c3f7_2_72"/>
          <p:cNvSpPr txBox="1"/>
          <p:nvPr/>
        </p:nvSpPr>
        <p:spPr>
          <a:xfrm>
            <a:off x="9356730" y="8506513"/>
            <a:ext cx="9744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$target_file</a:t>
            </a:r>
            <a:endParaRPr sz="1836"/>
          </a:p>
        </p:txBody>
      </p:sp>
      <p:sp>
        <p:nvSpPr>
          <p:cNvPr id="357" name="Google Shape;357;g3993719c3f7_2_72"/>
          <p:cNvSpPr txBox="1"/>
          <p:nvPr/>
        </p:nvSpPr>
        <p:spPr>
          <a:xfrm>
            <a:off x="8544790" y="8750094"/>
            <a:ext cx="25170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Guarda solo la RUTA en la BD</a:t>
            </a:r>
            <a:endParaRPr sz="1836"/>
          </a:p>
        </p:txBody>
      </p:sp>
      <p:sp>
        <p:nvSpPr>
          <p:cNvPr id="358" name="Google Shape;358;g3993719c3f7_2_72"/>
          <p:cNvSpPr txBox="1"/>
          <p:nvPr/>
        </p:nvSpPr>
        <p:spPr>
          <a:xfrm>
            <a:off x="8544790" y="8993675"/>
            <a:ext cx="1705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$ruta_imagen_guardada</a:t>
            </a:r>
            <a:endParaRPr sz="1836"/>
          </a:p>
        </p:txBody>
      </p:sp>
      <p:sp>
        <p:nvSpPr>
          <p:cNvPr id="359" name="Google Shape;359;g3993719c3f7_2_72"/>
          <p:cNvSpPr txBox="1"/>
          <p:nvPr/>
        </p:nvSpPr>
        <p:spPr>
          <a:xfrm>
            <a:off x="10493445" y="8993675"/>
            <a:ext cx="9744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$target_file</a:t>
            </a:r>
            <a:endParaRPr sz="1836"/>
          </a:p>
        </p:txBody>
      </p:sp>
      <p:pic>
        <p:nvPicPr>
          <p:cNvPr descr="image.png" id="360" name="Google Shape;360;g3993719c3f7_2_72"/>
          <p:cNvPicPr preferRelativeResize="0"/>
          <p:nvPr/>
        </p:nvPicPr>
        <p:blipFill rotWithShape="1">
          <a:blip r:embed="rId8">
            <a:alphaModFix/>
          </a:blip>
          <a:srcRect b="0" l="0" r="0" t="0"/>
          <a:stretch/>
        </p:blipFill>
        <p:spPr>
          <a:xfrm>
            <a:off x="12890157" y="2078981"/>
            <a:ext cx="380155" cy="492000"/>
          </a:xfrm>
          <a:prstGeom prst="rect">
            <a:avLst/>
          </a:prstGeom>
          <a:noFill/>
          <a:ln>
            <a:noFill/>
          </a:ln>
        </p:spPr>
      </p:pic>
      <p:sp>
        <p:nvSpPr>
          <p:cNvPr id="361" name="Google Shape;361;g3993719c3f7_2_72"/>
          <p:cNvSpPr txBox="1"/>
          <p:nvPr/>
        </p:nvSpPr>
        <p:spPr>
          <a:xfrm>
            <a:off x="12919697" y="2874736"/>
            <a:ext cx="4355100" cy="1404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573" u="none" cap="none" strike="noStrike">
                <a:solidFill>
                  <a:srgbClr val="CBD5E1"/>
                </a:solidFill>
                <a:latin typeface="Roboto"/>
                <a:ea typeface="Roboto"/>
                <a:cs typeface="Roboto"/>
                <a:sym typeface="Roboto"/>
              </a:rPr>
              <a:t>Se utiliza **Bootstrap 5 y Bootstrap Icons** para unificar el diseño. Esto garantiza una experiencia de usuario (UX) coherente, profesional y **100% responsive**.</a:t>
            </a:r>
            <a:endParaRPr sz="1836"/>
          </a:p>
        </p:txBody>
      </p:sp>
      <p:pic>
        <p:nvPicPr>
          <p:cNvPr id="362" name="Google Shape;362;g3993719c3f7_2_72"/>
          <p:cNvPicPr preferRelativeResize="0"/>
          <p:nvPr/>
        </p:nvPicPr>
        <p:blipFill>
          <a:blip r:embed="rId9">
            <a:alphaModFix/>
          </a:blip>
          <a:stretch>
            <a:fillRect/>
          </a:stretch>
        </p:blipFill>
        <p:spPr>
          <a:xfrm>
            <a:off x="2994522" y="6565227"/>
            <a:ext cx="4038819" cy="3186696"/>
          </a:xfrm>
          <a:prstGeom prst="rect">
            <a:avLst/>
          </a:prstGeom>
          <a:noFill/>
          <a:ln>
            <a:noFill/>
          </a:ln>
        </p:spPr>
      </p:pic>
      <p:pic>
        <p:nvPicPr>
          <p:cNvPr id="363" name="Google Shape;363;g3993719c3f7_2_72"/>
          <p:cNvPicPr preferRelativeResize="0"/>
          <p:nvPr/>
        </p:nvPicPr>
        <p:blipFill>
          <a:blip r:embed="rId10">
            <a:alphaModFix/>
          </a:blip>
          <a:stretch>
            <a:fillRect/>
          </a:stretch>
        </p:blipFill>
        <p:spPr>
          <a:xfrm>
            <a:off x="13167107" y="4415271"/>
            <a:ext cx="3860275" cy="5129967"/>
          </a:xfrm>
          <a:prstGeom prst="rect">
            <a:avLst/>
          </a:prstGeom>
          <a:noFill/>
          <a:ln>
            <a:noFill/>
          </a:ln>
        </p:spPr>
      </p:pic>
      <p:pic>
        <p:nvPicPr>
          <p:cNvPr id="364" name="Google Shape;364;g3993719c3f7_2_72"/>
          <p:cNvPicPr preferRelativeResize="0"/>
          <p:nvPr/>
        </p:nvPicPr>
        <p:blipFill>
          <a:blip r:embed="rId11">
            <a:alphaModFix/>
          </a:blip>
          <a:stretch>
            <a:fillRect/>
          </a:stretch>
        </p:blipFill>
        <p:spPr>
          <a:xfrm>
            <a:off x="8147914" y="6565227"/>
            <a:ext cx="3860274" cy="3186697"/>
          </a:xfrm>
          <a:prstGeom prst="rect">
            <a:avLst/>
          </a:prstGeom>
          <a:noFill/>
          <a:ln>
            <a:noFill/>
          </a:ln>
        </p:spPr>
      </p:pic>
      <p:sp>
        <p:nvSpPr>
          <p:cNvPr id="365" name="Google Shape;365;g3993719c3f7_2_72"/>
          <p:cNvSpPr txBox="1"/>
          <p:nvPr/>
        </p:nvSpPr>
        <p:spPr>
          <a:xfrm>
            <a:off x="4972363" y="591725"/>
            <a:ext cx="10211400" cy="11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4800">
                <a:latin typeface="Calibri"/>
                <a:ea typeface="Calibri"/>
                <a:cs typeface="Calibri"/>
                <a:sym typeface="Calibri"/>
              </a:rPr>
              <a:t>Funciones Clave de la Aplicación (PHP)</a:t>
            </a:r>
            <a:endParaRPr b="1" sz="4800">
              <a:latin typeface="Calibri"/>
              <a:ea typeface="Calibri"/>
              <a:cs typeface="Calibri"/>
              <a:sym typeface="Calibri"/>
            </a:endParaRPr>
          </a:p>
        </p:txBody>
      </p:sp>
      <p:cxnSp>
        <p:nvCxnSpPr>
          <p:cNvPr id="366" name="Google Shape;366;g3993719c3f7_2_72"/>
          <p:cNvCxnSpPr/>
          <p:nvPr/>
        </p:nvCxnSpPr>
        <p:spPr>
          <a:xfrm>
            <a:off x="4941450" y="1411925"/>
            <a:ext cx="10035000" cy="354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descr="image.png" id="372" name="Google Shape;372;g3ad49c47d92_0_1"/>
          <p:cNvPicPr preferRelativeResize="0"/>
          <p:nvPr/>
        </p:nvPicPr>
        <p:blipFill rotWithShape="1">
          <a:blip r:embed="rId3">
            <a:alphaModFix/>
          </a:blip>
          <a:srcRect b="0" l="0" r="0" t="0"/>
          <a:stretch/>
        </p:blipFill>
        <p:spPr>
          <a:xfrm>
            <a:off x="2682238" y="1689025"/>
            <a:ext cx="4663362" cy="8192750"/>
          </a:xfrm>
          <a:prstGeom prst="rect">
            <a:avLst/>
          </a:prstGeom>
          <a:noFill/>
          <a:ln>
            <a:noFill/>
          </a:ln>
        </p:spPr>
      </p:pic>
      <p:pic>
        <p:nvPicPr>
          <p:cNvPr descr="image.png" id="373" name="Google Shape;373;g3ad49c47d92_0_1"/>
          <p:cNvPicPr preferRelativeResize="0"/>
          <p:nvPr/>
        </p:nvPicPr>
        <p:blipFill rotWithShape="1">
          <a:blip r:embed="rId4">
            <a:alphaModFix/>
          </a:blip>
          <a:srcRect b="0" l="0" r="0" t="0"/>
          <a:stretch/>
        </p:blipFill>
        <p:spPr>
          <a:xfrm>
            <a:off x="7720360" y="1775250"/>
            <a:ext cx="4663362" cy="8192750"/>
          </a:xfrm>
          <a:prstGeom prst="rect">
            <a:avLst/>
          </a:prstGeom>
          <a:noFill/>
          <a:ln>
            <a:noFill/>
          </a:ln>
        </p:spPr>
      </p:pic>
      <p:pic>
        <p:nvPicPr>
          <p:cNvPr descr="image.png" id="374" name="Google Shape;374;g3ad49c47d92_0_1"/>
          <p:cNvPicPr preferRelativeResize="0"/>
          <p:nvPr/>
        </p:nvPicPr>
        <p:blipFill rotWithShape="1">
          <a:blip r:embed="rId5">
            <a:alphaModFix/>
          </a:blip>
          <a:srcRect b="0" l="0" r="0" t="0"/>
          <a:stretch/>
        </p:blipFill>
        <p:spPr>
          <a:xfrm>
            <a:off x="12758482" y="1775250"/>
            <a:ext cx="4663381" cy="8192751"/>
          </a:xfrm>
          <a:prstGeom prst="rect">
            <a:avLst/>
          </a:prstGeom>
          <a:noFill/>
          <a:ln>
            <a:noFill/>
          </a:ln>
        </p:spPr>
      </p:pic>
      <p:sp>
        <p:nvSpPr>
          <p:cNvPr id="375" name="Google Shape;375;g3ad49c47d92_0_1"/>
          <p:cNvSpPr txBox="1"/>
          <p:nvPr/>
        </p:nvSpPr>
        <p:spPr>
          <a:xfrm>
            <a:off x="3419229" y="2087533"/>
            <a:ext cx="3794700" cy="78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2557" u="none" cap="none" strike="noStrike">
                <a:solidFill>
                  <a:srgbClr val="F39C12"/>
                </a:solidFill>
                <a:latin typeface="Roboto Slab"/>
                <a:ea typeface="Roboto Slab"/>
                <a:cs typeface="Roboto Slab"/>
                <a:sym typeface="Roboto Slab"/>
              </a:rPr>
              <a:t>Seguridad (Anti-Inyección SQL)</a:t>
            </a:r>
            <a:endParaRPr sz="1836"/>
          </a:p>
        </p:txBody>
      </p:sp>
      <p:sp>
        <p:nvSpPr>
          <p:cNvPr id="376" name="Google Shape;376;g3ad49c47d92_0_1"/>
          <p:cNvSpPr txBox="1"/>
          <p:nvPr/>
        </p:nvSpPr>
        <p:spPr>
          <a:xfrm>
            <a:off x="8394894" y="2087533"/>
            <a:ext cx="3860400" cy="78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2557" u="none" cap="none" strike="noStrike">
                <a:solidFill>
                  <a:srgbClr val="F39C12"/>
                </a:solidFill>
                <a:latin typeface="Roboto Slab"/>
                <a:ea typeface="Roboto Slab"/>
                <a:cs typeface="Roboto Slab"/>
                <a:sym typeface="Roboto Slab"/>
              </a:rPr>
              <a:t>Gestión Inteligente de Archivos</a:t>
            </a:r>
            <a:endParaRPr sz="1836"/>
          </a:p>
        </p:txBody>
      </p:sp>
      <p:sp>
        <p:nvSpPr>
          <p:cNvPr id="377" name="Google Shape;377;g3ad49c47d92_0_1"/>
          <p:cNvSpPr txBox="1"/>
          <p:nvPr/>
        </p:nvSpPr>
        <p:spPr>
          <a:xfrm>
            <a:off x="13433016" y="2087533"/>
            <a:ext cx="3860400" cy="393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2557" u="none" cap="none" strike="noStrike">
                <a:solidFill>
                  <a:srgbClr val="F39C12"/>
                </a:solidFill>
                <a:latin typeface="Roboto Slab"/>
                <a:ea typeface="Roboto Slab"/>
                <a:cs typeface="Roboto Slab"/>
                <a:sym typeface="Roboto Slab"/>
              </a:rPr>
              <a:t>UX &amp; Diseño Responsive</a:t>
            </a:r>
            <a:endParaRPr sz="1836"/>
          </a:p>
        </p:txBody>
      </p:sp>
      <p:pic>
        <p:nvPicPr>
          <p:cNvPr descr="image.png" id="378" name="Google Shape;378;g3ad49c47d92_0_1"/>
          <p:cNvPicPr preferRelativeResize="0"/>
          <p:nvPr/>
        </p:nvPicPr>
        <p:blipFill rotWithShape="1">
          <a:blip r:embed="rId6">
            <a:alphaModFix/>
          </a:blip>
          <a:srcRect b="0" l="0" r="0" t="0"/>
          <a:stretch/>
        </p:blipFill>
        <p:spPr>
          <a:xfrm>
            <a:off x="2863127" y="2149770"/>
            <a:ext cx="406200" cy="406237"/>
          </a:xfrm>
          <a:prstGeom prst="rect">
            <a:avLst/>
          </a:prstGeom>
          <a:noFill/>
          <a:ln>
            <a:noFill/>
          </a:ln>
        </p:spPr>
      </p:pic>
      <p:sp>
        <p:nvSpPr>
          <p:cNvPr id="379" name="Google Shape;379;g3ad49c47d92_0_1"/>
          <p:cNvSpPr txBox="1"/>
          <p:nvPr/>
        </p:nvSpPr>
        <p:spPr>
          <a:xfrm>
            <a:off x="2994522" y="3124313"/>
            <a:ext cx="4038900" cy="1404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573" u="none" cap="none" strike="noStrike">
                <a:solidFill>
                  <a:srgbClr val="CBD5E1"/>
                </a:solidFill>
                <a:latin typeface="Roboto"/>
                <a:ea typeface="Roboto"/>
                <a:cs typeface="Roboto"/>
                <a:sym typeface="Roboto"/>
              </a:rPr>
              <a:t>Protege la base de datos de ataques. Usamos </a:t>
            </a:r>
            <a:r>
              <a:rPr b="1" i="0" lang="es-CL" sz="1573" u="none" cap="none" strike="noStrike">
                <a:solidFill>
                  <a:srgbClr val="CBD5E1"/>
                </a:solidFill>
                <a:latin typeface="Roboto"/>
                <a:ea typeface="Roboto"/>
                <a:cs typeface="Roboto"/>
                <a:sym typeface="Roboto"/>
              </a:rPr>
              <a:t>Sentencias Preparadas</a:t>
            </a:r>
            <a:r>
              <a:rPr b="0" i="0" lang="es-CL" sz="1573" u="none" cap="none" strike="noStrike">
                <a:solidFill>
                  <a:srgbClr val="CBD5E1"/>
                </a:solidFill>
                <a:latin typeface="Roboto"/>
                <a:ea typeface="Roboto"/>
                <a:cs typeface="Roboto"/>
                <a:sym typeface="Roboto"/>
              </a:rPr>
              <a:t> para separar los comandos SQL de los datos del usuario, evitando código malicioso.</a:t>
            </a:r>
            <a:endParaRPr sz="1836"/>
          </a:p>
        </p:txBody>
      </p:sp>
      <p:sp>
        <p:nvSpPr>
          <p:cNvPr id="380" name="Google Shape;380;g3ad49c47d92_0_1"/>
          <p:cNvSpPr txBox="1"/>
          <p:nvPr/>
        </p:nvSpPr>
        <p:spPr>
          <a:xfrm>
            <a:off x="3181893" y="7532190"/>
            <a:ext cx="11367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guardar.php</a:t>
            </a:r>
            <a:endParaRPr sz="1836"/>
          </a:p>
        </p:txBody>
      </p:sp>
      <p:sp>
        <p:nvSpPr>
          <p:cNvPr id="381" name="Google Shape;381;g3ad49c47d92_0_1"/>
          <p:cNvSpPr txBox="1"/>
          <p:nvPr/>
        </p:nvSpPr>
        <p:spPr>
          <a:xfrm>
            <a:off x="3181893" y="7775770"/>
            <a:ext cx="4062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$stmt</a:t>
            </a:r>
            <a:endParaRPr sz="1836"/>
          </a:p>
        </p:txBody>
      </p:sp>
      <p:sp>
        <p:nvSpPr>
          <p:cNvPr id="382" name="Google Shape;382;g3ad49c47d92_0_1"/>
          <p:cNvSpPr txBox="1"/>
          <p:nvPr/>
        </p:nvSpPr>
        <p:spPr>
          <a:xfrm>
            <a:off x="3831444" y="7775770"/>
            <a:ext cx="406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$conn</a:t>
            </a:r>
            <a:endParaRPr sz="1836"/>
          </a:p>
        </p:txBody>
      </p:sp>
      <p:sp>
        <p:nvSpPr>
          <p:cNvPr id="383" name="Google Shape;383;g3ad49c47d92_0_1"/>
          <p:cNvSpPr txBox="1"/>
          <p:nvPr/>
        </p:nvSpPr>
        <p:spPr>
          <a:xfrm>
            <a:off x="4399801" y="7775770"/>
            <a:ext cx="5685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FACC15"/>
                </a:solidFill>
                <a:latin typeface="Arial"/>
                <a:ea typeface="Arial"/>
                <a:cs typeface="Arial"/>
                <a:sym typeface="Arial"/>
              </a:rPr>
              <a:t>prepare</a:t>
            </a:r>
            <a:endParaRPr sz="1836"/>
          </a:p>
        </p:txBody>
      </p:sp>
      <p:sp>
        <p:nvSpPr>
          <p:cNvPr id="384" name="Google Shape;384;g3ad49c47d92_0_1"/>
          <p:cNvSpPr txBox="1"/>
          <p:nvPr/>
        </p:nvSpPr>
        <p:spPr>
          <a:xfrm>
            <a:off x="3181893" y="8506513"/>
            <a:ext cx="30042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Vincula variables de PHP a los '?'</a:t>
            </a:r>
            <a:endParaRPr sz="1836"/>
          </a:p>
        </p:txBody>
      </p:sp>
      <p:sp>
        <p:nvSpPr>
          <p:cNvPr id="385" name="Google Shape;385;g3ad49c47d92_0_1"/>
          <p:cNvSpPr txBox="1"/>
          <p:nvPr/>
        </p:nvSpPr>
        <p:spPr>
          <a:xfrm>
            <a:off x="3181893" y="8750094"/>
            <a:ext cx="4062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$stmt</a:t>
            </a:r>
            <a:endParaRPr sz="1836"/>
          </a:p>
        </p:txBody>
      </p:sp>
      <p:sp>
        <p:nvSpPr>
          <p:cNvPr id="386" name="Google Shape;386;g3ad49c47d92_0_1"/>
          <p:cNvSpPr txBox="1"/>
          <p:nvPr/>
        </p:nvSpPr>
        <p:spPr>
          <a:xfrm>
            <a:off x="4643383" y="8750094"/>
            <a:ext cx="7305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"sssssss"</a:t>
            </a:r>
            <a:endParaRPr sz="1836"/>
          </a:p>
        </p:txBody>
      </p:sp>
      <p:sp>
        <p:nvSpPr>
          <p:cNvPr id="387" name="Google Shape;387;g3ad49c47d92_0_1"/>
          <p:cNvSpPr txBox="1"/>
          <p:nvPr/>
        </p:nvSpPr>
        <p:spPr>
          <a:xfrm>
            <a:off x="5536516" y="8750094"/>
            <a:ext cx="5685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$nomb</a:t>
            </a:r>
            <a:endParaRPr sz="1836"/>
          </a:p>
        </p:txBody>
      </p:sp>
      <p:sp>
        <p:nvSpPr>
          <p:cNvPr id="388" name="Google Shape;388;g3ad49c47d92_0_1"/>
          <p:cNvSpPr txBox="1"/>
          <p:nvPr/>
        </p:nvSpPr>
        <p:spPr>
          <a:xfrm>
            <a:off x="6267262" y="8750094"/>
            <a:ext cx="3249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$rut</a:t>
            </a:r>
            <a:endParaRPr sz="1836"/>
          </a:p>
        </p:txBody>
      </p:sp>
      <p:sp>
        <p:nvSpPr>
          <p:cNvPr id="389" name="Google Shape;389;g3ad49c47d92_0_1"/>
          <p:cNvSpPr txBox="1"/>
          <p:nvPr/>
        </p:nvSpPr>
        <p:spPr>
          <a:xfrm>
            <a:off x="3181893" y="9237255"/>
            <a:ext cx="406200" cy="0"/>
          </a:xfrm>
          <a:prstGeom prst="rect">
            <a:avLst/>
          </a:prstGeom>
          <a:noFill/>
          <a:ln>
            <a:noFill/>
          </a:ln>
        </p:spPr>
        <p:txBody>
          <a:bodyPr anchorCtr="0" anchor="t" bIns="0" lIns="0" spcFirstLastPara="1" rIns="0" wrap="square" tIns="0">
            <a:no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$stmt</a:t>
            </a:r>
            <a:endParaRPr sz="1836"/>
          </a:p>
        </p:txBody>
      </p:sp>
      <p:sp>
        <p:nvSpPr>
          <p:cNvPr id="390" name="Google Shape;390;g3ad49c47d92_0_1"/>
          <p:cNvSpPr txBox="1"/>
          <p:nvPr/>
        </p:nvSpPr>
        <p:spPr>
          <a:xfrm>
            <a:off x="3750250" y="9237255"/>
            <a:ext cx="568500" cy="0"/>
          </a:xfrm>
          <a:prstGeom prst="rect">
            <a:avLst/>
          </a:prstGeom>
          <a:noFill/>
          <a:ln>
            <a:noFill/>
          </a:ln>
        </p:spPr>
        <p:txBody>
          <a:bodyPr anchorCtr="0" anchor="t" bIns="0" lIns="0" spcFirstLastPara="1" rIns="0" wrap="square" tIns="0">
            <a:noAutofit/>
          </a:bodyPr>
          <a:lstStyle/>
          <a:p>
            <a:pPr indent="0" lvl="0" marL="0" marR="0" rtl="0" algn="l">
              <a:lnSpc>
                <a:spcPct val="149948"/>
              </a:lnSpc>
              <a:spcBef>
                <a:spcPts val="0"/>
              </a:spcBef>
              <a:spcAft>
                <a:spcPts val="0"/>
              </a:spcAft>
              <a:buNone/>
            </a:pPr>
            <a:r>
              <a:rPr b="0" i="0" lang="es-CL" sz="1278" u="none" cap="none" strike="noStrike">
                <a:solidFill>
                  <a:srgbClr val="FACC15"/>
                </a:solidFill>
                <a:latin typeface="Arial"/>
                <a:ea typeface="Arial"/>
                <a:cs typeface="Arial"/>
                <a:sym typeface="Arial"/>
              </a:rPr>
              <a:t>execute</a:t>
            </a:r>
            <a:endParaRPr sz="1836"/>
          </a:p>
        </p:txBody>
      </p:sp>
      <p:pic>
        <p:nvPicPr>
          <p:cNvPr descr="image.png" id="391" name="Google Shape;391;g3ad49c47d92_0_1"/>
          <p:cNvPicPr preferRelativeResize="0"/>
          <p:nvPr/>
        </p:nvPicPr>
        <p:blipFill rotWithShape="1">
          <a:blip r:embed="rId7">
            <a:alphaModFix/>
          </a:blip>
          <a:srcRect b="0" l="0" r="0" t="0"/>
          <a:stretch/>
        </p:blipFill>
        <p:spPr>
          <a:xfrm>
            <a:off x="7851453" y="2142645"/>
            <a:ext cx="324900" cy="420488"/>
          </a:xfrm>
          <a:prstGeom prst="rect">
            <a:avLst/>
          </a:prstGeom>
          <a:noFill/>
          <a:ln>
            <a:noFill/>
          </a:ln>
        </p:spPr>
      </p:pic>
      <p:sp>
        <p:nvSpPr>
          <p:cNvPr id="392" name="Google Shape;392;g3ad49c47d92_0_1"/>
          <p:cNvSpPr txBox="1"/>
          <p:nvPr/>
        </p:nvSpPr>
        <p:spPr>
          <a:xfrm>
            <a:off x="8032582" y="2930513"/>
            <a:ext cx="4038900" cy="1792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573" u="none" cap="none" strike="noStrike">
                <a:solidFill>
                  <a:srgbClr val="CBD5E1"/>
                </a:solidFill>
                <a:latin typeface="Roboto"/>
                <a:ea typeface="Roboto"/>
                <a:cs typeface="Roboto"/>
                <a:sym typeface="Roboto"/>
              </a:rPr>
              <a:t>Maneja la subida de archivos (imágenes, PDF) de forma segura. El código mueve el archivo al servidor y **guarda solo la ruta de texto** en la base de datos, manteniéndola ligera.</a:t>
            </a:r>
            <a:endParaRPr sz="1836"/>
          </a:p>
        </p:txBody>
      </p:sp>
      <p:sp>
        <p:nvSpPr>
          <p:cNvPr id="393" name="Google Shape;393;g3ad49c47d92_0_1"/>
          <p:cNvSpPr txBox="1"/>
          <p:nvPr/>
        </p:nvSpPr>
        <p:spPr>
          <a:xfrm>
            <a:off x="8220015" y="6801447"/>
            <a:ext cx="11367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guardar.php</a:t>
            </a:r>
            <a:endParaRPr sz="1836"/>
          </a:p>
        </p:txBody>
      </p:sp>
      <p:sp>
        <p:nvSpPr>
          <p:cNvPr id="394" name="Google Shape;394;g3ad49c47d92_0_1"/>
          <p:cNvSpPr txBox="1"/>
          <p:nvPr/>
        </p:nvSpPr>
        <p:spPr>
          <a:xfrm>
            <a:off x="8220015" y="7045028"/>
            <a:ext cx="1705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$ruta_imagen_guardada</a:t>
            </a:r>
            <a:endParaRPr sz="1836"/>
          </a:p>
        </p:txBody>
      </p:sp>
      <p:sp>
        <p:nvSpPr>
          <p:cNvPr id="395" name="Google Shape;395;g3ad49c47d92_0_1"/>
          <p:cNvSpPr txBox="1"/>
          <p:nvPr/>
        </p:nvSpPr>
        <p:spPr>
          <a:xfrm>
            <a:off x="10168669" y="7045028"/>
            <a:ext cx="3249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NULL</a:t>
            </a:r>
            <a:endParaRPr sz="1836"/>
          </a:p>
        </p:txBody>
      </p:sp>
      <p:sp>
        <p:nvSpPr>
          <p:cNvPr id="396" name="Google Shape;396;g3ad49c47d92_0_1"/>
          <p:cNvSpPr txBox="1"/>
          <p:nvPr/>
        </p:nvSpPr>
        <p:spPr>
          <a:xfrm>
            <a:off x="8220015" y="7288608"/>
            <a:ext cx="9744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$target_file</a:t>
            </a:r>
            <a:endParaRPr sz="1836"/>
          </a:p>
        </p:txBody>
      </p:sp>
      <p:sp>
        <p:nvSpPr>
          <p:cNvPr id="397" name="Google Shape;397;g3ad49c47d92_0_1"/>
          <p:cNvSpPr txBox="1"/>
          <p:nvPr/>
        </p:nvSpPr>
        <p:spPr>
          <a:xfrm>
            <a:off x="9437923" y="7288608"/>
            <a:ext cx="8931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$target_dir</a:t>
            </a:r>
            <a:endParaRPr sz="1836"/>
          </a:p>
        </p:txBody>
      </p:sp>
      <p:sp>
        <p:nvSpPr>
          <p:cNvPr id="398" name="Google Shape;398;g3ad49c47d92_0_1"/>
          <p:cNvSpPr txBox="1"/>
          <p:nvPr/>
        </p:nvSpPr>
        <p:spPr>
          <a:xfrm>
            <a:off x="8220015" y="7532190"/>
            <a:ext cx="6498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FACC15"/>
                </a:solidFill>
                <a:latin typeface="Arial"/>
                <a:ea typeface="Arial"/>
                <a:cs typeface="Arial"/>
                <a:sym typeface="Arial"/>
              </a:rPr>
              <a:t>basename</a:t>
            </a:r>
            <a:endParaRPr sz="1836"/>
          </a:p>
        </p:txBody>
      </p:sp>
      <p:sp>
        <p:nvSpPr>
          <p:cNvPr id="399" name="Google Shape;399;g3ad49c47d92_0_1"/>
          <p:cNvSpPr txBox="1"/>
          <p:nvPr/>
        </p:nvSpPr>
        <p:spPr>
          <a:xfrm>
            <a:off x="8950759" y="7532190"/>
            <a:ext cx="5685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$_FILES</a:t>
            </a:r>
            <a:endParaRPr sz="1836"/>
          </a:p>
        </p:txBody>
      </p:sp>
      <p:sp>
        <p:nvSpPr>
          <p:cNvPr id="400" name="Google Shape;400;g3ad49c47d92_0_1"/>
          <p:cNvSpPr txBox="1"/>
          <p:nvPr/>
        </p:nvSpPr>
        <p:spPr>
          <a:xfrm>
            <a:off x="9600311" y="7532190"/>
            <a:ext cx="6498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"imagen"</a:t>
            </a:r>
            <a:endParaRPr sz="1836"/>
          </a:p>
        </p:txBody>
      </p:sp>
      <p:sp>
        <p:nvSpPr>
          <p:cNvPr id="401" name="Google Shape;401;g3ad49c47d92_0_1"/>
          <p:cNvSpPr txBox="1"/>
          <p:nvPr/>
        </p:nvSpPr>
        <p:spPr>
          <a:xfrm>
            <a:off x="10412250" y="7532190"/>
            <a:ext cx="487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"name"</a:t>
            </a:r>
            <a:endParaRPr sz="1836"/>
          </a:p>
        </p:txBody>
      </p:sp>
      <p:sp>
        <p:nvSpPr>
          <p:cNvPr id="402" name="Google Shape;402;g3ad49c47d92_0_1"/>
          <p:cNvSpPr txBox="1"/>
          <p:nvPr/>
        </p:nvSpPr>
        <p:spPr>
          <a:xfrm>
            <a:off x="8220015" y="8019352"/>
            <a:ext cx="25170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Mueve el archivo al servidor</a:t>
            </a:r>
            <a:endParaRPr sz="1836"/>
          </a:p>
        </p:txBody>
      </p:sp>
      <p:sp>
        <p:nvSpPr>
          <p:cNvPr id="403" name="Google Shape;403;g3ad49c47d92_0_1"/>
          <p:cNvSpPr txBox="1"/>
          <p:nvPr/>
        </p:nvSpPr>
        <p:spPr>
          <a:xfrm>
            <a:off x="8544790" y="8262932"/>
            <a:ext cx="14616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FACC15"/>
                </a:solidFill>
                <a:latin typeface="Arial"/>
                <a:ea typeface="Arial"/>
                <a:cs typeface="Arial"/>
                <a:sym typeface="Arial"/>
              </a:rPr>
              <a:t>move_uploaded_file</a:t>
            </a:r>
            <a:endParaRPr sz="1836"/>
          </a:p>
        </p:txBody>
      </p:sp>
      <p:sp>
        <p:nvSpPr>
          <p:cNvPr id="404" name="Google Shape;404;g3ad49c47d92_0_1"/>
          <p:cNvSpPr txBox="1"/>
          <p:nvPr/>
        </p:nvSpPr>
        <p:spPr>
          <a:xfrm>
            <a:off x="10087474" y="8262932"/>
            <a:ext cx="5685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$_FILES</a:t>
            </a:r>
            <a:endParaRPr sz="1836"/>
          </a:p>
        </p:txBody>
      </p:sp>
      <p:sp>
        <p:nvSpPr>
          <p:cNvPr id="405" name="Google Shape;405;g3ad49c47d92_0_1"/>
          <p:cNvSpPr txBox="1"/>
          <p:nvPr/>
        </p:nvSpPr>
        <p:spPr>
          <a:xfrm>
            <a:off x="10737026" y="8262932"/>
            <a:ext cx="6498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"imagen"</a:t>
            </a:r>
            <a:endParaRPr sz="1836"/>
          </a:p>
        </p:txBody>
      </p:sp>
      <p:sp>
        <p:nvSpPr>
          <p:cNvPr id="406" name="Google Shape;406;g3ad49c47d92_0_1"/>
          <p:cNvSpPr txBox="1"/>
          <p:nvPr/>
        </p:nvSpPr>
        <p:spPr>
          <a:xfrm>
            <a:off x="8301208" y="8506513"/>
            <a:ext cx="8121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A5B4FC"/>
                </a:solidFill>
                <a:latin typeface="Arial"/>
                <a:ea typeface="Arial"/>
                <a:cs typeface="Arial"/>
                <a:sym typeface="Arial"/>
              </a:rPr>
              <a:t>"tmp_name"</a:t>
            </a:r>
            <a:endParaRPr sz="1836"/>
          </a:p>
        </p:txBody>
      </p:sp>
      <p:sp>
        <p:nvSpPr>
          <p:cNvPr id="407" name="Google Shape;407;g3ad49c47d92_0_1"/>
          <p:cNvSpPr txBox="1"/>
          <p:nvPr/>
        </p:nvSpPr>
        <p:spPr>
          <a:xfrm>
            <a:off x="9356730" y="8506513"/>
            <a:ext cx="9744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$target_file</a:t>
            </a:r>
            <a:endParaRPr sz="1836"/>
          </a:p>
        </p:txBody>
      </p:sp>
      <p:sp>
        <p:nvSpPr>
          <p:cNvPr id="408" name="Google Shape;408;g3ad49c47d92_0_1"/>
          <p:cNvSpPr txBox="1"/>
          <p:nvPr/>
        </p:nvSpPr>
        <p:spPr>
          <a:xfrm>
            <a:off x="8544790" y="8750094"/>
            <a:ext cx="25170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CA3AF"/>
                </a:solidFill>
                <a:latin typeface="Arial"/>
                <a:ea typeface="Arial"/>
                <a:cs typeface="Arial"/>
                <a:sym typeface="Arial"/>
              </a:rPr>
              <a:t>// Guarda solo la RUTA en la BD</a:t>
            </a:r>
            <a:endParaRPr sz="1836"/>
          </a:p>
        </p:txBody>
      </p:sp>
      <p:sp>
        <p:nvSpPr>
          <p:cNvPr id="409" name="Google Shape;409;g3ad49c47d92_0_1"/>
          <p:cNvSpPr txBox="1"/>
          <p:nvPr/>
        </p:nvSpPr>
        <p:spPr>
          <a:xfrm>
            <a:off x="8544790" y="8993675"/>
            <a:ext cx="1705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$ruta_imagen_guardada</a:t>
            </a:r>
            <a:endParaRPr sz="1836"/>
          </a:p>
        </p:txBody>
      </p:sp>
      <p:sp>
        <p:nvSpPr>
          <p:cNvPr id="410" name="Google Shape;410;g3ad49c47d92_0_1"/>
          <p:cNvSpPr txBox="1"/>
          <p:nvPr/>
        </p:nvSpPr>
        <p:spPr>
          <a:xfrm>
            <a:off x="10493445" y="8993675"/>
            <a:ext cx="9744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s-CL" sz="1278" u="none" cap="none" strike="noStrike">
                <a:solidFill>
                  <a:srgbClr val="93C5FD"/>
                </a:solidFill>
                <a:latin typeface="Arial"/>
                <a:ea typeface="Arial"/>
                <a:cs typeface="Arial"/>
                <a:sym typeface="Arial"/>
              </a:rPr>
              <a:t>$target_file</a:t>
            </a:r>
            <a:endParaRPr sz="1836"/>
          </a:p>
        </p:txBody>
      </p:sp>
      <p:pic>
        <p:nvPicPr>
          <p:cNvPr descr="image.png" id="411" name="Google Shape;411;g3ad49c47d92_0_1"/>
          <p:cNvPicPr preferRelativeResize="0"/>
          <p:nvPr/>
        </p:nvPicPr>
        <p:blipFill rotWithShape="1">
          <a:blip r:embed="rId8">
            <a:alphaModFix/>
          </a:blip>
          <a:srcRect b="0" l="0" r="0" t="0"/>
          <a:stretch/>
        </p:blipFill>
        <p:spPr>
          <a:xfrm>
            <a:off x="12890157" y="2078981"/>
            <a:ext cx="380155" cy="492000"/>
          </a:xfrm>
          <a:prstGeom prst="rect">
            <a:avLst/>
          </a:prstGeom>
          <a:noFill/>
          <a:ln>
            <a:noFill/>
          </a:ln>
        </p:spPr>
      </p:pic>
      <p:sp>
        <p:nvSpPr>
          <p:cNvPr id="412" name="Google Shape;412;g3ad49c47d92_0_1"/>
          <p:cNvSpPr txBox="1"/>
          <p:nvPr/>
        </p:nvSpPr>
        <p:spPr>
          <a:xfrm>
            <a:off x="12919697" y="2874736"/>
            <a:ext cx="4355100" cy="1404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s-CL" sz="1573" u="none" cap="none" strike="noStrike">
                <a:solidFill>
                  <a:srgbClr val="CBD5E1"/>
                </a:solidFill>
                <a:latin typeface="Roboto"/>
                <a:ea typeface="Roboto"/>
                <a:cs typeface="Roboto"/>
                <a:sym typeface="Roboto"/>
              </a:rPr>
              <a:t>Se utiliza **Bootstrap 5 y Bootstrap Icons** para unificar el diseño. Esto garantiza una experiencia de usuario (UX) coherente, profesional y **100% responsive**.</a:t>
            </a:r>
            <a:endParaRPr sz="1836"/>
          </a:p>
        </p:txBody>
      </p:sp>
      <p:pic>
        <p:nvPicPr>
          <p:cNvPr id="413" name="Google Shape;413;g3ad49c47d92_0_1"/>
          <p:cNvPicPr preferRelativeResize="0"/>
          <p:nvPr/>
        </p:nvPicPr>
        <p:blipFill>
          <a:blip r:embed="rId9">
            <a:alphaModFix/>
          </a:blip>
          <a:stretch>
            <a:fillRect/>
          </a:stretch>
        </p:blipFill>
        <p:spPr>
          <a:xfrm>
            <a:off x="2994522" y="6565227"/>
            <a:ext cx="4038819" cy="3186696"/>
          </a:xfrm>
          <a:prstGeom prst="rect">
            <a:avLst/>
          </a:prstGeom>
          <a:noFill/>
          <a:ln>
            <a:noFill/>
          </a:ln>
        </p:spPr>
      </p:pic>
      <p:pic>
        <p:nvPicPr>
          <p:cNvPr id="414" name="Google Shape;414;g3ad49c47d92_0_1"/>
          <p:cNvPicPr preferRelativeResize="0"/>
          <p:nvPr/>
        </p:nvPicPr>
        <p:blipFill>
          <a:blip r:embed="rId10">
            <a:alphaModFix/>
          </a:blip>
          <a:stretch>
            <a:fillRect/>
          </a:stretch>
        </p:blipFill>
        <p:spPr>
          <a:xfrm>
            <a:off x="13167107" y="4415271"/>
            <a:ext cx="3860275" cy="5129967"/>
          </a:xfrm>
          <a:prstGeom prst="rect">
            <a:avLst/>
          </a:prstGeom>
          <a:noFill/>
          <a:ln>
            <a:noFill/>
          </a:ln>
        </p:spPr>
      </p:pic>
      <p:pic>
        <p:nvPicPr>
          <p:cNvPr id="415" name="Google Shape;415;g3ad49c47d92_0_1"/>
          <p:cNvPicPr preferRelativeResize="0"/>
          <p:nvPr/>
        </p:nvPicPr>
        <p:blipFill>
          <a:blip r:embed="rId11">
            <a:alphaModFix/>
          </a:blip>
          <a:stretch>
            <a:fillRect/>
          </a:stretch>
        </p:blipFill>
        <p:spPr>
          <a:xfrm>
            <a:off x="8147914" y="6565227"/>
            <a:ext cx="3860274" cy="3186697"/>
          </a:xfrm>
          <a:prstGeom prst="rect">
            <a:avLst/>
          </a:prstGeom>
          <a:noFill/>
          <a:ln>
            <a:noFill/>
          </a:ln>
        </p:spPr>
      </p:pic>
      <p:sp>
        <p:nvSpPr>
          <p:cNvPr id="416" name="Google Shape;416;g3ad49c47d92_0_1"/>
          <p:cNvSpPr txBox="1"/>
          <p:nvPr/>
        </p:nvSpPr>
        <p:spPr>
          <a:xfrm>
            <a:off x="4972363" y="591725"/>
            <a:ext cx="10211400" cy="11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4800">
                <a:latin typeface="Calibri"/>
                <a:ea typeface="Calibri"/>
                <a:cs typeface="Calibri"/>
                <a:sym typeface="Calibri"/>
              </a:rPr>
              <a:t>Funciones Clave de la Aplicación (PHP)</a:t>
            </a:r>
            <a:endParaRPr b="1" sz="4800">
              <a:latin typeface="Calibri"/>
              <a:ea typeface="Calibri"/>
              <a:cs typeface="Calibri"/>
              <a:sym typeface="Calibri"/>
            </a:endParaRPr>
          </a:p>
        </p:txBody>
      </p:sp>
      <p:cxnSp>
        <p:nvCxnSpPr>
          <p:cNvPr id="417" name="Google Shape;417;g3ad49c47d92_0_1"/>
          <p:cNvCxnSpPr/>
          <p:nvPr/>
        </p:nvCxnSpPr>
        <p:spPr>
          <a:xfrm>
            <a:off x="4941450" y="1411925"/>
            <a:ext cx="10035000" cy="354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image.png" id="422" name="Google Shape;422;g3a2ea1eac06_0_57"/>
          <p:cNvPicPr preferRelativeResize="0"/>
          <p:nvPr/>
        </p:nvPicPr>
        <p:blipFill rotWithShape="1">
          <a:blip r:embed="rId3">
            <a:alphaModFix/>
          </a:blip>
          <a:srcRect b="0" l="0" r="0" t="0"/>
          <a:stretch/>
        </p:blipFill>
        <p:spPr>
          <a:xfrm>
            <a:off x="9750550" y="5360150"/>
            <a:ext cx="4770376" cy="4351399"/>
          </a:xfrm>
          <a:prstGeom prst="rect">
            <a:avLst/>
          </a:prstGeom>
          <a:noFill/>
          <a:ln>
            <a:noFill/>
          </a:ln>
        </p:spPr>
      </p:pic>
      <p:pic>
        <p:nvPicPr>
          <p:cNvPr descr="image.png" id="423" name="Google Shape;423;g3a2ea1eac06_0_57"/>
          <p:cNvPicPr preferRelativeResize="0"/>
          <p:nvPr/>
        </p:nvPicPr>
        <p:blipFill rotWithShape="1">
          <a:blip r:embed="rId4">
            <a:alphaModFix/>
          </a:blip>
          <a:srcRect b="0" l="0" r="0" t="0"/>
          <a:stretch/>
        </p:blipFill>
        <p:spPr>
          <a:xfrm>
            <a:off x="14855699" y="5360150"/>
            <a:ext cx="4770376" cy="4351399"/>
          </a:xfrm>
          <a:prstGeom prst="rect">
            <a:avLst/>
          </a:prstGeom>
          <a:noFill/>
          <a:ln>
            <a:noFill/>
          </a:ln>
        </p:spPr>
      </p:pic>
      <p:sp>
        <p:nvSpPr>
          <p:cNvPr id="424" name="Google Shape;424;g3a2ea1eac06_0_57"/>
          <p:cNvSpPr txBox="1"/>
          <p:nvPr/>
        </p:nvSpPr>
        <p:spPr>
          <a:xfrm>
            <a:off x="10302910" y="5611224"/>
            <a:ext cx="4165200" cy="284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1845" u="none" cap="none" strike="noStrike">
                <a:solidFill>
                  <a:srgbClr val="F39C12"/>
                </a:solidFill>
                <a:latin typeface="Roboto Slab"/>
                <a:ea typeface="Roboto Slab"/>
                <a:cs typeface="Roboto Slab"/>
                <a:sym typeface="Roboto Slab"/>
              </a:rPr>
              <a:t>Tabla: `registros`</a:t>
            </a:r>
            <a:endParaRPr sz="1230"/>
          </a:p>
        </p:txBody>
      </p:sp>
      <p:sp>
        <p:nvSpPr>
          <p:cNvPr id="425" name="Google Shape;425;g3a2ea1eac06_0_57"/>
          <p:cNvSpPr/>
          <p:nvPr/>
        </p:nvSpPr>
        <p:spPr>
          <a:xfrm>
            <a:off x="10001623" y="6004574"/>
            <a:ext cx="4268400" cy="17100"/>
          </a:xfrm>
          <a:prstGeom prst="rect">
            <a:avLst/>
          </a:prstGeom>
          <a:solidFill>
            <a:srgbClr val="334155"/>
          </a:solidFill>
          <a:ln>
            <a:noFill/>
          </a:ln>
        </p:spPr>
        <p:txBody>
          <a:bodyPr anchorCtr="0" anchor="ctr" bIns="40150" lIns="80300" spcFirstLastPara="1" rIns="80300" wrap="square" tIns="40150">
            <a:noAutofit/>
          </a:bodyPr>
          <a:lstStyle/>
          <a:p>
            <a:pPr indent="0" lvl="0" marL="0" marR="0" rtl="0" algn="ctr">
              <a:spcBef>
                <a:spcPts val="0"/>
              </a:spcBef>
              <a:spcAft>
                <a:spcPts val="0"/>
              </a:spcAft>
              <a:buNone/>
            </a:pPr>
            <a:r>
              <a:t/>
            </a:r>
            <a:endParaRPr b="0" i="0" sz="1581" u="none" cap="none" strike="noStrike">
              <a:solidFill>
                <a:srgbClr val="000000"/>
              </a:solidFill>
              <a:latin typeface="Calibri"/>
              <a:ea typeface="Calibri"/>
              <a:cs typeface="Calibri"/>
              <a:sym typeface="Calibri"/>
            </a:endParaRPr>
          </a:p>
        </p:txBody>
      </p:sp>
      <p:sp>
        <p:nvSpPr>
          <p:cNvPr id="426" name="Google Shape;426;g3a2ea1eac06_0_57"/>
          <p:cNvSpPr txBox="1"/>
          <p:nvPr/>
        </p:nvSpPr>
        <p:spPr>
          <a:xfrm>
            <a:off x="10001623" y="6146849"/>
            <a:ext cx="4268400" cy="1725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1" lang="es-CL" sz="1120" u="none" cap="none" strike="noStrike">
                <a:solidFill>
                  <a:srgbClr val="CBD5E1"/>
                </a:solidFill>
                <a:latin typeface="Roboto"/>
                <a:ea typeface="Roboto"/>
                <a:cs typeface="Roboto"/>
                <a:sym typeface="Roboto"/>
              </a:rPr>
              <a:t>Almacena todas las noticias enviadas por los usuarios.</a:t>
            </a:r>
            <a:endParaRPr sz="1230"/>
          </a:p>
        </p:txBody>
      </p:sp>
      <p:sp>
        <p:nvSpPr>
          <p:cNvPr id="427" name="Google Shape;427;g3a2ea1eac06_0_57"/>
          <p:cNvSpPr txBox="1"/>
          <p:nvPr/>
        </p:nvSpPr>
        <p:spPr>
          <a:xfrm>
            <a:off x="15207202" y="5611224"/>
            <a:ext cx="4376100" cy="284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1845" u="none" cap="none" strike="noStrike">
                <a:solidFill>
                  <a:srgbClr val="F39C12"/>
                </a:solidFill>
                <a:latin typeface="Roboto Slab"/>
                <a:ea typeface="Roboto Slab"/>
                <a:cs typeface="Roboto Slab"/>
                <a:sym typeface="Roboto Slab"/>
              </a:rPr>
              <a:t>Tabla: `publicidad_solicitudes`</a:t>
            </a:r>
            <a:endParaRPr sz="1230"/>
          </a:p>
        </p:txBody>
      </p:sp>
      <p:sp>
        <p:nvSpPr>
          <p:cNvPr id="428" name="Google Shape;428;g3a2ea1eac06_0_57"/>
          <p:cNvSpPr/>
          <p:nvPr/>
        </p:nvSpPr>
        <p:spPr>
          <a:xfrm>
            <a:off x="15106772" y="6004574"/>
            <a:ext cx="4268400" cy="17100"/>
          </a:xfrm>
          <a:prstGeom prst="rect">
            <a:avLst/>
          </a:prstGeom>
          <a:solidFill>
            <a:srgbClr val="334155"/>
          </a:solidFill>
          <a:ln>
            <a:noFill/>
          </a:ln>
        </p:spPr>
        <p:txBody>
          <a:bodyPr anchorCtr="0" anchor="ctr" bIns="40150" lIns="80300" spcFirstLastPara="1" rIns="80300" wrap="square" tIns="40150">
            <a:noAutofit/>
          </a:bodyPr>
          <a:lstStyle/>
          <a:p>
            <a:pPr indent="0" lvl="0" marL="0" marR="0" rtl="0" algn="ctr">
              <a:spcBef>
                <a:spcPts val="0"/>
              </a:spcBef>
              <a:spcAft>
                <a:spcPts val="0"/>
              </a:spcAft>
              <a:buNone/>
            </a:pPr>
            <a:r>
              <a:t/>
            </a:r>
            <a:endParaRPr b="0" i="0" sz="1581" u="none" cap="none" strike="noStrike">
              <a:solidFill>
                <a:srgbClr val="000000"/>
              </a:solidFill>
              <a:latin typeface="Calibri"/>
              <a:ea typeface="Calibri"/>
              <a:cs typeface="Calibri"/>
              <a:sym typeface="Calibri"/>
            </a:endParaRPr>
          </a:p>
        </p:txBody>
      </p:sp>
      <p:sp>
        <p:nvSpPr>
          <p:cNvPr id="429" name="Google Shape;429;g3a2ea1eac06_0_57"/>
          <p:cNvSpPr txBox="1"/>
          <p:nvPr/>
        </p:nvSpPr>
        <p:spPr>
          <a:xfrm>
            <a:off x="15106772" y="6146849"/>
            <a:ext cx="4268400" cy="1725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1" lang="es-CL" sz="1120" u="none" cap="none" strike="noStrike">
                <a:solidFill>
                  <a:srgbClr val="CBD5E1"/>
                </a:solidFill>
                <a:latin typeface="Roboto"/>
                <a:ea typeface="Roboto"/>
                <a:cs typeface="Roboto"/>
                <a:sym typeface="Roboto"/>
              </a:rPr>
              <a:t>Gestiona las solicitudes de clientes para publicitar en el sitio.</a:t>
            </a:r>
            <a:endParaRPr sz="1230"/>
          </a:p>
        </p:txBody>
      </p:sp>
      <p:sp>
        <p:nvSpPr>
          <p:cNvPr id="430" name="Google Shape;430;g3a2ea1eac06_0_57"/>
          <p:cNvSpPr txBox="1"/>
          <p:nvPr/>
        </p:nvSpPr>
        <p:spPr>
          <a:xfrm>
            <a:off x="10252696" y="6541767"/>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id (PK) INT</a:t>
            </a:r>
            <a:endParaRPr sz="1230"/>
          </a:p>
        </p:txBody>
      </p:sp>
      <p:sp>
        <p:nvSpPr>
          <p:cNvPr id="431" name="Google Shape;431;g3a2ea1eac06_0_57"/>
          <p:cNvSpPr txBox="1"/>
          <p:nvPr/>
        </p:nvSpPr>
        <p:spPr>
          <a:xfrm>
            <a:off x="10252696" y="6906610"/>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nombre VARCHAR</a:t>
            </a:r>
            <a:endParaRPr sz="1230"/>
          </a:p>
        </p:txBody>
      </p:sp>
      <p:sp>
        <p:nvSpPr>
          <p:cNvPr id="432" name="Google Shape;432;g3a2ea1eac06_0_57"/>
          <p:cNvSpPr txBox="1"/>
          <p:nvPr/>
        </p:nvSpPr>
        <p:spPr>
          <a:xfrm>
            <a:off x="10252696" y="7271451"/>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rut VARCHAR</a:t>
            </a:r>
            <a:endParaRPr sz="1230"/>
          </a:p>
        </p:txBody>
      </p:sp>
      <p:sp>
        <p:nvSpPr>
          <p:cNvPr id="433" name="Google Shape;433;g3a2ea1eac06_0_57"/>
          <p:cNvSpPr txBox="1"/>
          <p:nvPr/>
        </p:nvSpPr>
        <p:spPr>
          <a:xfrm>
            <a:off x="10252696" y="7636294"/>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correo VARCHAR (NULL)</a:t>
            </a:r>
            <a:endParaRPr sz="1230"/>
          </a:p>
        </p:txBody>
      </p:sp>
      <p:sp>
        <p:nvSpPr>
          <p:cNvPr id="434" name="Google Shape;434;g3a2ea1eac06_0_57"/>
          <p:cNvSpPr txBox="1"/>
          <p:nvPr/>
        </p:nvSpPr>
        <p:spPr>
          <a:xfrm>
            <a:off x="10252696" y="8001136"/>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noticia TEXT</a:t>
            </a:r>
            <a:endParaRPr sz="1230"/>
          </a:p>
        </p:txBody>
      </p:sp>
      <p:sp>
        <p:nvSpPr>
          <p:cNvPr id="435" name="Google Shape;435;g3a2ea1eac06_0_57"/>
          <p:cNvSpPr txBox="1"/>
          <p:nvPr/>
        </p:nvSpPr>
        <p:spPr>
          <a:xfrm>
            <a:off x="10252696" y="8365978"/>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ruta_imagen VARCHAR (NULL)</a:t>
            </a:r>
            <a:endParaRPr sz="1230"/>
          </a:p>
        </p:txBody>
      </p:sp>
      <p:sp>
        <p:nvSpPr>
          <p:cNvPr id="436" name="Google Shape;436;g3a2ea1eac06_0_57"/>
          <p:cNvSpPr txBox="1"/>
          <p:nvPr/>
        </p:nvSpPr>
        <p:spPr>
          <a:xfrm>
            <a:off x="10252696" y="8730820"/>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ruta_evidencia VARCHAR (NULL)</a:t>
            </a:r>
            <a:endParaRPr sz="1230"/>
          </a:p>
        </p:txBody>
      </p:sp>
      <p:sp>
        <p:nvSpPr>
          <p:cNvPr id="437" name="Google Shape;437;g3a2ea1eac06_0_57"/>
          <p:cNvSpPr txBox="1"/>
          <p:nvPr/>
        </p:nvSpPr>
        <p:spPr>
          <a:xfrm>
            <a:off x="10252696" y="9095662"/>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fecha_registro TIMESTAMP</a:t>
            </a:r>
            <a:endParaRPr sz="1230"/>
          </a:p>
        </p:txBody>
      </p:sp>
      <p:sp>
        <p:nvSpPr>
          <p:cNvPr id="438" name="Google Shape;438;g3a2ea1eac06_0_57"/>
          <p:cNvSpPr txBox="1"/>
          <p:nvPr/>
        </p:nvSpPr>
        <p:spPr>
          <a:xfrm>
            <a:off x="15357845" y="6541767"/>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id (PK) INT</a:t>
            </a:r>
            <a:endParaRPr sz="1230"/>
          </a:p>
        </p:txBody>
      </p:sp>
      <p:sp>
        <p:nvSpPr>
          <p:cNvPr id="439" name="Google Shape;439;g3a2ea1eac06_0_57"/>
          <p:cNvSpPr txBox="1"/>
          <p:nvPr/>
        </p:nvSpPr>
        <p:spPr>
          <a:xfrm>
            <a:off x="15357845" y="6906610"/>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nombre_marca VARCHAR</a:t>
            </a:r>
            <a:endParaRPr sz="1230"/>
          </a:p>
        </p:txBody>
      </p:sp>
      <p:sp>
        <p:nvSpPr>
          <p:cNvPr id="440" name="Google Shape;440;g3a2ea1eac06_0_57"/>
          <p:cNvSpPr txBox="1"/>
          <p:nvPr/>
        </p:nvSpPr>
        <p:spPr>
          <a:xfrm>
            <a:off x="15357845" y="7271451"/>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contacto_telefono VARCHAR</a:t>
            </a:r>
            <a:endParaRPr sz="1230"/>
          </a:p>
        </p:txBody>
      </p:sp>
      <p:sp>
        <p:nvSpPr>
          <p:cNvPr id="441" name="Google Shape;441;g3a2ea1eac06_0_57"/>
          <p:cNvSpPr txBox="1"/>
          <p:nvPr/>
        </p:nvSpPr>
        <p:spPr>
          <a:xfrm>
            <a:off x="15357845" y="7636294"/>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contacto_email VARCHAR</a:t>
            </a:r>
            <a:endParaRPr sz="1230"/>
          </a:p>
        </p:txBody>
      </p:sp>
      <p:sp>
        <p:nvSpPr>
          <p:cNvPr id="442" name="Google Shape;442;g3a2ea1eac06_0_57"/>
          <p:cNvSpPr txBox="1"/>
          <p:nvPr/>
        </p:nvSpPr>
        <p:spPr>
          <a:xfrm>
            <a:off x="15357845" y="8001136"/>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duracion VARCHAR</a:t>
            </a:r>
            <a:endParaRPr sz="1230"/>
          </a:p>
        </p:txBody>
      </p:sp>
      <p:sp>
        <p:nvSpPr>
          <p:cNvPr id="443" name="Google Shape;443;g3a2ea1eac06_0_57"/>
          <p:cNvSpPr txBox="1"/>
          <p:nvPr/>
        </p:nvSpPr>
        <p:spPr>
          <a:xfrm>
            <a:off x="15357845" y="8365978"/>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mensaje_publicitario TEXT (NULL)</a:t>
            </a:r>
            <a:endParaRPr sz="1230"/>
          </a:p>
        </p:txBody>
      </p:sp>
      <p:sp>
        <p:nvSpPr>
          <p:cNvPr id="444" name="Google Shape;444;g3a2ea1eac06_0_57"/>
          <p:cNvSpPr txBox="1"/>
          <p:nvPr/>
        </p:nvSpPr>
        <p:spPr>
          <a:xfrm>
            <a:off x="15357845" y="8730820"/>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ruta_foto VARCHAR (NULL)</a:t>
            </a:r>
            <a:endParaRPr sz="1230"/>
          </a:p>
        </p:txBody>
      </p:sp>
      <p:sp>
        <p:nvSpPr>
          <p:cNvPr id="445" name="Google Shape;445;g3a2ea1eac06_0_57"/>
          <p:cNvSpPr txBox="1"/>
          <p:nvPr/>
        </p:nvSpPr>
        <p:spPr>
          <a:xfrm>
            <a:off x="15357845" y="9095662"/>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None/>
            </a:pPr>
            <a:r>
              <a:rPr b="0" i="0" lang="es-CL" sz="1054" u="none" cap="none" strike="noStrike">
                <a:solidFill>
                  <a:srgbClr val="CBD5E1"/>
                </a:solidFill>
                <a:latin typeface="Roboto"/>
                <a:ea typeface="Roboto"/>
                <a:cs typeface="Roboto"/>
                <a:sym typeface="Roboto"/>
              </a:rPr>
              <a:t>fecha_solicitud TIMESTAMP</a:t>
            </a:r>
            <a:endParaRPr sz="1230"/>
          </a:p>
        </p:txBody>
      </p:sp>
      <p:pic>
        <p:nvPicPr>
          <p:cNvPr descr="image.png" id="446" name="Google Shape;446;g3a2ea1eac06_0_57"/>
          <p:cNvPicPr preferRelativeResize="0"/>
          <p:nvPr/>
        </p:nvPicPr>
        <p:blipFill rotWithShape="1">
          <a:blip r:embed="rId5">
            <a:alphaModFix/>
          </a:blip>
          <a:srcRect b="0" l="0" r="0" t="0"/>
          <a:stretch/>
        </p:blipFill>
        <p:spPr>
          <a:xfrm>
            <a:off x="15106772" y="6607021"/>
            <a:ext cx="167382" cy="133906"/>
          </a:xfrm>
          <a:prstGeom prst="rect">
            <a:avLst/>
          </a:prstGeom>
          <a:noFill/>
          <a:ln>
            <a:noFill/>
          </a:ln>
        </p:spPr>
      </p:pic>
      <p:pic>
        <p:nvPicPr>
          <p:cNvPr descr="image.png" id="447" name="Google Shape;447;g3a2ea1eac06_0_57"/>
          <p:cNvPicPr preferRelativeResize="0"/>
          <p:nvPr/>
        </p:nvPicPr>
        <p:blipFill rotWithShape="1">
          <a:blip r:embed="rId6">
            <a:alphaModFix/>
          </a:blip>
          <a:srcRect b="0" l="0" r="0" t="0"/>
          <a:stretch/>
        </p:blipFill>
        <p:spPr>
          <a:xfrm>
            <a:off x="15106772" y="6971863"/>
            <a:ext cx="167382" cy="133906"/>
          </a:xfrm>
          <a:prstGeom prst="rect">
            <a:avLst/>
          </a:prstGeom>
          <a:noFill/>
          <a:ln>
            <a:noFill/>
          </a:ln>
        </p:spPr>
      </p:pic>
      <p:pic>
        <p:nvPicPr>
          <p:cNvPr descr="image.png" id="448" name="Google Shape;448;g3a2ea1eac06_0_57"/>
          <p:cNvPicPr preferRelativeResize="0"/>
          <p:nvPr/>
        </p:nvPicPr>
        <p:blipFill rotWithShape="1">
          <a:blip r:embed="rId7">
            <a:alphaModFix/>
          </a:blip>
          <a:srcRect b="0" l="0" r="0" t="0"/>
          <a:stretch/>
        </p:blipFill>
        <p:spPr>
          <a:xfrm>
            <a:off x="15106772" y="7336705"/>
            <a:ext cx="167382" cy="133906"/>
          </a:xfrm>
          <a:prstGeom prst="rect">
            <a:avLst/>
          </a:prstGeom>
          <a:noFill/>
          <a:ln>
            <a:noFill/>
          </a:ln>
        </p:spPr>
      </p:pic>
      <p:pic>
        <p:nvPicPr>
          <p:cNvPr descr="image.png" id="449" name="Google Shape;449;g3a2ea1eac06_0_57"/>
          <p:cNvPicPr preferRelativeResize="0"/>
          <p:nvPr/>
        </p:nvPicPr>
        <p:blipFill rotWithShape="1">
          <a:blip r:embed="rId8">
            <a:alphaModFix/>
          </a:blip>
          <a:srcRect b="0" l="0" r="0" t="0"/>
          <a:stretch/>
        </p:blipFill>
        <p:spPr>
          <a:xfrm>
            <a:off x="15106772" y="7701547"/>
            <a:ext cx="167382" cy="133906"/>
          </a:xfrm>
          <a:prstGeom prst="rect">
            <a:avLst/>
          </a:prstGeom>
          <a:noFill/>
          <a:ln>
            <a:noFill/>
          </a:ln>
        </p:spPr>
      </p:pic>
      <p:pic>
        <p:nvPicPr>
          <p:cNvPr descr="image.png" id="450" name="Google Shape;450;g3a2ea1eac06_0_57"/>
          <p:cNvPicPr preferRelativeResize="0"/>
          <p:nvPr/>
        </p:nvPicPr>
        <p:blipFill rotWithShape="1">
          <a:blip r:embed="rId9">
            <a:alphaModFix/>
          </a:blip>
          <a:srcRect b="0" l="0" r="0" t="0"/>
          <a:stretch/>
        </p:blipFill>
        <p:spPr>
          <a:xfrm>
            <a:off x="15106772" y="8066389"/>
            <a:ext cx="167382" cy="133906"/>
          </a:xfrm>
          <a:prstGeom prst="rect">
            <a:avLst/>
          </a:prstGeom>
          <a:noFill/>
          <a:ln>
            <a:noFill/>
          </a:ln>
        </p:spPr>
      </p:pic>
      <p:pic>
        <p:nvPicPr>
          <p:cNvPr descr="image.png" id="451" name="Google Shape;451;g3a2ea1eac06_0_57"/>
          <p:cNvPicPr preferRelativeResize="0"/>
          <p:nvPr/>
        </p:nvPicPr>
        <p:blipFill rotWithShape="1">
          <a:blip r:embed="rId10">
            <a:alphaModFix/>
          </a:blip>
          <a:srcRect b="0" l="0" r="0" t="0"/>
          <a:stretch/>
        </p:blipFill>
        <p:spPr>
          <a:xfrm>
            <a:off x="15106772" y="8431231"/>
            <a:ext cx="167382" cy="133906"/>
          </a:xfrm>
          <a:prstGeom prst="rect">
            <a:avLst/>
          </a:prstGeom>
          <a:noFill/>
          <a:ln>
            <a:noFill/>
          </a:ln>
        </p:spPr>
      </p:pic>
      <p:pic>
        <p:nvPicPr>
          <p:cNvPr descr="image.png" id="452" name="Google Shape;452;g3a2ea1eac06_0_57"/>
          <p:cNvPicPr preferRelativeResize="0"/>
          <p:nvPr/>
        </p:nvPicPr>
        <p:blipFill rotWithShape="1">
          <a:blip r:embed="rId11">
            <a:alphaModFix/>
          </a:blip>
          <a:srcRect b="0" l="0" r="0" t="0"/>
          <a:stretch/>
        </p:blipFill>
        <p:spPr>
          <a:xfrm>
            <a:off x="15106772" y="8796073"/>
            <a:ext cx="167382" cy="133906"/>
          </a:xfrm>
          <a:prstGeom prst="rect">
            <a:avLst/>
          </a:prstGeom>
          <a:noFill/>
          <a:ln>
            <a:noFill/>
          </a:ln>
        </p:spPr>
      </p:pic>
      <p:pic>
        <p:nvPicPr>
          <p:cNvPr descr="image.png" id="453" name="Google Shape;453;g3a2ea1eac06_0_57"/>
          <p:cNvPicPr preferRelativeResize="0"/>
          <p:nvPr/>
        </p:nvPicPr>
        <p:blipFill rotWithShape="1">
          <a:blip r:embed="rId12">
            <a:alphaModFix/>
          </a:blip>
          <a:srcRect b="0" l="0" r="0" t="0"/>
          <a:stretch/>
        </p:blipFill>
        <p:spPr>
          <a:xfrm>
            <a:off x="15106772" y="9160915"/>
            <a:ext cx="167382" cy="133906"/>
          </a:xfrm>
          <a:prstGeom prst="rect">
            <a:avLst/>
          </a:prstGeom>
          <a:noFill/>
          <a:ln>
            <a:noFill/>
          </a:ln>
        </p:spPr>
      </p:pic>
      <p:sp>
        <p:nvSpPr>
          <p:cNvPr id="454" name="Google Shape;454;g3a2ea1eac06_0_57"/>
          <p:cNvSpPr txBox="1"/>
          <p:nvPr/>
        </p:nvSpPr>
        <p:spPr>
          <a:xfrm>
            <a:off x="0" y="2402788"/>
            <a:ext cx="133518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2300">
                <a:solidFill>
                  <a:schemeClr val="dk1"/>
                </a:solidFill>
              </a:rPr>
              <a:t>Se diseñó una base de datos MySQL centrada en la </a:t>
            </a:r>
            <a:r>
              <a:rPr b="1" lang="es-CL" sz="2300">
                <a:solidFill>
                  <a:schemeClr val="dk1"/>
                </a:solidFill>
              </a:rPr>
              <a:t>separación lógica</a:t>
            </a:r>
            <a:r>
              <a:rPr lang="es-CL" sz="2300">
                <a:solidFill>
                  <a:schemeClr val="dk1"/>
                </a:solidFill>
              </a:rPr>
              <a:t>, creando tablas independientes para </a:t>
            </a:r>
            <a:r>
              <a:rPr lang="es-CL" sz="2300">
                <a:solidFill>
                  <a:srgbClr val="188038"/>
                </a:solidFill>
              </a:rPr>
              <a:t>Noticias</a:t>
            </a:r>
            <a:r>
              <a:rPr lang="es-CL" sz="2300">
                <a:solidFill>
                  <a:schemeClr val="dk1"/>
                </a:solidFill>
              </a:rPr>
              <a:t> (</a:t>
            </a:r>
            <a:r>
              <a:rPr lang="es-CL" sz="2300">
                <a:solidFill>
                  <a:srgbClr val="188038"/>
                </a:solidFill>
              </a:rPr>
              <a:t>registros</a:t>
            </a:r>
            <a:r>
              <a:rPr lang="es-CL" sz="2300">
                <a:solidFill>
                  <a:schemeClr val="dk1"/>
                </a:solidFill>
              </a:rPr>
              <a:t>) y </a:t>
            </a:r>
            <a:r>
              <a:rPr lang="es-CL" sz="2300">
                <a:solidFill>
                  <a:srgbClr val="188038"/>
                </a:solidFill>
              </a:rPr>
              <a:t>Solicitudes de Publicidad</a:t>
            </a:r>
            <a:endParaRPr sz="2300"/>
          </a:p>
        </p:txBody>
      </p:sp>
      <p:sp>
        <p:nvSpPr>
          <p:cNvPr id="455" name="Google Shape;455;g3a2ea1eac06_0_57"/>
          <p:cNvSpPr txBox="1"/>
          <p:nvPr/>
        </p:nvSpPr>
        <p:spPr>
          <a:xfrm>
            <a:off x="0" y="3401913"/>
            <a:ext cx="129927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2300">
                <a:solidFill>
                  <a:schemeClr val="dk1"/>
                </a:solidFill>
              </a:rPr>
              <a:t>Este enfoque es clave: </a:t>
            </a:r>
            <a:r>
              <a:rPr b="1" lang="es-CL" sz="2300">
                <a:solidFill>
                  <a:schemeClr val="dk1"/>
                </a:solidFill>
              </a:rPr>
              <a:t>simplifica la gestión</a:t>
            </a:r>
            <a:r>
              <a:rPr lang="es-CL" sz="2300">
                <a:solidFill>
                  <a:schemeClr val="dk1"/>
                </a:solidFill>
              </a:rPr>
              <a:t> de cada módulo y asegura que la aplicación pueda </a:t>
            </a:r>
            <a:r>
              <a:rPr b="1" lang="es-CL" sz="2300">
                <a:solidFill>
                  <a:schemeClr val="dk1"/>
                </a:solidFill>
              </a:rPr>
              <a:t>escalar a futuro</a:t>
            </a:r>
            <a:r>
              <a:rPr lang="es-CL" sz="2300">
                <a:solidFill>
                  <a:schemeClr val="dk1"/>
                </a:solidFill>
              </a:rPr>
              <a:t> sin complicaciones.</a:t>
            </a:r>
            <a:endParaRPr sz="2300"/>
          </a:p>
        </p:txBody>
      </p:sp>
      <p:pic>
        <p:nvPicPr>
          <p:cNvPr descr="image.png" id="456" name="Google Shape;456;g3a2ea1eac06_0_57"/>
          <p:cNvPicPr preferRelativeResize="0"/>
          <p:nvPr/>
        </p:nvPicPr>
        <p:blipFill rotWithShape="1">
          <a:blip r:embed="rId13">
            <a:alphaModFix/>
          </a:blip>
          <a:srcRect b="0" l="0" r="0" t="0"/>
          <a:stretch/>
        </p:blipFill>
        <p:spPr>
          <a:xfrm>
            <a:off x="263725" y="4827363"/>
            <a:ext cx="8991600" cy="762000"/>
          </a:xfrm>
          <a:prstGeom prst="rect">
            <a:avLst/>
          </a:prstGeom>
          <a:noFill/>
          <a:ln>
            <a:noFill/>
          </a:ln>
        </p:spPr>
      </p:pic>
      <p:pic>
        <p:nvPicPr>
          <p:cNvPr descr="image.png" id="457" name="Google Shape;457;g3a2ea1eac06_0_57"/>
          <p:cNvPicPr preferRelativeResize="0"/>
          <p:nvPr/>
        </p:nvPicPr>
        <p:blipFill rotWithShape="1">
          <a:blip r:embed="rId14">
            <a:alphaModFix/>
          </a:blip>
          <a:srcRect b="0" l="0" r="0" t="0"/>
          <a:stretch/>
        </p:blipFill>
        <p:spPr>
          <a:xfrm>
            <a:off x="263725" y="6303738"/>
            <a:ext cx="8991600" cy="1887735"/>
          </a:xfrm>
          <a:prstGeom prst="rect">
            <a:avLst/>
          </a:prstGeom>
          <a:noFill/>
          <a:ln>
            <a:noFill/>
          </a:ln>
        </p:spPr>
      </p:pic>
      <p:pic>
        <p:nvPicPr>
          <p:cNvPr descr="image.png" id="458" name="Google Shape;458;g3a2ea1eac06_0_57"/>
          <p:cNvPicPr preferRelativeResize="0"/>
          <p:nvPr/>
        </p:nvPicPr>
        <p:blipFill rotWithShape="1">
          <a:blip r:embed="rId15">
            <a:alphaModFix/>
          </a:blip>
          <a:srcRect b="0" l="0" r="0" t="0"/>
          <a:stretch/>
        </p:blipFill>
        <p:spPr>
          <a:xfrm>
            <a:off x="263725" y="8905848"/>
            <a:ext cx="8991600" cy="1887735"/>
          </a:xfrm>
          <a:prstGeom prst="rect">
            <a:avLst/>
          </a:prstGeom>
          <a:noFill/>
          <a:ln>
            <a:noFill/>
          </a:ln>
        </p:spPr>
      </p:pic>
      <p:pic>
        <p:nvPicPr>
          <p:cNvPr descr="image.png" id="459" name="Google Shape;459;g3a2ea1eac06_0_57"/>
          <p:cNvPicPr preferRelativeResize="0"/>
          <p:nvPr/>
        </p:nvPicPr>
        <p:blipFill rotWithShape="1">
          <a:blip r:embed="rId16">
            <a:alphaModFix/>
          </a:blip>
          <a:srcRect b="0" l="0" r="0" t="0"/>
          <a:stretch/>
        </p:blipFill>
        <p:spPr>
          <a:xfrm>
            <a:off x="473275" y="6856188"/>
            <a:ext cx="4191000" cy="1125735"/>
          </a:xfrm>
          <a:prstGeom prst="rect">
            <a:avLst/>
          </a:prstGeom>
          <a:noFill/>
          <a:ln>
            <a:noFill/>
          </a:ln>
        </p:spPr>
      </p:pic>
      <p:pic>
        <p:nvPicPr>
          <p:cNvPr descr="image.png" id="460" name="Google Shape;460;g3a2ea1eac06_0_57"/>
          <p:cNvPicPr preferRelativeResize="0"/>
          <p:nvPr/>
        </p:nvPicPr>
        <p:blipFill rotWithShape="1">
          <a:blip r:embed="rId16">
            <a:alphaModFix/>
          </a:blip>
          <a:srcRect b="0" l="0" r="0" t="0"/>
          <a:stretch/>
        </p:blipFill>
        <p:spPr>
          <a:xfrm>
            <a:off x="4854775" y="6856188"/>
            <a:ext cx="4191000" cy="1125735"/>
          </a:xfrm>
          <a:prstGeom prst="rect">
            <a:avLst/>
          </a:prstGeom>
          <a:noFill/>
          <a:ln>
            <a:noFill/>
          </a:ln>
        </p:spPr>
      </p:pic>
      <p:pic>
        <p:nvPicPr>
          <p:cNvPr descr="image.png" id="461" name="Google Shape;461;g3a2ea1eac06_0_57"/>
          <p:cNvPicPr preferRelativeResize="0"/>
          <p:nvPr/>
        </p:nvPicPr>
        <p:blipFill rotWithShape="1">
          <a:blip r:embed="rId17">
            <a:alphaModFix/>
          </a:blip>
          <a:srcRect b="0" l="0" r="0" t="0"/>
          <a:stretch/>
        </p:blipFill>
        <p:spPr>
          <a:xfrm>
            <a:off x="473275" y="9458298"/>
            <a:ext cx="4191000" cy="1125735"/>
          </a:xfrm>
          <a:prstGeom prst="rect">
            <a:avLst/>
          </a:prstGeom>
          <a:noFill/>
          <a:ln>
            <a:noFill/>
          </a:ln>
        </p:spPr>
      </p:pic>
      <p:pic>
        <p:nvPicPr>
          <p:cNvPr descr="image.png" id="462" name="Google Shape;462;g3a2ea1eac06_0_57"/>
          <p:cNvPicPr preferRelativeResize="0"/>
          <p:nvPr/>
        </p:nvPicPr>
        <p:blipFill rotWithShape="1">
          <a:blip r:embed="rId16">
            <a:alphaModFix/>
          </a:blip>
          <a:srcRect b="0" l="0" r="0" t="0"/>
          <a:stretch/>
        </p:blipFill>
        <p:spPr>
          <a:xfrm>
            <a:off x="4854775" y="9458298"/>
            <a:ext cx="4191000" cy="1125735"/>
          </a:xfrm>
          <a:prstGeom prst="rect">
            <a:avLst/>
          </a:prstGeom>
          <a:noFill/>
          <a:ln>
            <a:noFill/>
          </a:ln>
        </p:spPr>
      </p:pic>
      <p:sp>
        <p:nvSpPr>
          <p:cNvPr id="463" name="Google Shape;463;g3a2ea1eac06_0_57"/>
          <p:cNvSpPr txBox="1"/>
          <p:nvPr/>
        </p:nvSpPr>
        <p:spPr>
          <a:xfrm>
            <a:off x="258962" y="5036913"/>
            <a:ext cx="9001200" cy="231000"/>
          </a:xfrm>
          <a:prstGeom prst="rect">
            <a:avLst/>
          </a:prstGeom>
          <a:noFill/>
          <a:ln>
            <a:noFill/>
          </a:ln>
        </p:spPr>
        <p:txBody>
          <a:bodyPr anchorCtr="0" anchor="t" bIns="0" lIns="190500" spcFirstLastPara="1" rIns="0" wrap="square" tIns="0">
            <a:spAutoFit/>
          </a:bodyPr>
          <a:lstStyle/>
          <a:p>
            <a:pPr indent="0" lvl="0" marL="0" marR="0" rtl="0" algn="ctr">
              <a:spcBef>
                <a:spcPts val="0"/>
              </a:spcBef>
              <a:spcAft>
                <a:spcPts val="0"/>
              </a:spcAft>
              <a:buNone/>
            </a:pPr>
            <a:r>
              <a:rPr b="1" i="0" lang="es-CL" sz="1500" u="none" cap="none" strike="noStrike">
                <a:solidFill>
                  <a:srgbClr val="1D4A79"/>
                </a:solidFill>
                <a:latin typeface="Roboto Slab"/>
                <a:ea typeface="Roboto Slab"/>
                <a:cs typeface="Roboto Slab"/>
                <a:sym typeface="Roboto Slab"/>
              </a:rPr>
              <a:t>CAPA DE HOSTING (cPanel)</a:t>
            </a:r>
            <a:endParaRPr/>
          </a:p>
        </p:txBody>
      </p:sp>
      <p:pic>
        <p:nvPicPr>
          <p:cNvPr descr="image.png" id="464" name="Google Shape;464;g3a2ea1eac06_0_57"/>
          <p:cNvPicPr preferRelativeResize="0"/>
          <p:nvPr/>
        </p:nvPicPr>
        <p:blipFill rotWithShape="1">
          <a:blip r:embed="rId18">
            <a:alphaModFix/>
          </a:blip>
          <a:srcRect b="0" l="0" r="0" t="0"/>
          <a:stretch/>
        </p:blipFill>
        <p:spPr>
          <a:xfrm>
            <a:off x="4649987" y="5894163"/>
            <a:ext cx="219075" cy="285750"/>
          </a:xfrm>
          <a:prstGeom prst="rect">
            <a:avLst/>
          </a:prstGeom>
          <a:noFill/>
          <a:ln>
            <a:noFill/>
          </a:ln>
        </p:spPr>
      </p:pic>
      <p:sp>
        <p:nvSpPr>
          <p:cNvPr id="465" name="Google Shape;465;g3a2ea1eac06_0_57"/>
          <p:cNvSpPr txBox="1"/>
          <p:nvPr/>
        </p:nvSpPr>
        <p:spPr>
          <a:xfrm>
            <a:off x="258962" y="6513288"/>
            <a:ext cx="9001200" cy="231000"/>
          </a:xfrm>
          <a:prstGeom prst="rect">
            <a:avLst/>
          </a:prstGeom>
          <a:noFill/>
          <a:ln>
            <a:noFill/>
          </a:ln>
        </p:spPr>
        <p:txBody>
          <a:bodyPr anchorCtr="0" anchor="t" bIns="0" lIns="171450" spcFirstLastPara="1" rIns="0" wrap="square" tIns="0">
            <a:spAutoFit/>
          </a:bodyPr>
          <a:lstStyle/>
          <a:p>
            <a:pPr indent="0" lvl="0" marL="0" marR="0" rtl="0" algn="ctr">
              <a:spcBef>
                <a:spcPts val="0"/>
              </a:spcBef>
              <a:spcAft>
                <a:spcPts val="0"/>
              </a:spcAft>
              <a:buNone/>
            </a:pPr>
            <a:r>
              <a:rPr b="1" i="0" lang="es-CL" sz="1500" u="none" cap="none" strike="noStrike">
                <a:solidFill>
                  <a:srgbClr val="1D4A79"/>
                </a:solidFill>
                <a:latin typeface="Roboto Slab"/>
                <a:ea typeface="Roboto Slab"/>
                <a:cs typeface="Roboto Slab"/>
                <a:sym typeface="Roboto Slab"/>
              </a:rPr>
              <a:t>CAPA DE DATOS (Servidor MySQL)</a:t>
            </a:r>
            <a:endParaRPr/>
          </a:p>
        </p:txBody>
      </p:sp>
      <p:pic>
        <p:nvPicPr>
          <p:cNvPr descr="image.png" id="466" name="Google Shape;466;g3a2ea1eac06_0_57"/>
          <p:cNvPicPr preferRelativeResize="0"/>
          <p:nvPr/>
        </p:nvPicPr>
        <p:blipFill rotWithShape="1">
          <a:blip r:embed="rId19">
            <a:alphaModFix/>
          </a:blip>
          <a:srcRect b="0" l="0" r="0" t="0"/>
          <a:stretch/>
        </p:blipFill>
        <p:spPr>
          <a:xfrm>
            <a:off x="4649987" y="8496273"/>
            <a:ext cx="219075" cy="285750"/>
          </a:xfrm>
          <a:prstGeom prst="rect">
            <a:avLst/>
          </a:prstGeom>
          <a:noFill/>
          <a:ln>
            <a:noFill/>
          </a:ln>
        </p:spPr>
      </p:pic>
      <p:sp>
        <p:nvSpPr>
          <p:cNvPr id="467" name="Google Shape;467;g3a2ea1eac06_0_57"/>
          <p:cNvSpPr txBox="1"/>
          <p:nvPr/>
        </p:nvSpPr>
        <p:spPr>
          <a:xfrm>
            <a:off x="258962" y="9115398"/>
            <a:ext cx="9001200" cy="231000"/>
          </a:xfrm>
          <a:prstGeom prst="rect">
            <a:avLst/>
          </a:prstGeom>
          <a:noFill/>
          <a:ln>
            <a:noFill/>
          </a:ln>
        </p:spPr>
        <p:txBody>
          <a:bodyPr anchorCtr="0" anchor="t" bIns="0" lIns="219075" spcFirstLastPara="1" rIns="0" wrap="square" tIns="0">
            <a:spAutoFit/>
          </a:bodyPr>
          <a:lstStyle/>
          <a:p>
            <a:pPr indent="0" lvl="0" marL="0" marR="0" rtl="0" algn="ctr">
              <a:spcBef>
                <a:spcPts val="0"/>
              </a:spcBef>
              <a:spcAft>
                <a:spcPts val="0"/>
              </a:spcAft>
              <a:buNone/>
            </a:pPr>
            <a:r>
              <a:rPr b="1" i="0" lang="es-CL" sz="1500" u="none" cap="none" strike="noStrike">
                <a:solidFill>
                  <a:srgbClr val="1D4A79"/>
                </a:solidFill>
                <a:latin typeface="Roboto Slab"/>
                <a:ea typeface="Roboto Slab"/>
                <a:cs typeface="Roboto Slab"/>
                <a:sym typeface="Roboto Slab"/>
              </a:rPr>
              <a:t>CAPA DE APLICACIÓN (Desacoplada)</a:t>
            </a:r>
            <a:endParaRPr/>
          </a:p>
        </p:txBody>
      </p:sp>
      <p:pic>
        <p:nvPicPr>
          <p:cNvPr descr="image.png" id="468" name="Google Shape;468;g3a2ea1eac06_0_57"/>
          <p:cNvPicPr preferRelativeResize="0"/>
          <p:nvPr/>
        </p:nvPicPr>
        <p:blipFill rotWithShape="1">
          <a:blip r:embed="rId20">
            <a:alphaModFix/>
          </a:blip>
          <a:srcRect b="0" l="0" r="0" t="0"/>
          <a:stretch/>
        </p:blipFill>
        <p:spPr>
          <a:xfrm>
            <a:off x="3368875" y="5075013"/>
            <a:ext cx="190500" cy="190500"/>
          </a:xfrm>
          <a:prstGeom prst="rect">
            <a:avLst/>
          </a:prstGeom>
          <a:noFill/>
          <a:ln>
            <a:noFill/>
          </a:ln>
        </p:spPr>
      </p:pic>
      <p:pic>
        <p:nvPicPr>
          <p:cNvPr descr="image.png" id="469" name="Google Shape;469;g3a2ea1eac06_0_57"/>
          <p:cNvPicPr preferRelativeResize="0"/>
          <p:nvPr/>
        </p:nvPicPr>
        <p:blipFill rotWithShape="1">
          <a:blip r:embed="rId21">
            <a:alphaModFix/>
          </a:blip>
          <a:srcRect b="0" l="0" r="0" t="0"/>
          <a:stretch/>
        </p:blipFill>
        <p:spPr>
          <a:xfrm>
            <a:off x="3054550" y="6551388"/>
            <a:ext cx="171450" cy="190500"/>
          </a:xfrm>
          <a:prstGeom prst="rect">
            <a:avLst/>
          </a:prstGeom>
          <a:noFill/>
          <a:ln>
            <a:noFill/>
          </a:ln>
        </p:spPr>
      </p:pic>
      <p:pic>
        <p:nvPicPr>
          <p:cNvPr descr="image.png" id="470" name="Google Shape;470;g3a2ea1eac06_0_57"/>
          <p:cNvPicPr preferRelativeResize="0"/>
          <p:nvPr/>
        </p:nvPicPr>
        <p:blipFill rotWithShape="1">
          <a:blip r:embed="rId22">
            <a:alphaModFix/>
          </a:blip>
          <a:srcRect b="0" l="0" r="0" t="0"/>
          <a:stretch/>
        </p:blipFill>
        <p:spPr>
          <a:xfrm>
            <a:off x="2940250" y="9153498"/>
            <a:ext cx="219075" cy="190500"/>
          </a:xfrm>
          <a:prstGeom prst="rect">
            <a:avLst/>
          </a:prstGeom>
          <a:noFill/>
          <a:ln>
            <a:noFill/>
          </a:ln>
        </p:spPr>
      </p:pic>
      <p:sp>
        <p:nvSpPr>
          <p:cNvPr id="471" name="Google Shape;471;g3a2ea1eac06_0_57"/>
          <p:cNvSpPr txBox="1"/>
          <p:nvPr/>
        </p:nvSpPr>
        <p:spPr>
          <a:xfrm>
            <a:off x="528519" y="7008588"/>
            <a:ext cx="40806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1350" u="none" cap="none" strike="noStrike">
                <a:solidFill>
                  <a:srgbClr val="F39C12"/>
                </a:solidFill>
                <a:latin typeface="Roboto Slab"/>
                <a:ea typeface="Roboto Slab"/>
                <a:cs typeface="Roboto Slab"/>
                <a:sym typeface="Roboto Slab"/>
              </a:rPr>
              <a:t>Base de Datos 1</a:t>
            </a:r>
            <a:endParaRPr/>
          </a:p>
        </p:txBody>
      </p:sp>
      <p:sp>
        <p:nvSpPr>
          <p:cNvPr id="472" name="Google Shape;472;g3a2ea1eac06_0_57"/>
          <p:cNvSpPr txBox="1"/>
          <p:nvPr/>
        </p:nvSpPr>
        <p:spPr>
          <a:xfrm>
            <a:off x="625675" y="7332438"/>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200" u="none" cap="none" strike="noStrike">
                <a:solidFill>
                  <a:srgbClr val="475569"/>
                </a:solidFill>
                <a:latin typeface="Roboto"/>
                <a:ea typeface="Roboto"/>
                <a:cs typeface="Roboto"/>
                <a:sym typeface="Roboto"/>
              </a:rPr>
              <a:t>zhwmxmyk_wp_2vdgb</a:t>
            </a:r>
            <a:endParaRPr/>
          </a:p>
        </p:txBody>
      </p:sp>
      <p:sp>
        <p:nvSpPr>
          <p:cNvPr id="473" name="Google Shape;473;g3a2ea1eac06_0_57"/>
          <p:cNvSpPr txBox="1"/>
          <p:nvPr/>
        </p:nvSpPr>
        <p:spPr>
          <a:xfrm>
            <a:off x="625675" y="7585743"/>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200" u="none" cap="none" strike="noStrike">
                <a:solidFill>
                  <a:srgbClr val="475569"/>
                </a:solidFill>
                <a:latin typeface="Roboto"/>
                <a:ea typeface="Roboto"/>
                <a:cs typeface="Roboto"/>
                <a:sym typeface="Roboto"/>
              </a:rPr>
              <a:t>(Datos de WordPress)</a:t>
            </a:r>
            <a:endParaRPr/>
          </a:p>
        </p:txBody>
      </p:sp>
      <p:sp>
        <p:nvSpPr>
          <p:cNvPr id="474" name="Google Shape;474;g3a2ea1eac06_0_57"/>
          <p:cNvSpPr txBox="1"/>
          <p:nvPr/>
        </p:nvSpPr>
        <p:spPr>
          <a:xfrm>
            <a:off x="4910020" y="7008588"/>
            <a:ext cx="40806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1350" u="none" cap="none" strike="noStrike">
                <a:solidFill>
                  <a:srgbClr val="F39C12"/>
                </a:solidFill>
                <a:latin typeface="Roboto Slab"/>
                <a:ea typeface="Roboto Slab"/>
                <a:cs typeface="Roboto Slab"/>
                <a:sym typeface="Roboto Slab"/>
              </a:rPr>
              <a:t>Base de Datos 2</a:t>
            </a:r>
            <a:endParaRPr/>
          </a:p>
        </p:txBody>
      </p:sp>
      <p:sp>
        <p:nvSpPr>
          <p:cNvPr id="475" name="Google Shape;475;g3a2ea1eac06_0_57"/>
          <p:cNvSpPr txBox="1"/>
          <p:nvPr/>
        </p:nvSpPr>
        <p:spPr>
          <a:xfrm>
            <a:off x="5007175" y="7332438"/>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200" u="none" cap="none" strike="noStrike">
                <a:solidFill>
                  <a:srgbClr val="475569"/>
                </a:solidFill>
                <a:latin typeface="Roboto"/>
                <a:ea typeface="Roboto"/>
                <a:cs typeface="Roboto"/>
                <a:sym typeface="Roboto"/>
              </a:rPr>
              <a:t>zhwmxmyk_form_datos</a:t>
            </a:r>
            <a:endParaRPr/>
          </a:p>
        </p:txBody>
      </p:sp>
      <p:sp>
        <p:nvSpPr>
          <p:cNvPr id="476" name="Google Shape;476;g3a2ea1eac06_0_57"/>
          <p:cNvSpPr txBox="1"/>
          <p:nvPr/>
        </p:nvSpPr>
        <p:spPr>
          <a:xfrm>
            <a:off x="5007175" y="7585743"/>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200" u="none" cap="none" strike="noStrike">
                <a:solidFill>
                  <a:srgbClr val="475569"/>
                </a:solidFill>
                <a:latin typeface="Roboto"/>
                <a:ea typeface="Roboto"/>
                <a:cs typeface="Roboto"/>
                <a:sym typeface="Roboto"/>
              </a:rPr>
              <a:t>(Datos de la App PHP)</a:t>
            </a:r>
            <a:endParaRPr/>
          </a:p>
        </p:txBody>
      </p:sp>
      <p:sp>
        <p:nvSpPr>
          <p:cNvPr id="477" name="Google Shape;477;g3a2ea1eac06_0_57"/>
          <p:cNvSpPr txBox="1"/>
          <p:nvPr/>
        </p:nvSpPr>
        <p:spPr>
          <a:xfrm>
            <a:off x="528519" y="9610698"/>
            <a:ext cx="40806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1350" u="none" cap="none" strike="noStrike">
                <a:solidFill>
                  <a:srgbClr val="F39C12"/>
                </a:solidFill>
                <a:latin typeface="Roboto Slab"/>
                <a:ea typeface="Roboto Slab"/>
                <a:cs typeface="Roboto Slab"/>
                <a:sym typeface="Roboto Slab"/>
              </a:rPr>
              <a:t>Sistema A: Portal Público</a:t>
            </a:r>
            <a:endParaRPr/>
          </a:p>
        </p:txBody>
      </p:sp>
      <p:sp>
        <p:nvSpPr>
          <p:cNvPr id="478" name="Google Shape;478;g3a2ea1eac06_0_57"/>
          <p:cNvSpPr txBox="1"/>
          <p:nvPr/>
        </p:nvSpPr>
        <p:spPr>
          <a:xfrm>
            <a:off x="625675" y="9934548"/>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200" u="none" cap="none" strike="noStrike">
                <a:solidFill>
                  <a:srgbClr val="475569"/>
                </a:solidFill>
                <a:latin typeface="Roboto"/>
                <a:ea typeface="Roboto"/>
                <a:cs typeface="Roboto"/>
                <a:sym typeface="Roboto"/>
              </a:rPr>
              <a:t>tropezon.space</a:t>
            </a:r>
            <a:endParaRPr/>
          </a:p>
        </p:txBody>
      </p:sp>
      <p:sp>
        <p:nvSpPr>
          <p:cNvPr id="479" name="Google Shape;479;g3a2ea1eac06_0_57"/>
          <p:cNvSpPr txBox="1"/>
          <p:nvPr/>
        </p:nvSpPr>
        <p:spPr>
          <a:xfrm>
            <a:off x="625675" y="10187854"/>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200" u="none" cap="none" strike="noStrike">
                <a:solidFill>
                  <a:srgbClr val="475569"/>
                </a:solidFill>
                <a:latin typeface="Roboto"/>
                <a:ea typeface="Roboto"/>
                <a:cs typeface="Roboto"/>
                <a:sym typeface="Roboto"/>
              </a:rPr>
              <a:t>(WordPress + Elementor)</a:t>
            </a:r>
            <a:endParaRPr/>
          </a:p>
        </p:txBody>
      </p:sp>
      <p:sp>
        <p:nvSpPr>
          <p:cNvPr id="480" name="Google Shape;480;g3a2ea1eac06_0_57"/>
          <p:cNvSpPr txBox="1"/>
          <p:nvPr/>
        </p:nvSpPr>
        <p:spPr>
          <a:xfrm>
            <a:off x="4910020" y="9610698"/>
            <a:ext cx="40806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1350" u="none" cap="none" strike="noStrike">
                <a:solidFill>
                  <a:srgbClr val="F39C12"/>
                </a:solidFill>
                <a:latin typeface="Roboto Slab"/>
                <a:ea typeface="Roboto Slab"/>
                <a:cs typeface="Roboto Slab"/>
                <a:sym typeface="Roboto Slab"/>
              </a:rPr>
              <a:t>Sistema B: App de Datos</a:t>
            </a:r>
            <a:endParaRPr/>
          </a:p>
        </p:txBody>
      </p:sp>
      <p:sp>
        <p:nvSpPr>
          <p:cNvPr id="481" name="Google Shape;481;g3a2ea1eac06_0_57"/>
          <p:cNvSpPr txBox="1"/>
          <p:nvPr/>
        </p:nvSpPr>
        <p:spPr>
          <a:xfrm>
            <a:off x="5007175" y="9934548"/>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200" u="none" cap="none" strike="noStrike">
                <a:solidFill>
                  <a:srgbClr val="475569"/>
                </a:solidFill>
                <a:latin typeface="Roboto"/>
                <a:ea typeface="Roboto"/>
                <a:cs typeface="Roboto"/>
                <a:sym typeface="Roboto"/>
              </a:rPr>
              <a:t>form.tropezon.space</a:t>
            </a:r>
            <a:endParaRPr/>
          </a:p>
        </p:txBody>
      </p:sp>
      <p:sp>
        <p:nvSpPr>
          <p:cNvPr id="482" name="Google Shape;482;g3a2ea1eac06_0_57"/>
          <p:cNvSpPr txBox="1"/>
          <p:nvPr/>
        </p:nvSpPr>
        <p:spPr>
          <a:xfrm>
            <a:off x="5007175" y="10187854"/>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s-CL" sz="1200" u="none" cap="none" strike="noStrike">
                <a:solidFill>
                  <a:srgbClr val="475569"/>
                </a:solidFill>
                <a:latin typeface="Roboto"/>
                <a:ea typeface="Roboto"/>
                <a:cs typeface="Roboto"/>
                <a:sym typeface="Roboto"/>
              </a:rPr>
              <a:t>(PHP Nativo + Bootstrap)</a:t>
            </a:r>
            <a:endParaRPr/>
          </a:p>
        </p:txBody>
      </p:sp>
      <p:sp>
        <p:nvSpPr>
          <p:cNvPr id="483" name="Google Shape;483;g3a2ea1eac06_0_57"/>
          <p:cNvSpPr txBox="1"/>
          <p:nvPr>
            <p:ph idx="4294967295" type="body"/>
          </p:nvPr>
        </p:nvSpPr>
        <p:spPr>
          <a:xfrm>
            <a:off x="6803050" y="664525"/>
            <a:ext cx="6498000" cy="785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s-CL" sz="5100"/>
              <a:t>Base de datos (MySQL) </a:t>
            </a:r>
            <a:endParaRPr b="1" sz="5100"/>
          </a:p>
        </p:txBody>
      </p:sp>
      <p:cxnSp>
        <p:nvCxnSpPr>
          <p:cNvPr id="484" name="Google Shape;484;g3a2ea1eac06_0_57"/>
          <p:cNvCxnSpPr/>
          <p:nvPr/>
        </p:nvCxnSpPr>
        <p:spPr>
          <a:xfrm flipH="1" rot="10800000">
            <a:off x="6739625" y="1507500"/>
            <a:ext cx="6144900" cy="4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a27d2987dc_0_12"/>
          <p:cNvSpPr txBox="1"/>
          <p:nvPr/>
        </p:nvSpPr>
        <p:spPr>
          <a:xfrm>
            <a:off x="1152600" y="589200"/>
            <a:ext cx="8386800" cy="10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3400">
                <a:solidFill>
                  <a:schemeClr val="dk1"/>
                </a:solidFill>
                <a:latin typeface="Calibri"/>
                <a:ea typeface="Calibri"/>
                <a:cs typeface="Calibri"/>
                <a:sym typeface="Calibri"/>
              </a:rPr>
              <a:t>Diagrama BD MER</a:t>
            </a:r>
            <a:endParaRPr b="1" sz="3400">
              <a:solidFill>
                <a:schemeClr val="dk1"/>
              </a:solidFill>
              <a:latin typeface="Calibri"/>
              <a:ea typeface="Calibri"/>
              <a:cs typeface="Calibri"/>
              <a:sym typeface="Calibri"/>
            </a:endParaRPr>
          </a:p>
          <a:p>
            <a:pPr indent="0" lvl="0" marL="0" rtl="0" algn="l">
              <a:spcBef>
                <a:spcPts val="0"/>
              </a:spcBef>
              <a:spcAft>
                <a:spcPts val="0"/>
              </a:spcAft>
              <a:buNone/>
            </a:pPr>
            <a:r>
              <a:t/>
            </a:r>
            <a:endParaRPr b="1" sz="4000">
              <a:solidFill>
                <a:schemeClr val="dk1"/>
              </a:solidFill>
              <a:latin typeface="Calibri"/>
              <a:ea typeface="Calibri"/>
              <a:cs typeface="Calibri"/>
              <a:sym typeface="Calibri"/>
            </a:endParaRPr>
          </a:p>
        </p:txBody>
      </p:sp>
      <p:pic>
        <p:nvPicPr>
          <p:cNvPr id="491" name="Google Shape;491;g3a27d2987dc_0_12"/>
          <p:cNvPicPr preferRelativeResize="0"/>
          <p:nvPr/>
        </p:nvPicPr>
        <p:blipFill>
          <a:blip r:embed="rId3">
            <a:alphaModFix/>
          </a:blip>
          <a:stretch>
            <a:fillRect/>
          </a:stretch>
        </p:blipFill>
        <p:spPr>
          <a:xfrm>
            <a:off x="7081702" y="1595700"/>
            <a:ext cx="12661900" cy="8759376"/>
          </a:xfrm>
          <a:prstGeom prst="rect">
            <a:avLst/>
          </a:prstGeom>
          <a:noFill/>
          <a:ln>
            <a:noFill/>
          </a:ln>
        </p:spPr>
      </p:pic>
      <p:cxnSp>
        <p:nvCxnSpPr>
          <p:cNvPr id="492" name="Google Shape;492;g3a27d2987dc_0_12"/>
          <p:cNvCxnSpPr/>
          <p:nvPr/>
        </p:nvCxnSpPr>
        <p:spPr>
          <a:xfrm flipH="1" rot="10800000">
            <a:off x="1152600" y="1196250"/>
            <a:ext cx="3566700" cy="48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3993719c3f7_1_2"/>
          <p:cNvSpPr txBox="1"/>
          <p:nvPr/>
        </p:nvSpPr>
        <p:spPr>
          <a:xfrm>
            <a:off x="10345450" y="511225"/>
            <a:ext cx="947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p:txBody>
      </p:sp>
      <p:pic>
        <p:nvPicPr>
          <p:cNvPr descr="image.png" id="499" name="Google Shape;499;g3993719c3f7_1_2"/>
          <p:cNvPicPr preferRelativeResize="0"/>
          <p:nvPr/>
        </p:nvPicPr>
        <p:blipFill rotWithShape="1">
          <a:blip r:embed="rId3">
            <a:alphaModFix/>
          </a:blip>
          <a:srcRect b="0" l="0" r="0" t="0"/>
          <a:stretch/>
        </p:blipFill>
        <p:spPr>
          <a:xfrm>
            <a:off x="12418875" y="1600825"/>
            <a:ext cx="4491201" cy="7345800"/>
          </a:xfrm>
          <a:prstGeom prst="rect">
            <a:avLst/>
          </a:prstGeom>
          <a:noFill/>
          <a:ln>
            <a:noFill/>
          </a:ln>
        </p:spPr>
      </p:pic>
      <p:pic>
        <p:nvPicPr>
          <p:cNvPr descr="image.png" id="500" name="Google Shape;500;g3993719c3f7_1_2"/>
          <p:cNvPicPr preferRelativeResize="0"/>
          <p:nvPr/>
        </p:nvPicPr>
        <p:blipFill rotWithShape="1">
          <a:blip r:embed="rId3">
            <a:alphaModFix/>
          </a:blip>
          <a:srcRect b="0" l="0" r="0" t="0"/>
          <a:stretch/>
        </p:blipFill>
        <p:spPr>
          <a:xfrm>
            <a:off x="6706750" y="1600803"/>
            <a:ext cx="4336600" cy="7409273"/>
          </a:xfrm>
          <a:prstGeom prst="rect">
            <a:avLst/>
          </a:prstGeom>
          <a:noFill/>
          <a:ln>
            <a:noFill/>
          </a:ln>
        </p:spPr>
      </p:pic>
      <p:pic>
        <p:nvPicPr>
          <p:cNvPr descr="image.png" id="501" name="Google Shape;501;g3993719c3f7_1_2"/>
          <p:cNvPicPr preferRelativeResize="0"/>
          <p:nvPr/>
        </p:nvPicPr>
        <p:blipFill rotWithShape="1">
          <a:blip r:embed="rId3">
            <a:alphaModFix/>
          </a:blip>
          <a:srcRect b="0" l="0" r="0" t="0"/>
          <a:stretch/>
        </p:blipFill>
        <p:spPr>
          <a:xfrm>
            <a:off x="1089677" y="1600825"/>
            <a:ext cx="4336600" cy="7409250"/>
          </a:xfrm>
          <a:prstGeom prst="rect">
            <a:avLst/>
          </a:prstGeom>
          <a:noFill/>
          <a:ln>
            <a:noFill/>
          </a:ln>
        </p:spPr>
      </p:pic>
      <p:sp>
        <p:nvSpPr>
          <p:cNvPr id="502" name="Google Shape;502;g3993719c3f7_1_2"/>
          <p:cNvSpPr txBox="1"/>
          <p:nvPr/>
        </p:nvSpPr>
        <p:spPr>
          <a:xfrm>
            <a:off x="1389690" y="1979627"/>
            <a:ext cx="3736500" cy="1235400"/>
          </a:xfrm>
          <a:prstGeom prst="rect">
            <a:avLst/>
          </a:prstGeom>
          <a:noFill/>
          <a:ln>
            <a:noFill/>
          </a:ln>
        </p:spPr>
        <p:txBody>
          <a:bodyPr anchorCtr="0" anchor="t" bIns="109725" lIns="109725" spcFirstLastPara="1" rIns="109725" wrap="square" tIns="109725">
            <a:noAutofit/>
          </a:bodyPr>
          <a:lstStyle/>
          <a:p>
            <a:pPr indent="0" lvl="0" marL="0" rtl="0" algn="ctr">
              <a:lnSpc>
                <a:spcPct val="115000"/>
              </a:lnSpc>
              <a:spcBef>
                <a:spcPts val="2160"/>
              </a:spcBef>
              <a:spcAft>
                <a:spcPts val="480"/>
              </a:spcAft>
              <a:buClr>
                <a:schemeClr val="dk1"/>
              </a:buClr>
              <a:buSzPts val="1100"/>
              <a:buFont typeface="Arial"/>
              <a:buNone/>
            </a:pPr>
            <a:r>
              <a:rPr b="1" lang="es-CL" sz="2880">
                <a:solidFill>
                  <a:schemeClr val="lt1"/>
                </a:solidFill>
                <a:latin typeface="Calibri"/>
                <a:ea typeface="Calibri"/>
                <a:cs typeface="Calibri"/>
                <a:sym typeface="Calibri"/>
              </a:rPr>
              <a:t>Datos personales (Chile) - Ley 21.719</a:t>
            </a:r>
            <a:endParaRPr sz="2160">
              <a:solidFill>
                <a:schemeClr val="lt1"/>
              </a:solidFill>
              <a:latin typeface="Calibri"/>
              <a:ea typeface="Calibri"/>
              <a:cs typeface="Calibri"/>
              <a:sym typeface="Calibri"/>
            </a:endParaRPr>
          </a:p>
        </p:txBody>
      </p:sp>
      <p:sp>
        <p:nvSpPr>
          <p:cNvPr id="503" name="Google Shape;503;g3993719c3f7_1_2"/>
          <p:cNvSpPr txBox="1"/>
          <p:nvPr/>
        </p:nvSpPr>
        <p:spPr>
          <a:xfrm>
            <a:off x="1289190" y="3413164"/>
            <a:ext cx="3858300" cy="4834500"/>
          </a:xfrm>
          <a:prstGeom prst="rect">
            <a:avLst/>
          </a:prstGeom>
          <a:noFill/>
          <a:ln>
            <a:noFill/>
          </a:ln>
        </p:spPr>
        <p:txBody>
          <a:bodyPr anchorCtr="0" anchor="t" bIns="109725" lIns="109725" spcFirstLastPara="1" rIns="109725" wrap="square" tIns="109725">
            <a:noAutofit/>
          </a:bodyPr>
          <a:lstStyle/>
          <a:p>
            <a:pPr indent="-381052" lvl="0" marL="548716" rtl="0" algn="l">
              <a:spcBef>
                <a:spcPts val="1440"/>
              </a:spcBef>
              <a:spcAft>
                <a:spcPts val="0"/>
              </a:spcAft>
              <a:buClr>
                <a:schemeClr val="lt1"/>
              </a:buClr>
              <a:buSzPts val="1680"/>
              <a:buFont typeface="Calibri"/>
              <a:buChar char="●"/>
            </a:pPr>
            <a:r>
              <a:rPr lang="es-CL" sz="1680">
                <a:solidFill>
                  <a:schemeClr val="lt1"/>
                </a:solidFill>
                <a:latin typeface="Calibri"/>
                <a:ea typeface="Calibri"/>
                <a:cs typeface="Calibri"/>
                <a:sym typeface="Calibri"/>
              </a:rPr>
              <a:t>Regula el tratamiento de datos y crea la Agencia de Protección de Datos.</a:t>
            </a:r>
            <a:br>
              <a:rPr lang="es-CL" sz="1680">
                <a:solidFill>
                  <a:schemeClr val="lt1"/>
                </a:solidFill>
                <a:latin typeface="Calibri"/>
                <a:ea typeface="Calibri"/>
                <a:cs typeface="Calibri"/>
                <a:sym typeface="Calibri"/>
              </a:rPr>
            </a:br>
            <a:endParaRPr sz="1680">
              <a:solidFill>
                <a:schemeClr val="lt1"/>
              </a:solidFill>
              <a:latin typeface="Calibri"/>
              <a:ea typeface="Calibri"/>
              <a:cs typeface="Calibri"/>
              <a:sym typeface="Calibri"/>
            </a:endParaRPr>
          </a:p>
          <a:p>
            <a:pPr indent="-381052" lvl="0" marL="548716" rtl="0" algn="l">
              <a:spcBef>
                <a:spcPts val="0"/>
              </a:spcBef>
              <a:spcAft>
                <a:spcPts val="0"/>
              </a:spcAft>
              <a:buClr>
                <a:schemeClr val="lt1"/>
              </a:buClr>
              <a:buSzPts val="1680"/>
              <a:buFont typeface="Calibri"/>
              <a:buChar char="●"/>
            </a:pPr>
            <a:r>
              <a:rPr lang="es-CL" sz="1680">
                <a:solidFill>
                  <a:schemeClr val="lt1"/>
                </a:solidFill>
                <a:latin typeface="Calibri"/>
                <a:ea typeface="Calibri"/>
                <a:cs typeface="Calibri"/>
                <a:sym typeface="Calibri"/>
              </a:rPr>
              <a:t>Exige medidas de seguridad “desde el diseño” y transparencia.</a:t>
            </a:r>
            <a:br>
              <a:rPr lang="es-CL" sz="1680">
                <a:solidFill>
                  <a:schemeClr val="lt1"/>
                </a:solidFill>
                <a:latin typeface="Calibri"/>
                <a:ea typeface="Calibri"/>
                <a:cs typeface="Calibri"/>
                <a:sym typeface="Calibri"/>
              </a:rPr>
            </a:br>
            <a:endParaRPr sz="1680">
              <a:solidFill>
                <a:schemeClr val="lt1"/>
              </a:solidFill>
              <a:latin typeface="Calibri"/>
              <a:ea typeface="Calibri"/>
              <a:cs typeface="Calibri"/>
              <a:sym typeface="Calibri"/>
            </a:endParaRPr>
          </a:p>
          <a:p>
            <a:pPr indent="-381052" lvl="0" marL="548716" rtl="0" algn="l">
              <a:spcBef>
                <a:spcPts val="0"/>
              </a:spcBef>
              <a:spcAft>
                <a:spcPts val="0"/>
              </a:spcAft>
              <a:buClr>
                <a:schemeClr val="lt1"/>
              </a:buClr>
              <a:buSzPts val="1680"/>
              <a:buFont typeface="Calibri"/>
              <a:buChar char="●"/>
            </a:pPr>
            <a:r>
              <a:rPr lang="es-CL" sz="1680">
                <a:solidFill>
                  <a:schemeClr val="lt1"/>
                </a:solidFill>
                <a:latin typeface="Calibri"/>
                <a:ea typeface="Calibri"/>
                <a:cs typeface="Calibri"/>
                <a:sym typeface="Calibri"/>
              </a:rPr>
              <a:t>Principios clave: licitud, finalidad, proporcionalidad y responsabilidad.</a:t>
            </a:r>
            <a:br>
              <a:rPr lang="es-CL" sz="1680">
                <a:solidFill>
                  <a:schemeClr val="lt1"/>
                </a:solidFill>
                <a:latin typeface="Calibri"/>
                <a:ea typeface="Calibri"/>
                <a:cs typeface="Calibri"/>
                <a:sym typeface="Calibri"/>
              </a:rPr>
            </a:br>
            <a:endParaRPr sz="1680">
              <a:solidFill>
                <a:schemeClr val="lt1"/>
              </a:solidFill>
              <a:latin typeface="Calibri"/>
              <a:ea typeface="Calibri"/>
              <a:cs typeface="Calibri"/>
              <a:sym typeface="Calibri"/>
            </a:endParaRPr>
          </a:p>
          <a:p>
            <a:pPr indent="-381052" lvl="0" marL="548716" rtl="0" algn="l">
              <a:spcBef>
                <a:spcPts val="0"/>
              </a:spcBef>
              <a:spcAft>
                <a:spcPts val="0"/>
              </a:spcAft>
              <a:buClr>
                <a:schemeClr val="lt1"/>
              </a:buClr>
              <a:buSzPts val="1680"/>
              <a:buChar char="●"/>
            </a:pPr>
            <a:r>
              <a:rPr lang="es-CL" sz="1680">
                <a:solidFill>
                  <a:schemeClr val="lt1"/>
                </a:solidFill>
                <a:latin typeface="Calibri"/>
                <a:ea typeface="Calibri"/>
                <a:cs typeface="Calibri"/>
                <a:sym typeface="Calibri"/>
              </a:rPr>
              <a:t>Sanciones hasta </a:t>
            </a:r>
            <a:r>
              <a:rPr b="1" lang="es-CL" sz="1680">
                <a:solidFill>
                  <a:schemeClr val="lt1"/>
                </a:solidFill>
                <a:latin typeface="Calibri"/>
                <a:ea typeface="Calibri"/>
                <a:cs typeface="Calibri"/>
                <a:sym typeface="Calibri"/>
              </a:rPr>
              <a:t>20.000 UTM</a:t>
            </a:r>
            <a:r>
              <a:rPr lang="es-CL" sz="1680">
                <a:solidFill>
                  <a:schemeClr val="lt1"/>
                </a:solidFill>
                <a:latin typeface="Calibri"/>
                <a:ea typeface="Calibri"/>
                <a:cs typeface="Calibri"/>
                <a:sym typeface="Calibri"/>
              </a:rPr>
              <a:t> y registro nacional de sanciones.</a:t>
            </a:r>
            <a:br>
              <a:rPr lang="es-CL" sz="1680">
                <a:solidFill>
                  <a:schemeClr val="lt1"/>
                </a:solidFill>
                <a:latin typeface="Calibri"/>
                <a:ea typeface="Calibri"/>
                <a:cs typeface="Calibri"/>
                <a:sym typeface="Calibri"/>
              </a:rPr>
            </a:br>
            <a:endParaRPr sz="1680">
              <a:solidFill>
                <a:schemeClr val="lt1"/>
              </a:solidFill>
              <a:latin typeface="Calibri"/>
              <a:ea typeface="Calibri"/>
              <a:cs typeface="Calibri"/>
              <a:sym typeface="Calibri"/>
            </a:endParaRPr>
          </a:p>
          <a:p>
            <a:pPr indent="-381052" lvl="0" marL="548716" rtl="0" algn="l">
              <a:spcBef>
                <a:spcPts val="0"/>
              </a:spcBef>
              <a:spcAft>
                <a:spcPts val="0"/>
              </a:spcAft>
              <a:buClr>
                <a:schemeClr val="lt1"/>
              </a:buClr>
              <a:buSzPts val="1680"/>
              <a:buFont typeface="Calibri"/>
              <a:buChar char="●"/>
            </a:pPr>
            <a:r>
              <a:rPr lang="es-CL" sz="1680">
                <a:solidFill>
                  <a:schemeClr val="lt1"/>
                </a:solidFill>
                <a:latin typeface="Calibri"/>
                <a:ea typeface="Calibri"/>
                <a:cs typeface="Calibri"/>
                <a:sym typeface="Calibri"/>
              </a:rPr>
              <a:t>Alineada con estándares internacionales (similar a GDPR).</a:t>
            </a:r>
            <a:endParaRPr sz="1680">
              <a:solidFill>
                <a:schemeClr val="lt1"/>
              </a:solidFill>
              <a:latin typeface="Calibri"/>
              <a:ea typeface="Calibri"/>
              <a:cs typeface="Calibri"/>
              <a:sym typeface="Calibri"/>
            </a:endParaRPr>
          </a:p>
          <a:p>
            <a:pPr indent="0" lvl="0" marL="0" rtl="0" algn="l">
              <a:spcBef>
                <a:spcPts val="1440"/>
              </a:spcBef>
              <a:spcAft>
                <a:spcPts val="0"/>
              </a:spcAft>
              <a:buNone/>
            </a:pPr>
            <a:r>
              <a:t/>
            </a:r>
            <a:endParaRPr sz="2160">
              <a:solidFill>
                <a:schemeClr val="lt1"/>
              </a:solidFill>
              <a:latin typeface="Calibri"/>
              <a:ea typeface="Calibri"/>
              <a:cs typeface="Calibri"/>
              <a:sym typeface="Calibri"/>
            </a:endParaRPr>
          </a:p>
        </p:txBody>
      </p:sp>
      <p:sp>
        <p:nvSpPr>
          <p:cNvPr id="504" name="Google Shape;504;g3993719c3f7_1_2"/>
          <p:cNvSpPr txBox="1"/>
          <p:nvPr/>
        </p:nvSpPr>
        <p:spPr>
          <a:xfrm>
            <a:off x="6801353" y="2095332"/>
            <a:ext cx="4084800" cy="1235400"/>
          </a:xfrm>
          <a:prstGeom prst="rect">
            <a:avLst/>
          </a:prstGeom>
          <a:noFill/>
          <a:ln>
            <a:noFill/>
          </a:ln>
        </p:spPr>
        <p:txBody>
          <a:bodyPr anchorCtr="0" anchor="t" bIns="109725" lIns="109725" spcFirstLastPara="1" rIns="109725" wrap="square" tIns="109725">
            <a:noAutofit/>
          </a:bodyPr>
          <a:lstStyle/>
          <a:p>
            <a:pPr indent="0" lvl="0" marL="0" rtl="0" algn="ctr">
              <a:lnSpc>
                <a:spcPct val="115000"/>
              </a:lnSpc>
              <a:spcBef>
                <a:spcPts val="2160"/>
              </a:spcBef>
              <a:spcAft>
                <a:spcPts val="480"/>
              </a:spcAft>
              <a:buClr>
                <a:schemeClr val="dk1"/>
              </a:buClr>
              <a:buSzPts val="1100"/>
              <a:buFont typeface="Arial"/>
              <a:buNone/>
            </a:pPr>
            <a:r>
              <a:rPr b="1" lang="es-CL" sz="2880">
                <a:solidFill>
                  <a:schemeClr val="lt1"/>
                </a:solidFill>
                <a:latin typeface="Calibri"/>
                <a:ea typeface="Calibri"/>
                <a:cs typeface="Calibri"/>
                <a:sym typeface="Calibri"/>
              </a:rPr>
              <a:t>Ciberseguridad y delitos informáticos (Chile)</a:t>
            </a:r>
            <a:endParaRPr sz="2160">
              <a:solidFill>
                <a:schemeClr val="lt1"/>
              </a:solidFill>
              <a:latin typeface="Calibri"/>
              <a:ea typeface="Calibri"/>
              <a:cs typeface="Calibri"/>
              <a:sym typeface="Calibri"/>
            </a:endParaRPr>
          </a:p>
        </p:txBody>
      </p:sp>
      <p:sp>
        <p:nvSpPr>
          <p:cNvPr id="505" name="Google Shape;505;g3993719c3f7_1_2"/>
          <p:cNvSpPr txBox="1"/>
          <p:nvPr/>
        </p:nvSpPr>
        <p:spPr>
          <a:xfrm>
            <a:off x="6945899" y="3528859"/>
            <a:ext cx="3858300" cy="4834500"/>
          </a:xfrm>
          <a:prstGeom prst="rect">
            <a:avLst/>
          </a:prstGeom>
          <a:noFill/>
          <a:ln>
            <a:noFill/>
          </a:ln>
        </p:spPr>
        <p:txBody>
          <a:bodyPr anchorCtr="0" anchor="t" bIns="109725" lIns="109725" spcFirstLastPara="1" rIns="109725" wrap="square" tIns="109725">
            <a:noAutofit/>
          </a:bodyPr>
          <a:lstStyle/>
          <a:p>
            <a:pPr indent="-396296" lvl="0" marL="548717" rtl="0" algn="l">
              <a:spcBef>
                <a:spcPts val="0"/>
              </a:spcBef>
              <a:spcAft>
                <a:spcPts val="0"/>
              </a:spcAft>
              <a:buClr>
                <a:schemeClr val="lt1"/>
              </a:buClr>
              <a:buSzPts val="1920"/>
              <a:buFont typeface="Calibri"/>
              <a:buChar char="●"/>
            </a:pPr>
            <a:r>
              <a:rPr lang="es-CL" sz="1920">
                <a:solidFill>
                  <a:schemeClr val="lt1"/>
                </a:solidFill>
                <a:latin typeface="Calibri"/>
                <a:ea typeface="Calibri"/>
                <a:cs typeface="Calibri"/>
                <a:sym typeface="Calibri"/>
              </a:rPr>
              <a:t>Actualiza delitos informáticos según el </a:t>
            </a:r>
            <a:r>
              <a:rPr b="1" lang="es-CL" sz="1920">
                <a:solidFill>
                  <a:schemeClr val="lt1"/>
                </a:solidFill>
                <a:latin typeface="Calibri"/>
                <a:ea typeface="Calibri"/>
                <a:cs typeface="Calibri"/>
                <a:sym typeface="Calibri"/>
              </a:rPr>
              <a:t>Convenio de Budapest</a:t>
            </a:r>
            <a:r>
              <a:rPr lang="es-CL" sz="1920">
                <a:solidFill>
                  <a:schemeClr val="lt1"/>
                </a:solidFill>
                <a:latin typeface="Calibri"/>
                <a:ea typeface="Calibri"/>
                <a:cs typeface="Calibri"/>
                <a:sym typeface="Calibri"/>
              </a:rPr>
              <a:t>.</a:t>
            </a:r>
            <a:br>
              <a:rPr lang="es-CL" sz="1920">
                <a:solidFill>
                  <a:schemeClr val="lt1"/>
                </a:solidFill>
                <a:latin typeface="Calibri"/>
                <a:ea typeface="Calibri"/>
                <a:cs typeface="Calibri"/>
                <a:sym typeface="Calibri"/>
              </a:rPr>
            </a:br>
            <a:endParaRPr sz="1920">
              <a:solidFill>
                <a:schemeClr val="lt1"/>
              </a:solidFill>
              <a:latin typeface="Calibri"/>
              <a:ea typeface="Calibri"/>
              <a:cs typeface="Calibri"/>
              <a:sym typeface="Calibri"/>
            </a:endParaRPr>
          </a:p>
          <a:p>
            <a:pPr indent="-396296" lvl="0" marL="548717" rtl="0" algn="l">
              <a:spcBef>
                <a:spcPts val="0"/>
              </a:spcBef>
              <a:spcAft>
                <a:spcPts val="0"/>
              </a:spcAft>
              <a:buClr>
                <a:schemeClr val="lt1"/>
              </a:buClr>
              <a:buSzPts val="1920"/>
              <a:buFont typeface="Calibri"/>
              <a:buChar char="●"/>
            </a:pPr>
            <a:r>
              <a:rPr lang="es-CL" sz="1920">
                <a:solidFill>
                  <a:schemeClr val="lt1"/>
                </a:solidFill>
                <a:latin typeface="Calibri"/>
                <a:ea typeface="Calibri"/>
                <a:cs typeface="Calibri"/>
                <a:sym typeface="Calibri"/>
              </a:rPr>
              <a:t>Tipifica: acceso ilícito, interceptación, ataques a sistemas/datos, falsificación y fraude informático.</a:t>
            </a:r>
            <a:br>
              <a:rPr lang="es-CL" sz="1920">
                <a:solidFill>
                  <a:schemeClr val="lt1"/>
                </a:solidFill>
                <a:latin typeface="Calibri"/>
                <a:ea typeface="Calibri"/>
                <a:cs typeface="Calibri"/>
                <a:sym typeface="Calibri"/>
              </a:rPr>
            </a:br>
            <a:endParaRPr sz="1920">
              <a:solidFill>
                <a:schemeClr val="lt1"/>
              </a:solidFill>
              <a:latin typeface="Calibri"/>
              <a:ea typeface="Calibri"/>
              <a:cs typeface="Calibri"/>
              <a:sym typeface="Calibri"/>
            </a:endParaRPr>
          </a:p>
          <a:p>
            <a:pPr indent="-396296" lvl="0" marL="548717" rtl="0" algn="l">
              <a:spcBef>
                <a:spcPts val="0"/>
              </a:spcBef>
              <a:spcAft>
                <a:spcPts val="0"/>
              </a:spcAft>
              <a:buClr>
                <a:schemeClr val="lt1"/>
              </a:buClr>
              <a:buSzPts val="1920"/>
              <a:buFont typeface="Calibri"/>
              <a:buChar char="●"/>
            </a:pPr>
            <a:r>
              <a:rPr lang="es-CL" sz="1920">
                <a:solidFill>
                  <a:schemeClr val="lt1"/>
                </a:solidFill>
                <a:latin typeface="Calibri"/>
                <a:ea typeface="Calibri"/>
                <a:cs typeface="Calibri"/>
                <a:sym typeface="Calibri"/>
              </a:rPr>
              <a:t>Refuerza investigación, trazabilidad y preservación de evidencias.</a:t>
            </a:r>
            <a:endParaRPr sz="1920">
              <a:solidFill>
                <a:schemeClr val="lt1"/>
              </a:solidFill>
              <a:latin typeface="Calibri"/>
              <a:ea typeface="Calibri"/>
              <a:cs typeface="Calibri"/>
              <a:sym typeface="Calibri"/>
            </a:endParaRPr>
          </a:p>
          <a:p>
            <a:pPr indent="0" lvl="0" marL="0" rtl="0" algn="l">
              <a:spcBef>
                <a:spcPts val="0"/>
              </a:spcBef>
              <a:spcAft>
                <a:spcPts val="0"/>
              </a:spcAft>
              <a:buNone/>
            </a:pPr>
            <a:r>
              <a:t/>
            </a:r>
            <a:endParaRPr sz="1680">
              <a:solidFill>
                <a:schemeClr val="lt1"/>
              </a:solidFill>
              <a:latin typeface="Calibri"/>
              <a:ea typeface="Calibri"/>
              <a:cs typeface="Calibri"/>
              <a:sym typeface="Calibri"/>
            </a:endParaRPr>
          </a:p>
        </p:txBody>
      </p:sp>
      <p:sp>
        <p:nvSpPr>
          <p:cNvPr id="506" name="Google Shape;506;g3993719c3f7_1_2"/>
          <p:cNvSpPr txBox="1"/>
          <p:nvPr/>
        </p:nvSpPr>
        <p:spPr>
          <a:xfrm>
            <a:off x="12589975" y="2051875"/>
            <a:ext cx="4180200" cy="1224900"/>
          </a:xfrm>
          <a:prstGeom prst="rect">
            <a:avLst/>
          </a:prstGeom>
          <a:noFill/>
          <a:ln>
            <a:noFill/>
          </a:ln>
        </p:spPr>
        <p:txBody>
          <a:bodyPr anchorCtr="0" anchor="t" bIns="108775" lIns="108775" spcFirstLastPara="1" rIns="108775" wrap="square" tIns="108775">
            <a:noAutofit/>
          </a:bodyPr>
          <a:lstStyle/>
          <a:p>
            <a:pPr indent="0" lvl="0" marL="0" rtl="0" algn="l">
              <a:lnSpc>
                <a:spcPct val="115000"/>
              </a:lnSpc>
              <a:spcBef>
                <a:spcPts val="2142"/>
              </a:spcBef>
              <a:spcAft>
                <a:spcPts val="0"/>
              </a:spcAft>
              <a:buClr>
                <a:schemeClr val="dk1"/>
              </a:buClr>
              <a:buSzPts val="1100"/>
              <a:buFont typeface="Arial"/>
              <a:buNone/>
            </a:pPr>
            <a:r>
              <a:rPr b="1" lang="es-CL" sz="2855">
                <a:solidFill>
                  <a:schemeClr val="lt1"/>
                </a:solidFill>
                <a:latin typeface="Calibri"/>
                <a:ea typeface="Calibri"/>
                <a:cs typeface="Calibri"/>
                <a:sym typeface="Calibri"/>
              </a:rPr>
              <a:t>Propiedad intelectual y derechos de autor (Chile)</a:t>
            </a:r>
            <a:endParaRPr b="1" sz="2855">
              <a:solidFill>
                <a:schemeClr val="lt1"/>
              </a:solidFill>
              <a:latin typeface="Calibri"/>
              <a:ea typeface="Calibri"/>
              <a:cs typeface="Calibri"/>
              <a:sym typeface="Calibri"/>
            </a:endParaRPr>
          </a:p>
          <a:p>
            <a:pPr indent="0" lvl="0" marL="0" rtl="0" algn="ctr">
              <a:lnSpc>
                <a:spcPct val="115000"/>
              </a:lnSpc>
              <a:spcBef>
                <a:spcPts val="2142"/>
              </a:spcBef>
              <a:spcAft>
                <a:spcPts val="476"/>
              </a:spcAft>
              <a:buNone/>
            </a:pPr>
            <a:r>
              <a:t/>
            </a:r>
            <a:endParaRPr b="1" sz="2855">
              <a:solidFill>
                <a:schemeClr val="lt1"/>
              </a:solidFill>
              <a:latin typeface="Calibri"/>
              <a:ea typeface="Calibri"/>
              <a:cs typeface="Calibri"/>
              <a:sym typeface="Calibri"/>
            </a:endParaRPr>
          </a:p>
        </p:txBody>
      </p:sp>
      <p:sp>
        <p:nvSpPr>
          <p:cNvPr id="507" name="Google Shape;507;g3993719c3f7_1_2"/>
          <p:cNvSpPr txBox="1"/>
          <p:nvPr/>
        </p:nvSpPr>
        <p:spPr>
          <a:xfrm>
            <a:off x="12621012" y="3433878"/>
            <a:ext cx="3825300" cy="4793100"/>
          </a:xfrm>
          <a:prstGeom prst="rect">
            <a:avLst/>
          </a:prstGeom>
          <a:noFill/>
          <a:ln>
            <a:noFill/>
          </a:ln>
        </p:spPr>
        <p:txBody>
          <a:bodyPr anchorCtr="0" anchor="t" bIns="108775" lIns="108775" spcFirstLastPara="1" rIns="108775" wrap="square" tIns="108775">
            <a:noAutofit/>
          </a:bodyPr>
          <a:lstStyle/>
          <a:p>
            <a:pPr indent="-355122" lvl="0" marL="544017" rtl="0" algn="l">
              <a:spcBef>
                <a:spcPts val="1428"/>
              </a:spcBef>
              <a:spcAft>
                <a:spcPts val="0"/>
              </a:spcAft>
              <a:buClr>
                <a:schemeClr val="lt1"/>
              </a:buClr>
              <a:buSzPts val="1309"/>
              <a:buFont typeface="Arial"/>
              <a:buChar char="●"/>
            </a:pPr>
            <a:r>
              <a:rPr lang="es-CL" sz="2260">
                <a:solidFill>
                  <a:schemeClr val="lt1"/>
                </a:solidFill>
                <a:latin typeface="Calibri"/>
                <a:ea typeface="Calibri"/>
                <a:cs typeface="Calibri"/>
                <a:sym typeface="Calibri"/>
              </a:rPr>
              <a:t>Protege obras y software; define derechos morales y patrimoniales.</a:t>
            </a:r>
            <a:br>
              <a:rPr lang="es-CL" sz="2260">
                <a:solidFill>
                  <a:schemeClr val="lt1"/>
                </a:solidFill>
                <a:latin typeface="Calibri"/>
                <a:ea typeface="Calibri"/>
                <a:cs typeface="Calibri"/>
                <a:sym typeface="Calibri"/>
              </a:rPr>
            </a:br>
            <a:endParaRPr sz="2260">
              <a:solidFill>
                <a:schemeClr val="lt1"/>
              </a:solidFill>
              <a:latin typeface="Calibri"/>
              <a:ea typeface="Calibri"/>
              <a:cs typeface="Calibri"/>
              <a:sym typeface="Calibri"/>
            </a:endParaRPr>
          </a:p>
          <a:p>
            <a:pPr indent="-355122" lvl="0" marL="544017" rtl="0" algn="l">
              <a:spcBef>
                <a:spcPts val="0"/>
              </a:spcBef>
              <a:spcAft>
                <a:spcPts val="0"/>
              </a:spcAft>
              <a:buClr>
                <a:schemeClr val="lt1"/>
              </a:buClr>
              <a:buSzPts val="1309"/>
              <a:buFont typeface="Arial"/>
              <a:buChar char="●"/>
            </a:pPr>
            <a:r>
              <a:rPr lang="es-CL" sz="2260">
                <a:solidFill>
                  <a:schemeClr val="lt1"/>
                </a:solidFill>
                <a:latin typeface="Calibri"/>
                <a:ea typeface="Calibri"/>
                <a:cs typeface="Calibri"/>
                <a:sym typeface="Calibri"/>
              </a:rPr>
              <a:t>Incluye excepciones bajo la regla de tres pasos.</a:t>
            </a:r>
            <a:br>
              <a:rPr lang="es-CL" sz="2260">
                <a:solidFill>
                  <a:schemeClr val="lt1"/>
                </a:solidFill>
                <a:latin typeface="Calibri"/>
                <a:ea typeface="Calibri"/>
                <a:cs typeface="Calibri"/>
                <a:sym typeface="Calibri"/>
              </a:rPr>
            </a:br>
            <a:endParaRPr sz="2260">
              <a:solidFill>
                <a:schemeClr val="lt1"/>
              </a:solidFill>
              <a:latin typeface="Calibri"/>
              <a:ea typeface="Calibri"/>
              <a:cs typeface="Calibri"/>
              <a:sym typeface="Calibri"/>
            </a:endParaRPr>
          </a:p>
          <a:p>
            <a:pPr indent="-355122" lvl="0" marL="544017" rtl="0" algn="l">
              <a:spcBef>
                <a:spcPts val="0"/>
              </a:spcBef>
              <a:spcAft>
                <a:spcPts val="0"/>
              </a:spcAft>
              <a:buClr>
                <a:schemeClr val="lt1"/>
              </a:buClr>
              <a:buSzPts val="1309"/>
              <a:buFont typeface="Arial"/>
              <a:buChar char="●"/>
            </a:pPr>
            <a:r>
              <a:rPr lang="es-CL" sz="2260">
                <a:solidFill>
                  <a:schemeClr val="lt1"/>
                </a:solidFill>
                <a:latin typeface="Calibri"/>
                <a:ea typeface="Calibri"/>
                <a:cs typeface="Calibri"/>
                <a:sym typeface="Calibri"/>
              </a:rPr>
              <a:t>Normas de responsabilidad para proveedores de Internet y medidas civiles/penales.</a:t>
            </a:r>
            <a:br>
              <a:rPr lang="es-CL" sz="2260">
                <a:solidFill>
                  <a:schemeClr val="lt1"/>
                </a:solidFill>
                <a:latin typeface="Calibri"/>
                <a:ea typeface="Calibri"/>
                <a:cs typeface="Calibri"/>
                <a:sym typeface="Calibri"/>
              </a:rPr>
            </a:br>
            <a:endParaRPr sz="2260">
              <a:solidFill>
                <a:schemeClr val="lt1"/>
              </a:solidFill>
              <a:latin typeface="Calibri"/>
              <a:ea typeface="Calibri"/>
              <a:cs typeface="Calibri"/>
              <a:sym typeface="Calibri"/>
            </a:endParaRPr>
          </a:p>
          <a:p>
            <a:pPr indent="0" lvl="0" marL="0" rtl="0" algn="l">
              <a:spcBef>
                <a:spcPts val="1428"/>
              </a:spcBef>
              <a:spcAft>
                <a:spcPts val="0"/>
              </a:spcAft>
              <a:buNone/>
            </a:pPr>
            <a:r>
              <a:t/>
            </a:r>
            <a:endParaRPr sz="1903">
              <a:solidFill>
                <a:schemeClr val="lt1"/>
              </a:solidFill>
              <a:latin typeface="Calibri"/>
              <a:ea typeface="Calibri"/>
              <a:cs typeface="Calibri"/>
              <a:sym typeface="Calibri"/>
            </a:endParaRPr>
          </a:p>
        </p:txBody>
      </p:sp>
      <p:sp>
        <p:nvSpPr>
          <p:cNvPr id="508" name="Google Shape;508;g3993719c3f7_1_2"/>
          <p:cNvSpPr/>
          <p:nvPr/>
        </p:nvSpPr>
        <p:spPr>
          <a:xfrm>
            <a:off x="7473800" y="7498000"/>
            <a:ext cx="2760000" cy="27408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509" name="Google Shape;509;g3993719c3f7_1_2"/>
          <p:cNvCxnSpPr/>
          <p:nvPr/>
        </p:nvCxnSpPr>
        <p:spPr>
          <a:xfrm flipH="1" rot="10800000">
            <a:off x="6973100" y="3292050"/>
            <a:ext cx="3710400" cy="12600"/>
          </a:xfrm>
          <a:prstGeom prst="straightConnector1">
            <a:avLst/>
          </a:prstGeom>
          <a:noFill/>
          <a:ln cap="flat" cmpd="sng" w="9525">
            <a:solidFill>
              <a:srgbClr val="F39C12"/>
            </a:solidFill>
            <a:prstDash val="solid"/>
            <a:round/>
            <a:headEnd len="med" w="med" type="none"/>
            <a:tailEnd len="med" w="med" type="none"/>
          </a:ln>
        </p:spPr>
      </p:cxnSp>
      <p:cxnSp>
        <p:nvCxnSpPr>
          <p:cNvPr id="510" name="Google Shape;510;g3993719c3f7_1_2"/>
          <p:cNvCxnSpPr/>
          <p:nvPr/>
        </p:nvCxnSpPr>
        <p:spPr>
          <a:xfrm flipH="1" rot="10800000">
            <a:off x="1449725" y="3292050"/>
            <a:ext cx="3710400" cy="12600"/>
          </a:xfrm>
          <a:prstGeom prst="straightConnector1">
            <a:avLst/>
          </a:prstGeom>
          <a:noFill/>
          <a:ln cap="flat" cmpd="sng" w="9525">
            <a:solidFill>
              <a:srgbClr val="F39C12"/>
            </a:solidFill>
            <a:prstDash val="solid"/>
            <a:round/>
            <a:headEnd len="med" w="med" type="none"/>
            <a:tailEnd len="med" w="med" type="none"/>
          </a:ln>
        </p:spPr>
      </p:cxnSp>
      <p:cxnSp>
        <p:nvCxnSpPr>
          <p:cNvPr id="511" name="Google Shape;511;g3993719c3f7_1_2"/>
          <p:cNvCxnSpPr/>
          <p:nvPr/>
        </p:nvCxnSpPr>
        <p:spPr>
          <a:xfrm flipH="1" rot="10800000">
            <a:off x="12678450" y="3292050"/>
            <a:ext cx="3710400" cy="12600"/>
          </a:xfrm>
          <a:prstGeom prst="straightConnector1">
            <a:avLst/>
          </a:prstGeom>
          <a:noFill/>
          <a:ln cap="flat" cmpd="sng" w="9525">
            <a:solidFill>
              <a:srgbClr val="F39C12"/>
            </a:solidFill>
            <a:prstDash val="solid"/>
            <a:round/>
            <a:headEnd len="med" w="med" type="none"/>
            <a:tailEnd len="med" w="med" type="none"/>
          </a:ln>
        </p:spPr>
      </p:cxnSp>
      <p:sp>
        <p:nvSpPr>
          <p:cNvPr id="512" name="Google Shape;512;g3993719c3f7_1_2"/>
          <p:cNvSpPr/>
          <p:nvPr/>
        </p:nvSpPr>
        <p:spPr>
          <a:xfrm>
            <a:off x="13377500" y="7574250"/>
            <a:ext cx="2760000" cy="26010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13" name="Google Shape;513;g3993719c3f7_1_2"/>
          <p:cNvSpPr/>
          <p:nvPr/>
        </p:nvSpPr>
        <p:spPr>
          <a:xfrm>
            <a:off x="1982050" y="7811850"/>
            <a:ext cx="2472600" cy="23634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descr="book signed by author icon vector outline illustration (proporcionado por Getty Images)" id="514" name="Google Shape;514;g3993719c3f7_1_2"/>
          <p:cNvPicPr preferRelativeResize="0"/>
          <p:nvPr/>
        </p:nvPicPr>
        <p:blipFill>
          <a:blip r:embed="rId4">
            <a:alphaModFix/>
          </a:blip>
          <a:stretch>
            <a:fillRect/>
          </a:stretch>
        </p:blipFill>
        <p:spPr>
          <a:xfrm>
            <a:off x="13833312" y="7944212"/>
            <a:ext cx="1848376" cy="1848376"/>
          </a:xfrm>
          <a:prstGeom prst="rect">
            <a:avLst/>
          </a:prstGeom>
          <a:noFill/>
          <a:ln>
            <a:noFill/>
          </a:ln>
        </p:spPr>
      </p:pic>
      <p:pic>
        <p:nvPicPr>
          <p:cNvPr descr="Data protection, Code, encryption, security icon (proporcionado por Getty Images)" id="515" name="Google Shape;515;g3993719c3f7_1_2"/>
          <p:cNvPicPr preferRelativeResize="0"/>
          <p:nvPr/>
        </p:nvPicPr>
        <p:blipFill rotWithShape="1">
          <a:blip r:embed="rId5">
            <a:alphaModFix/>
          </a:blip>
          <a:srcRect b="12695" l="11877" r="11594" t="12977"/>
          <a:stretch/>
        </p:blipFill>
        <p:spPr>
          <a:xfrm>
            <a:off x="7932702" y="7950550"/>
            <a:ext cx="1903099" cy="1848402"/>
          </a:xfrm>
          <a:prstGeom prst="rect">
            <a:avLst/>
          </a:prstGeom>
          <a:noFill/>
          <a:ln>
            <a:noFill/>
          </a:ln>
        </p:spPr>
      </p:pic>
      <p:pic>
        <p:nvPicPr>
          <p:cNvPr descr="Business identity card black icon, user, office id card (proporcionado por Getty Images)" id="516" name="Google Shape;516;g3993719c3f7_1_2"/>
          <p:cNvPicPr preferRelativeResize="0"/>
          <p:nvPr/>
        </p:nvPicPr>
        <p:blipFill>
          <a:blip r:embed="rId6">
            <a:alphaModFix/>
          </a:blip>
          <a:stretch>
            <a:fillRect/>
          </a:stretch>
        </p:blipFill>
        <p:spPr>
          <a:xfrm>
            <a:off x="2414963" y="8190163"/>
            <a:ext cx="1606774" cy="1606774"/>
          </a:xfrm>
          <a:prstGeom prst="rect">
            <a:avLst/>
          </a:prstGeom>
          <a:noFill/>
          <a:ln>
            <a:noFill/>
          </a:ln>
        </p:spPr>
      </p:pic>
      <p:sp>
        <p:nvSpPr>
          <p:cNvPr id="517" name="Google Shape;517;g3993719c3f7_1_2"/>
          <p:cNvSpPr txBox="1"/>
          <p:nvPr/>
        </p:nvSpPr>
        <p:spPr>
          <a:xfrm>
            <a:off x="3847125" y="310100"/>
            <a:ext cx="9378000" cy="58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5800">
                <a:latin typeface="Calibri"/>
                <a:ea typeface="Calibri"/>
                <a:cs typeface="Calibri"/>
                <a:sym typeface="Calibri"/>
              </a:rPr>
              <a:t>Leyes </a:t>
            </a:r>
            <a:r>
              <a:rPr b="1" lang="es-CL" sz="5800">
                <a:latin typeface="Calibri"/>
                <a:ea typeface="Calibri"/>
                <a:cs typeface="Calibri"/>
                <a:sym typeface="Calibri"/>
              </a:rPr>
              <a:t>Chilenas Consideradas</a:t>
            </a:r>
            <a:endParaRPr b="1" sz="5800">
              <a:latin typeface="Calibri"/>
              <a:ea typeface="Calibri"/>
              <a:cs typeface="Calibri"/>
              <a:sym typeface="Calibri"/>
            </a:endParaRPr>
          </a:p>
        </p:txBody>
      </p:sp>
      <p:cxnSp>
        <p:nvCxnSpPr>
          <p:cNvPr id="518" name="Google Shape;518;g3993719c3f7_1_2"/>
          <p:cNvCxnSpPr/>
          <p:nvPr/>
        </p:nvCxnSpPr>
        <p:spPr>
          <a:xfrm flipH="1" rot="10800000">
            <a:off x="4200550" y="1291800"/>
            <a:ext cx="8719800" cy="7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g3a2ea1eac06_0_28"/>
          <p:cNvSpPr txBox="1"/>
          <p:nvPr/>
        </p:nvSpPr>
        <p:spPr>
          <a:xfrm>
            <a:off x="10345450" y="511225"/>
            <a:ext cx="947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p:txBody>
      </p:sp>
      <p:pic>
        <p:nvPicPr>
          <p:cNvPr descr="image.png" id="525" name="Google Shape;525;g3a2ea1eac06_0_28"/>
          <p:cNvPicPr preferRelativeResize="0"/>
          <p:nvPr/>
        </p:nvPicPr>
        <p:blipFill rotWithShape="1">
          <a:blip r:embed="rId3">
            <a:alphaModFix/>
          </a:blip>
          <a:srcRect b="0" l="0" r="0" t="0"/>
          <a:stretch/>
        </p:blipFill>
        <p:spPr>
          <a:xfrm>
            <a:off x="12418875" y="1600825"/>
            <a:ext cx="4491201" cy="7345800"/>
          </a:xfrm>
          <a:prstGeom prst="rect">
            <a:avLst/>
          </a:prstGeom>
          <a:noFill/>
          <a:ln>
            <a:noFill/>
          </a:ln>
        </p:spPr>
      </p:pic>
      <p:pic>
        <p:nvPicPr>
          <p:cNvPr descr="image.png" id="526" name="Google Shape;526;g3a2ea1eac06_0_28"/>
          <p:cNvPicPr preferRelativeResize="0"/>
          <p:nvPr/>
        </p:nvPicPr>
        <p:blipFill rotWithShape="1">
          <a:blip r:embed="rId3">
            <a:alphaModFix/>
          </a:blip>
          <a:srcRect b="0" l="0" r="0" t="0"/>
          <a:stretch/>
        </p:blipFill>
        <p:spPr>
          <a:xfrm>
            <a:off x="6706750" y="1600803"/>
            <a:ext cx="4336600" cy="7409273"/>
          </a:xfrm>
          <a:prstGeom prst="rect">
            <a:avLst/>
          </a:prstGeom>
          <a:noFill/>
          <a:ln>
            <a:noFill/>
          </a:ln>
        </p:spPr>
      </p:pic>
      <p:pic>
        <p:nvPicPr>
          <p:cNvPr descr="image.png" id="527" name="Google Shape;527;g3a2ea1eac06_0_28"/>
          <p:cNvPicPr preferRelativeResize="0"/>
          <p:nvPr/>
        </p:nvPicPr>
        <p:blipFill rotWithShape="1">
          <a:blip r:embed="rId3">
            <a:alphaModFix/>
          </a:blip>
          <a:srcRect b="0" l="0" r="0" t="0"/>
          <a:stretch/>
        </p:blipFill>
        <p:spPr>
          <a:xfrm>
            <a:off x="1089677" y="1600825"/>
            <a:ext cx="4336600" cy="7409250"/>
          </a:xfrm>
          <a:prstGeom prst="rect">
            <a:avLst/>
          </a:prstGeom>
          <a:noFill/>
          <a:ln>
            <a:noFill/>
          </a:ln>
        </p:spPr>
      </p:pic>
      <p:sp>
        <p:nvSpPr>
          <p:cNvPr id="528" name="Google Shape;528;g3a2ea1eac06_0_28"/>
          <p:cNvSpPr txBox="1"/>
          <p:nvPr/>
        </p:nvSpPr>
        <p:spPr>
          <a:xfrm>
            <a:off x="1389690" y="1979627"/>
            <a:ext cx="3736500" cy="1235400"/>
          </a:xfrm>
          <a:prstGeom prst="rect">
            <a:avLst/>
          </a:prstGeom>
          <a:noFill/>
          <a:ln>
            <a:noFill/>
          </a:ln>
        </p:spPr>
        <p:txBody>
          <a:bodyPr anchorCtr="0" anchor="t" bIns="109725" lIns="109725" spcFirstLastPara="1" rIns="109725" wrap="square" tIns="109725">
            <a:noAutofit/>
          </a:bodyPr>
          <a:lstStyle/>
          <a:p>
            <a:pPr indent="0" lvl="0" marL="0" rtl="0" algn="ctr">
              <a:lnSpc>
                <a:spcPct val="115000"/>
              </a:lnSpc>
              <a:spcBef>
                <a:spcPts val="2160"/>
              </a:spcBef>
              <a:spcAft>
                <a:spcPts val="480"/>
              </a:spcAft>
              <a:buNone/>
            </a:pPr>
            <a:r>
              <a:rPr b="1" lang="es-CL" sz="2880">
                <a:solidFill>
                  <a:schemeClr val="lt1"/>
                </a:solidFill>
                <a:latin typeface="Calibri"/>
                <a:ea typeface="Calibri"/>
                <a:cs typeface="Calibri"/>
                <a:sym typeface="Calibri"/>
              </a:rPr>
              <a:t> ISO 27001 – Seguridad de la Información</a:t>
            </a:r>
            <a:endParaRPr sz="2160">
              <a:solidFill>
                <a:schemeClr val="lt1"/>
              </a:solidFill>
              <a:latin typeface="Calibri"/>
              <a:ea typeface="Calibri"/>
              <a:cs typeface="Calibri"/>
              <a:sym typeface="Calibri"/>
            </a:endParaRPr>
          </a:p>
        </p:txBody>
      </p:sp>
      <p:sp>
        <p:nvSpPr>
          <p:cNvPr id="529" name="Google Shape;529;g3a2ea1eac06_0_28"/>
          <p:cNvSpPr txBox="1"/>
          <p:nvPr/>
        </p:nvSpPr>
        <p:spPr>
          <a:xfrm>
            <a:off x="1270790" y="3528839"/>
            <a:ext cx="3858300" cy="4834500"/>
          </a:xfrm>
          <a:prstGeom prst="rect">
            <a:avLst/>
          </a:prstGeom>
          <a:noFill/>
          <a:ln>
            <a:noFill/>
          </a:ln>
        </p:spPr>
        <p:txBody>
          <a:bodyPr anchorCtr="0" anchor="t" bIns="109725" lIns="109725" spcFirstLastPara="1" rIns="109725" wrap="square" tIns="109725">
            <a:noAutofit/>
          </a:bodyPr>
          <a:lstStyle/>
          <a:p>
            <a:pPr indent="-349250" lvl="0" marL="457200" rtl="0" algn="l">
              <a:spcBef>
                <a:spcPts val="0"/>
              </a:spcBef>
              <a:spcAft>
                <a:spcPts val="0"/>
              </a:spcAft>
              <a:buClr>
                <a:schemeClr val="lt1"/>
              </a:buClr>
              <a:buSzPts val="1900"/>
              <a:buChar char="●"/>
            </a:pPr>
            <a:r>
              <a:rPr lang="es-CL" sz="1900">
                <a:solidFill>
                  <a:schemeClr val="lt1"/>
                </a:solidFill>
              </a:rPr>
              <a:t>Estándar internacional para implementar un </a:t>
            </a:r>
            <a:r>
              <a:rPr b="1" lang="es-CL" sz="1900">
                <a:solidFill>
                  <a:schemeClr val="lt1"/>
                </a:solidFill>
              </a:rPr>
              <a:t>Sistema de Gestión de Seguridad de la Información (SGSI)</a:t>
            </a:r>
            <a:r>
              <a:rPr lang="es-CL" sz="1900">
                <a:solidFill>
                  <a:schemeClr val="lt1"/>
                </a:solidFill>
              </a:rPr>
              <a:t>.</a:t>
            </a:r>
            <a:br>
              <a:rPr lang="es-CL" sz="1900">
                <a:solidFill>
                  <a:schemeClr val="lt1"/>
                </a:solidFill>
              </a:rPr>
            </a:br>
            <a:endParaRPr sz="1900">
              <a:solidFill>
                <a:schemeClr val="lt1"/>
              </a:solidFill>
            </a:endParaRPr>
          </a:p>
          <a:p>
            <a:pPr indent="-349250" lvl="0" marL="457200" rtl="0" algn="l">
              <a:spcBef>
                <a:spcPts val="0"/>
              </a:spcBef>
              <a:spcAft>
                <a:spcPts val="0"/>
              </a:spcAft>
              <a:buClr>
                <a:schemeClr val="lt1"/>
              </a:buClr>
              <a:buSzPts val="1900"/>
              <a:buChar char="●"/>
            </a:pPr>
            <a:r>
              <a:rPr lang="es-CL" sz="1900">
                <a:solidFill>
                  <a:schemeClr val="lt1"/>
                </a:solidFill>
              </a:rPr>
              <a:t>Define controles para proteger </a:t>
            </a:r>
            <a:r>
              <a:rPr b="1" lang="es-CL" sz="1900">
                <a:solidFill>
                  <a:schemeClr val="lt1"/>
                </a:solidFill>
              </a:rPr>
              <a:t>confidencialidad, integridad y disponibilidad</a:t>
            </a:r>
            <a:r>
              <a:rPr lang="es-CL" sz="1900">
                <a:solidFill>
                  <a:schemeClr val="lt1"/>
                </a:solidFill>
              </a:rPr>
              <a:t> de la información.</a:t>
            </a:r>
            <a:br>
              <a:rPr lang="es-CL" sz="1900">
                <a:solidFill>
                  <a:schemeClr val="lt1"/>
                </a:solidFill>
              </a:rPr>
            </a:br>
            <a:endParaRPr sz="1900">
              <a:solidFill>
                <a:schemeClr val="lt1"/>
              </a:solidFill>
            </a:endParaRPr>
          </a:p>
          <a:p>
            <a:pPr indent="-349250" lvl="0" marL="457200" rtl="0" algn="l">
              <a:spcBef>
                <a:spcPts val="0"/>
              </a:spcBef>
              <a:spcAft>
                <a:spcPts val="0"/>
              </a:spcAft>
              <a:buClr>
                <a:schemeClr val="lt1"/>
              </a:buClr>
              <a:buSzPts val="1900"/>
              <a:buChar char="●"/>
            </a:pPr>
            <a:r>
              <a:rPr lang="es-CL" sz="1900">
                <a:solidFill>
                  <a:schemeClr val="lt1"/>
                </a:solidFill>
              </a:rPr>
              <a:t>Base de la mayoría de las buenas prácticas actuales.</a:t>
            </a:r>
            <a:endParaRPr sz="1900">
              <a:solidFill>
                <a:schemeClr val="lt1"/>
              </a:solidFill>
            </a:endParaRPr>
          </a:p>
          <a:p>
            <a:pPr indent="0" lvl="0" marL="457200" rtl="0" algn="l">
              <a:spcBef>
                <a:spcPts val="0"/>
              </a:spcBef>
              <a:spcAft>
                <a:spcPts val="0"/>
              </a:spcAft>
              <a:buNone/>
            </a:pPr>
            <a:r>
              <a:t/>
            </a:r>
            <a:endParaRPr sz="2480">
              <a:solidFill>
                <a:schemeClr val="lt1"/>
              </a:solidFill>
              <a:latin typeface="Calibri"/>
              <a:ea typeface="Calibri"/>
              <a:cs typeface="Calibri"/>
              <a:sym typeface="Calibri"/>
            </a:endParaRPr>
          </a:p>
        </p:txBody>
      </p:sp>
      <p:sp>
        <p:nvSpPr>
          <p:cNvPr id="530" name="Google Shape;530;g3a2ea1eac06_0_28"/>
          <p:cNvSpPr txBox="1"/>
          <p:nvPr/>
        </p:nvSpPr>
        <p:spPr>
          <a:xfrm>
            <a:off x="6801353" y="2095332"/>
            <a:ext cx="4084800" cy="1235400"/>
          </a:xfrm>
          <a:prstGeom prst="rect">
            <a:avLst/>
          </a:prstGeom>
          <a:noFill/>
          <a:ln>
            <a:noFill/>
          </a:ln>
        </p:spPr>
        <p:txBody>
          <a:bodyPr anchorCtr="0" anchor="t" bIns="109725" lIns="109725" spcFirstLastPara="1" rIns="109725" wrap="square" tIns="109725">
            <a:noAutofit/>
          </a:bodyPr>
          <a:lstStyle/>
          <a:p>
            <a:pPr indent="0" lvl="0" marL="0" rtl="0" algn="ctr">
              <a:lnSpc>
                <a:spcPct val="115000"/>
              </a:lnSpc>
              <a:spcBef>
                <a:spcPts val="2160"/>
              </a:spcBef>
              <a:spcAft>
                <a:spcPts val="480"/>
              </a:spcAft>
              <a:buNone/>
            </a:pPr>
            <a:r>
              <a:rPr b="1" lang="es-CL" sz="2880">
                <a:solidFill>
                  <a:schemeClr val="lt1"/>
                </a:solidFill>
                <a:latin typeface="Calibri"/>
                <a:ea typeface="Calibri"/>
                <a:cs typeface="Calibri"/>
                <a:sym typeface="Calibri"/>
              </a:rPr>
              <a:t>ISO 9001 - Gestión de calidad</a:t>
            </a:r>
            <a:endParaRPr sz="2160">
              <a:solidFill>
                <a:schemeClr val="lt1"/>
              </a:solidFill>
              <a:latin typeface="Calibri"/>
              <a:ea typeface="Calibri"/>
              <a:cs typeface="Calibri"/>
              <a:sym typeface="Calibri"/>
            </a:endParaRPr>
          </a:p>
        </p:txBody>
      </p:sp>
      <p:sp>
        <p:nvSpPr>
          <p:cNvPr id="531" name="Google Shape;531;g3a2ea1eac06_0_28"/>
          <p:cNvSpPr txBox="1"/>
          <p:nvPr/>
        </p:nvSpPr>
        <p:spPr>
          <a:xfrm>
            <a:off x="6945899" y="3528859"/>
            <a:ext cx="3858300" cy="4834500"/>
          </a:xfrm>
          <a:prstGeom prst="rect">
            <a:avLst/>
          </a:prstGeom>
          <a:noFill/>
          <a:ln>
            <a:noFill/>
          </a:ln>
        </p:spPr>
        <p:txBody>
          <a:bodyPr anchorCtr="0" anchor="t" bIns="109725" lIns="109725" spcFirstLastPara="1" rIns="109725" wrap="square" tIns="109725">
            <a:noAutofit/>
          </a:bodyPr>
          <a:lstStyle/>
          <a:p>
            <a:pPr indent="-396296" lvl="0" marL="548717" rtl="0" algn="l">
              <a:spcBef>
                <a:spcPts val="0"/>
              </a:spcBef>
              <a:spcAft>
                <a:spcPts val="0"/>
              </a:spcAft>
              <a:buClr>
                <a:schemeClr val="lt1"/>
              </a:buClr>
              <a:buSzPts val="1920"/>
              <a:buFont typeface="Calibri"/>
              <a:buChar char="●"/>
            </a:pPr>
            <a:r>
              <a:rPr lang="es-CL" sz="1900">
                <a:solidFill>
                  <a:schemeClr val="lt1"/>
                </a:solidFill>
                <a:latin typeface="Calibri"/>
                <a:ea typeface="Calibri"/>
                <a:cs typeface="Calibri"/>
                <a:sym typeface="Calibri"/>
              </a:rPr>
              <a:t> Esta norma se centra en los sistemas de gestión de calidad y ayuda a las organizaciones a mejorar su rendimiento</a:t>
            </a:r>
            <a:br>
              <a:rPr lang="es-CL" sz="1920">
                <a:solidFill>
                  <a:schemeClr val="lt1"/>
                </a:solidFill>
                <a:latin typeface="Calibri"/>
                <a:ea typeface="Calibri"/>
                <a:cs typeface="Calibri"/>
                <a:sym typeface="Calibri"/>
              </a:rPr>
            </a:br>
            <a:endParaRPr sz="1920">
              <a:solidFill>
                <a:schemeClr val="lt1"/>
              </a:solidFill>
              <a:latin typeface="Calibri"/>
              <a:ea typeface="Calibri"/>
              <a:cs typeface="Calibri"/>
              <a:sym typeface="Calibri"/>
            </a:endParaRPr>
          </a:p>
          <a:p>
            <a:pPr indent="-396296" lvl="0" marL="548717" rtl="0" algn="l">
              <a:spcBef>
                <a:spcPts val="0"/>
              </a:spcBef>
              <a:spcAft>
                <a:spcPts val="0"/>
              </a:spcAft>
              <a:buClr>
                <a:schemeClr val="lt1"/>
              </a:buClr>
              <a:buSzPts val="1920"/>
              <a:buFont typeface="Calibri"/>
              <a:buChar char="●"/>
            </a:pPr>
            <a:r>
              <a:rPr lang="es-CL" sz="1900">
                <a:solidFill>
                  <a:schemeClr val="lt1"/>
                </a:solidFill>
                <a:latin typeface="Calibri"/>
                <a:ea typeface="Calibri"/>
                <a:cs typeface="Calibri"/>
                <a:sym typeface="Calibri"/>
              </a:rPr>
              <a:t>cumplir con las regulaciones aplicables</a:t>
            </a:r>
            <a:br>
              <a:rPr lang="es-CL" sz="1920">
                <a:solidFill>
                  <a:schemeClr val="lt1"/>
                </a:solidFill>
                <a:latin typeface="Calibri"/>
                <a:ea typeface="Calibri"/>
                <a:cs typeface="Calibri"/>
                <a:sym typeface="Calibri"/>
              </a:rPr>
            </a:br>
            <a:endParaRPr sz="1920">
              <a:solidFill>
                <a:schemeClr val="lt1"/>
              </a:solidFill>
              <a:latin typeface="Calibri"/>
              <a:ea typeface="Calibri"/>
              <a:cs typeface="Calibri"/>
              <a:sym typeface="Calibri"/>
            </a:endParaRPr>
          </a:p>
          <a:p>
            <a:pPr indent="-395009" lvl="0" marL="548717" rtl="0" algn="l">
              <a:spcBef>
                <a:spcPts val="0"/>
              </a:spcBef>
              <a:spcAft>
                <a:spcPts val="0"/>
              </a:spcAft>
              <a:buClr>
                <a:schemeClr val="lt1"/>
              </a:buClr>
              <a:buSzPts val="1900"/>
              <a:buFont typeface="Calibri"/>
              <a:buChar char="●"/>
            </a:pPr>
            <a:r>
              <a:rPr lang="es-CL" sz="1900">
                <a:solidFill>
                  <a:schemeClr val="lt1"/>
                </a:solidFill>
                <a:latin typeface="Calibri"/>
                <a:ea typeface="Calibri"/>
                <a:cs typeface="Calibri"/>
                <a:sym typeface="Calibri"/>
              </a:rPr>
              <a:t>implementación de la ISO 9001 puede optimizar los procesos de producción de noticias, edición y publicación.</a:t>
            </a:r>
            <a:endParaRPr sz="1900">
              <a:solidFill>
                <a:schemeClr val="lt1"/>
              </a:solidFill>
              <a:latin typeface="Calibri"/>
              <a:ea typeface="Calibri"/>
              <a:cs typeface="Calibri"/>
              <a:sym typeface="Calibri"/>
            </a:endParaRPr>
          </a:p>
          <a:p>
            <a:pPr indent="0" lvl="0" marL="0" rtl="0" algn="l">
              <a:spcBef>
                <a:spcPts val="0"/>
              </a:spcBef>
              <a:spcAft>
                <a:spcPts val="0"/>
              </a:spcAft>
              <a:buNone/>
            </a:pPr>
            <a:r>
              <a:t/>
            </a:r>
            <a:endParaRPr sz="1680">
              <a:solidFill>
                <a:schemeClr val="lt1"/>
              </a:solidFill>
              <a:latin typeface="Calibri"/>
              <a:ea typeface="Calibri"/>
              <a:cs typeface="Calibri"/>
              <a:sym typeface="Calibri"/>
            </a:endParaRPr>
          </a:p>
        </p:txBody>
      </p:sp>
      <p:sp>
        <p:nvSpPr>
          <p:cNvPr id="532" name="Google Shape;532;g3a2ea1eac06_0_28"/>
          <p:cNvSpPr txBox="1"/>
          <p:nvPr/>
        </p:nvSpPr>
        <p:spPr>
          <a:xfrm>
            <a:off x="12623900" y="2079750"/>
            <a:ext cx="4180200" cy="1224900"/>
          </a:xfrm>
          <a:prstGeom prst="rect">
            <a:avLst/>
          </a:prstGeom>
          <a:noFill/>
          <a:ln>
            <a:noFill/>
          </a:ln>
        </p:spPr>
        <p:txBody>
          <a:bodyPr anchorCtr="0" anchor="t" bIns="108775" lIns="108775" spcFirstLastPara="1" rIns="108775" wrap="square" tIns="108775">
            <a:noAutofit/>
          </a:bodyPr>
          <a:lstStyle/>
          <a:p>
            <a:pPr indent="0" lvl="0" marL="0" rtl="0" algn="l">
              <a:lnSpc>
                <a:spcPct val="115000"/>
              </a:lnSpc>
              <a:spcBef>
                <a:spcPts val="2142"/>
              </a:spcBef>
              <a:spcAft>
                <a:spcPts val="0"/>
              </a:spcAft>
              <a:buNone/>
            </a:pPr>
            <a:r>
              <a:rPr b="1" lang="es-CL" sz="2855">
                <a:solidFill>
                  <a:schemeClr val="lt1"/>
                </a:solidFill>
                <a:latin typeface="Calibri"/>
                <a:ea typeface="Calibri"/>
                <a:cs typeface="Calibri"/>
                <a:sym typeface="Calibri"/>
              </a:rPr>
              <a:t>ISO/IEC - 27032 - CIBERSEGURIDAD</a:t>
            </a:r>
            <a:endParaRPr b="1" sz="2855">
              <a:solidFill>
                <a:schemeClr val="lt1"/>
              </a:solidFill>
              <a:latin typeface="Calibri"/>
              <a:ea typeface="Calibri"/>
              <a:cs typeface="Calibri"/>
              <a:sym typeface="Calibri"/>
            </a:endParaRPr>
          </a:p>
          <a:p>
            <a:pPr indent="0" lvl="0" marL="0" rtl="0" algn="ctr">
              <a:lnSpc>
                <a:spcPct val="115000"/>
              </a:lnSpc>
              <a:spcBef>
                <a:spcPts val="2142"/>
              </a:spcBef>
              <a:spcAft>
                <a:spcPts val="476"/>
              </a:spcAft>
              <a:buNone/>
            </a:pPr>
            <a:r>
              <a:t/>
            </a:r>
            <a:endParaRPr b="1" sz="2855">
              <a:solidFill>
                <a:schemeClr val="lt1"/>
              </a:solidFill>
              <a:latin typeface="Calibri"/>
              <a:ea typeface="Calibri"/>
              <a:cs typeface="Calibri"/>
              <a:sym typeface="Calibri"/>
            </a:endParaRPr>
          </a:p>
        </p:txBody>
      </p:sp>
      <p:sp>
        <p:nvSpPr>
          <p:cNvPr id="533" name="Google Shape;533;g3a2ea1eac06_0_28"/>
          <p:cNvSpPr txBox="1"/>
          <p:nvPr/>
        </p:nvSpPr>
        <p:spPr>
          <a:xfrm>
            <a:off x="12621012" y="3433878"/>
            <a:ext cx="3825300" cy="4793100"/>
          </a:xfrm>
          <a:prstGeom prst="rect">
            <a:avLst/>
          </a:prstGeom>
          <a:noFill/>
          <a:ln>
            <a:noFill/>
          </a:ln>
        </p:spPr>
        <p:txBody>
          <a:bodyPr anchorCtr="0" anchor="t" bIns="108775" lIns="108775" spcFirstLastPara="1" rIns="108775" wrap="square" tIns="108775">
            <a:noAutofit/>
          </a:bodyPr>
          <a:lstStyle/>
          <a:p>
            <a:pPr indent="-355122" lvl="0" marL="544017" rtl="0" algn="l">
              <a:spcBef>
                <a:spcPts val="1428"/>
              </a:spcBef>
              <a:spcAft>
                <a:spcPts val="0"/>
              </a:spcAft>
              <a:buClr>
                <a:schemeClr val="lt1"/>
              </a:buClr>
              <a:buSzPts val="1309"/>
              <a:buFont typeface="Arial"/>
              <a:buChar char="●"/>
            </a:pPr>
            <a:r>
              <a:rPr lang="es-CL" sz="2260">
                <a:solidFill>
                  <a:schemeClr val="lt1"/>
                </a:solidFill>
                <a:latin typeface="Calibri"/>
                <a:ea typeface="Calibri"/>
                <a:cs typeface="Calibri"/>
                <a:sym typeface="Calibri"/>
              </a:rPr>
              <a:t>Protege obras y software; define derechos morales y patrimoniales.</a:t>
            </a:r>
            <a:br>
              <a:rPr lang="es-CL" sz="2260">
                <a:solidFill>
                  <a:schemeClr val="lt1"/>
                </a:solidFill>
                <a:latin typeface="Calibri"/>
                <a:ea typeface="Calibri"/>
                <a:cs typeface="Calibri"/>
                <a:sym typeface="Calibri"/>
              </a:rPr>
            </a:br>
            <a:endParaRPr sz="2260">
              <a:solidFill>
                <a:schemeClr val="lt1"/>
              </a:solidFill>
              <a:latin typeface="Calibri"/>
              <a:ea typeface="Calibri"/>
              <a:cs typeface="Calibri"/>
              <a:sym typeface="Calibri"/>
            </a:endParaRPr>
          </a:p>
          <a:p>
            <a:pPr indent="-355122" lvl="0" marL="544017" rtl="0" algn="l">
              <a:spcBef>
                <a:spcPts val="0"/>
              </a:spcBef>
              <a:spcAft>
                <a:spcPts val="0"/>
              </a:spcAft>
              <a:buClr>
                <a:schemeClr val="lt1"/>
              </a:buClr>
              <a:buSzPts val="1309"/>
              <a:buFont typeface="Arial"/>
              <a:buChar char="●"/>
            </a:pPr>
            <a:r>
              <a:rPr lang="es-CL" sz="2260">
                <a:solidFill>
                  <a:schemeClr val="lt1"/>
                </a:solidFill>
                <a:latin typeface="Calibri"/>
                <a:ea typeface="Calibri"/>
                <a:cs typeface="Calibri"/>
                <a:sym typeface="Calibri"/>
              </a:rPr>
              <a:t>Incluye excepciones bajo la regla de tres pasos.</a:t>
            </a:r>
            <a:br>
              <a:rPr lang="es-CL" sz="2260">
                <a:solidFill>
                  <a:schemeClr val="lt1"/>
                </a:solidFill>
                <a:latin typeface="Calibri"/>
                <a:ea typeface="Calibri"/>
                <a:cs typeface="Calibri"/>
                <a:sym typeface="Calibri"/>
              </a:rPr>
            </a:br>
            <a:endParaRPr sz="2260">
              <a:solidFill>
                <a:schemeClr val="lt1"/>
              </a:solidFill>
              <a:latin typeface="Calibri"/>
              <a:ea typeface="Calibri"/>
              <a:cs typeface="Calibri"/>
              <a:sym typeface="Calibri"/>
            </a:endParaRPr>
          </a:p>
          <a:p>
            <a:pPr indent="-355122" lvl="0" marL="544017" rtl="0" algn="l">
              <a:spcBef>
                <a:spcPts val="0"/>
              </a:spcBef>
              <a:spcAft>
                <a:spcPts val="0"/>
              </a:spcAft>
              <a:buClr>
                <a:schemeClr val="lt1"/>
              </a:buClr>
              <a:buSzPts val="1309"/>
              <a:buFont typeface="Arial"/>
              <a:buChar char="●"/>
            </a:pPr>
            <a:r>
              <a:rPr lang="es-CL" sz="2260">
                <a:solidFill>
                  <a:schemeClr val="lt1"/>
                </a:solidFill>
                <a:latin typeface="Calibri"/>
                <a:ea typeface="Calibri"/>
                <a:cs typeface="Calibri"/>
                <a:sym typeface="Calibri"/>
              </a:rPr>
              <a:t>Normas de responsabilidad para proveedores de Internet y medidas civiles/penales.</a:t>
            </a:r>
            <a:br>
              <a:rPr lang="es-CL" sz="2260">
                <a:solidFill>
                  <a:schemeClr val="lt1"/>
                </a:solidFill>
                <a:latin typeface="Calibri"/>
                <a:ea typeface="Calibri"/>
                <a:cs typeface="Calibri"/>
                <a:sym typeface="Calibri"/>
              </a:rPr>
            </a:br>
            <a:endParaRPr sz="2260">
              <a:solidFill>
                <a:schemeClr val="lt1"/>
              </a:solidFill>
              <a:latin typeface="Calibri"/>
              <a:ea typeface="Calibri"/>
              <a:cs typeface="Calibri"/>
              <a:sym typeface="Calibri"/>
            </a:endParaRPr>
          </a:p>
          <a:p>
            <a:pPr indent="0" lvl="0" marL="0" rtl="0" algn="l">
              <a:spcBef>
                <a:spcPts val="1428"/>
              </a:spcBef>
              <a:spcAft>
                <a:spcPts val="0"/>
              </a:spcAft>
              <a:buNone/>
            </a:pPr>
            <a:r>
              <a:t/>
            </a:r>
            <a:endParaRPr sz="1903">
              <a:solidFill>
                <a:schemeClr val="lt1"/>
              </a:solidFill>
              <a:latin typeface="Calibri"/>
              <a:ea typeface="Calibri"/>
              <a:cs typeface="Calibri"/>
              <a:sym typeface="Calibri"/>
            </a:endParaRPr>
          </a:p>
        </p:txBody>
      </p:sp>
      <p:sp>
        <p:nvSpPr>
          <p:cNvPr id="534" name="Google Shape;534;g3a2ea1eac06_0_28"/>
          <p:cNvSpPr/>
          <p:nvPr/>
        </p:nvSpPr>
        <p:spPr>
          <a:xfrm>
            <a:off x="7473800" y="7498000"/>
            <a:ext cx="2760000" cy="27408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535" name="Google Shape;535;g3a2ea1eac06_0_28"/>
          <p:cNvCxnSpPr/>
          <p:nvPr/>
        </p:nvCxnSpPr>
        <p:spPr>
          <a:xfrm flipH="1" rot="10800000">
            <a:off x="6973100" y="3292050"/>
            <a:ext cx="3710400" cy="12600"/>
          </a:xfrm>
          <a:prstGeom prst="straightConnector1">
            <a:avLst/>
          </a:prstGeom>
          <a:noFill/>
          <a:ln cap="flat" cmpd="sng" w="9525">
            <a:solidFill>
              <a:srgbClr val="F39C12"/>
            </a:solidFill>
            <a:prstDash val="solid"/>
            <a:round/>
            <a:headEnd len="med" w="med" type="none"/>
            <a:tailEnd len="med" w="med" type="none"/>
          </a:ln>
        </p:spPr>
      </p:cxnSp>
      <p:cxnSp>
        <p:nvCxnSpPr>
          <p:cNvPr id="536" name="Google Shape;536;g3a2ea1eac06_0_28"/>
          <p:cNvCxnSpPr/>
          <p:nvPr/>
        </p:nvCxnSpPr>
        <p:spPr>
          <a:xfrm flipH="1" rot="10800000">
            <a:off x="1449725" y="3292050"/>
            <a:ext cx="3710400" cy="12600"/>
          </a:xfrm>
          <a:prstGeom prst="straightConnector1">
            <a:avLst/>
          </a:prstGeom>
          <a:noFill/>
          <a:ln cap="flat" cmpd="sng" w="9525">
            <a:solidFill>
              <a:srgbClr val="F39C12"/>
            </a:solidFill>
            <a:prstDash val="solid"/>
            <a:round/>
            <a:headEnd len="med" w="med" type="none"/>
            <a:tailEnd len="med" w="med" type="none"/>
          </a:ln>
        </p:spPr>
      </p:cxnSp>
      <p:cxnSp>
        <p:nvCxnSpPr>
          <p:cNvPr id="537" name="Google Shape;537;g3a2ea1eac06_0_28"/>
          <p:cNvCxnSpPr/>
          <p:nvPr/>
        </p:nvCxnSpPr>
        <p:spPr>
          <a:xfrm flipH="1" rot="10800000">
            <a:off x="12678450" y="3292050"/>
            <a:ext cx="3710400" cy="12600"/>
          </a:xfrm>
          <a:prstGeom prst="straightConnector1">
            <a:avLst/>
          </a:prstGeom>
          <a:noFill/>
          <a:ln cap="flat" cmpd="sng" w="9525">
            <a:solidFill>
              <a:srgbClr val="F39C12"/>
            </a:solidFill>
            <a:prstDash val="solid"/>
            <a:round/>
            <a:headEnd len="med" w="med" type="none"/>
            <a:tailEnd len="med" w="med" type="none"/>
          </a:ln>
        </p:spPr>
      </p:cxnSp>
      <p:sp>
        <p:nvSpPr>
          <p:cNvPr id="538" name="Google Shape;538;g3a2ea1eac06_0_28"/>
          <p:cNvSpPr/>
          <p:nvPr/>
        </p:nvSpPr>
        <p:spPr>
          <a:xfrm>
            <a:off x="13377500" y="7574250"/>
            <a:ext cx="2760000" cy="26010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39" name="Google Shape;539;g3a2ea1eac06_0_28"/>
          <p:cNvSpPr/>
          <p:nvPr/>
        </p:nvSpPr>
        <p:spPr>
          <a:xfrm>
            <a:off x="1982050" y="7811850"/>
            <a:ext cx="2472600" cy="23634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g3a2ea1eac06_0_28"/>
          <p:cNvSpPr txBox="1"/>
          <p:nvPr/>
        </p:nvSpPr>
        <p:spPr>
          <a:xfrm>
            <a:off x="3847125" y="310100"/>
            <a:ext cx="9378000" cy="58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5800">
                <a:latin typeface="Calibri"/>
                <a:ea typeface="Calibri"/>
                <a:cs typeface="Calibri"/>
                <a:sym typeface="Calibri"/>
              </a:rPr>
              <a:t>ISOS</a:t>
            </a:r>
            <a:r>
              <a:rPr b="1" lang="es-CL" sz="5800">
                <a:latin typeface="Calibri"/>
                <a:ea typeface="Calibri"/>
                <a:cs typeface="Calibri"/>
                <a:sym typeface="Calibri"/>
              </a:rPr>
              <a:t> Consideradas</a:t>
            </a:r>
            <a:endParaRPr b="1" sz="5800">
              <a:latin typeface="Calibri"/>
              <a:ea typeface="Calibri"/>
              <a:cs typeface="Calibri"/>
              <a:sym typeface="Calibri"/>
            </a:endParaRPr>
          </a:p>
        </p:txBody>
      </p:sp>
      <p:pic>
        <p:nvPicPr>
          <p:cNvPr descr="Security lock icon / black color (proporcionado por Getty Images)" id="541" name="Google Shape;541;g3a2ea1eac06_0_28"/>
          <p:cNvPicPr preferRelativeResize="0"/>
          <p:nvPr/>
        </p:nvPicPr>
        <p:blipFill>
          <a:blip r:embed="rId4">
            <a:alphaModFix/>
          </a:blip>
          <a:stretch>
            <a:fillRect/>
          </a:stretch>
        </p:blipFill>
        <p:spPr>
          <a:xfrm>
            <a:off x="2398525" y="8134125"/>
            <a:ext cx="1653274" cy="1653274"/>
          </a:xfrm>
          <a:prstGeom prst="rect">
            <a:avLst/>
          </a:prstGeom>
          <a:noFill/>
          <a:ln>
            <a:noFill/>
          </a:ln>
        </p:spPr>
      </p:pic>
      <p:pic>
        <p:nvPicPr>
          <p:cNvPr descr="Approved, ok, trusted, accepted icon (proporcionado por Getty Images)" id="542" name="Google Shape;542;g3a2ea1eac06_0_28"/>
          <p:cNvPicPr preferRelativeResize="0"/>
          <p:nvPr/>
        </p:nvPicPr>
        <p:blipFill>
          <a:blip r:embed="rId5">
            <a:alphaModFix/>
          </a:blip>
          <a:stretch>
            <a:fillRect/>
          </a:stretch>
        </p:blipFill>
        <p:spPr>
          <a:xfrm>
            <a:off x="7998376" y="7950550"/>
            <a:ext cx="1848402" cy="1848402"/>
          </a:xfrm>
          <a:prstGeom prst="rect">
            <a:avLst/>
          </a:prstGeom>
          <a:noFill/>
          <a:ln>
            <a:noFill/>
          </a:ln>
        </p:spPr>
      </p:pic>
      <p:pic>
        <p:nvPicPr>
          <p:cNvPr descr="Computer, Desktop PC Icon (proporcionado por Getty Images)" id="543" name="Google Shape;543;g3a2ea1eac06_0_28"/>
          <p:cNvPicPr preferRelativeResize="0"/>
          <p:nvPr/>
        </p:nvPicPr>
        <p:blipFill>
          <a:blip r:embed="rId6">
            <a:alphaModFix/>
          </a:blip>
          <a:stretch>
            <a:fillRect/>
          </a:stretch>
        </p:blipFill>
        <p:spPr>
          <a:xfrm>
            <a:off x="13833300" y="7944200"/>
            <a:ext cx="1848402" cy="1848402"/>
          </a:xfrm>
          <a:prstGeom prst="rect">
            <a:avLst/>
          </a:prstGeom>
          <a:noFill/>
          <a:ln>
            <a:noFill/>
          </a:ln>
        </p:spPr>
      </p:pic>
      <p:cxnSp>
        <p:nvCxnSpPr>
          <p:cNvPr id="544" name="Google Shape;544;g3a2ea1eac06_0_28"/>
          <p:cNvCxnSpPr/>
          <p:nvPr/>
        </p:nvCxnSpPr>
        <p:spPr>
          <a:xfrm flipH="1" rot="10800000">
            <a:off x="5463675" y="1265725"/>
            <a:ext cx="6144900" cy="4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g3992a4233df_1_21"/>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a:t>
            </a:r>
            <a:r>
              <a:rPr b="1" lang="es-CL" sz="9600">
                <a:solidFill>
                  <a:srgbClr val="257CE1"/>
                </a:solidFill>
                <a:latin typeface="Arial Black"/>
                <a:ea typeface="Arial Black"/>
                <a:cs typeface="Arial Black"/>
                <a:sym typeface="Arial Black"/>
              </a:rPr>
              <a:t>7</a:t>
            </a:r>
            <a:endParaRPr b="0" i="0" sz="1400" u="none" cap="none" strike="noStrike">
              <a:solidFill>
                <a:srgbClr val="000000"/>
              </a:solidFill>
              <a:latin typeface="Arial"/>
              <a:ea typeface="Arial"/>
              <a:cs typeface="Arial"/>
              <a:sym typeface="Arial"/>
            </a:endParaRPr>
          </a:p>
        </p:txBody>
      </p:sp>
      <p:sp>
        <p:nvSpPr>
          <p:cNvPr id="550" name="Google Shape;550;g3992a4233df_1_21"/>
          <p:cNvSpPr txBox="1"/>
          <p:nvPr>
            <p:ph type="title"/>
          </p:nvPr>
        </p:nvSpPr>
        <p:spPr>
          <a:xfrm>
            <a:off x="7549150" y="7250550"/>
            <a:ext cx="9020100" cy="363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Diseño Frontend y QA</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descr="image.png" id="556" name="Google Shape;556;g3992a4233df_1_16"/>
          <p:cNvPicPr preferRelativeResize="0"/>
          <p:nvPr/>
        </p:nvPicPr>
        <p:blipFill rotWithShape="1">
          <a:blip r:embed="rId3">
            <a:alphaModFix/>
          </a:blip>
          <a:srcRect b="0" l="0" r="0" t="0"/>
          <a:stretch/>
        </p:blipFill>
        <p:spPr>
          <a:xfrm>
            <a:off x="1150925" y="310550"/>
            <a:ext cx="15141525" cy="2995100"/>
          </a:xfrm>
          <a:prstGeom prst="rect">
            <a:avLst/>
          </a:prstGeom>
          <a:noFill/>
          <a:ln>
            <a:noFill/>
          </a:ln>
        </p:spPr>
      </p:pic>
      <p:sp>
        <p:nvSpPr>
          <p:cNvPr id="557" name="Google Shape;557;g3992a4233df_1_16"/>
          <p:cNvSpPr txBox="1"/>
          <p:nvPr>
            <p:ph idx="1" type="body"/>
          </p:nvPr>
        </p:nvSpPr>
        <p:spPr>
          <a:xfrm>
            <a:off x="1273425" y="590075"/>
            <a:ext cx="14488200" cy="2886000"/>
          </a:xfrm>
          <a:prstGeom prst="rect">
            <a:avLst/>
          </a:prstGeom>
        </p:spPr>
        <p:txBody>
          <a:bodyPr anchorCtr="0" anchor="t" bIns="0" lIns="0" spcFirstLastPara="1" rIns="0" wrap="square" tIns="0">
            <a:spAutoFit/>
          </a:bodyPr>
          <a:lstStyle/>
          <a:p>
            <a:pPr indent="-387350" lvl="0" marL="457200" rtl="0" algn="l">
              <a:lnSpc>
                <a:spcPct val="115000"/>
              </a:lnSpc>
              <a:spcBef>
                <a:spcPts val="0"/>
              </a:spcBef>
              <a:spcAft>
                <a:spcPts val="0"/>
              </a:spcAft>
              <a:buClr>
                <a:schemeClr val="lt1"/>
              </a:buClr>
              <a:buSzPts val="2500"/>
              <a:buFont typeface="Arial"/>
              <a:buChar char="●"/>
            </a:pPr>
            <a:r>
              <a:rPr b="0" lang="es-CL" sz="2500">
                <a:solidFill>
                  <a:schemeClr val="lt1"/>
                </a:solidFill>
              </a:rPr>
              <a:t>Diseño web: Interfaz responsiva, principales categorías con filtros y buscador, carga en menos de 3 segundos, validada en dispositivos y navegadores. Mockups en Figma, estilos con Canva.</a:t>
            </a:r>
            <a:endParaRPr b="0" sz="2500">
              <a:solidFill>
                <a:schemeClr val="lt1"/>
              </a:solidFill>
            </a:endParaRPr>
          </a:p>
          <a:p>
            <a:pPr indent="0" lvl="0" marL="457200" rtl="0" algn="l">
              <a:lnSpc>
                <a:spcPct val="115000"/>
              </a:lnSpc>
              <a:spcBef>
                <a:spcPts val="0"/>
              </a:spcBef>
              <a:spcAft>
                <a:spcPts val="0"/>
              </a:spcAft>
              <a:buNone/>
            </a:pPr>
            <a:r>
              <a:t/>
            </a:r>
            <a:endParaRPr b="0" sz="2500">
              <a:solidFill>
                <a:schemeClr val="lt1"/>
              </a:solidFill>
            </a:endParaRPr>
          </a:p>
          <a:p>
            <a:pPr indent="-387350" lvl="0" marL="457200" rtl="0" algn="l">
              <a:lnSpc>
                <a:spcPct val="115000"/>
              </a:lnSpc>
              <a:spcBef>
                <a:spcPts val="0"/>
              </a:spcBef>
              <a:spcAft>
                <a:spcPts val="0"/>
              </a:spcAft>
              <a:buClr>
                <a:schemeClr val="lt1"/>
              </a:buClr>
              <a:buSzPts val="2500"/>
              <a:buFont typeface="Arial"/>
              <a:buChar char="●"/>
            </a:pPr>
            <a:r>
              <a:rPr b="0" lang="es-CL" sz="2500">
                <a:solidFill>
                  <a:schemeClr val="lt1"/>
                </a:solidFill>
              </a:rPr>
              <a:t>Pruebas QA: Checklist de compatibilidad y accesibilidad, flujo real de carga de noticias, reducción &lt;20 minutos por publicación, 80% equipo publica autónomamente, validación Google Mobile Friendly.</a:t>
            </a:r>
            <a:endParaRPr b="0" sz="2500">
              <a:solidFill>
                <a:schemeClr val="lt1"/>
              </a:solidFill>
            </a:endParaRPr>
          </a:p>
          <a:p>
            <a:pPr indent="0" lvl="0" marL="0" rtl="0" algn="r">
              <a:spcBef>
                <a:spcPts val="0"/>
              </a:spcBef>
              <a:spcAft>
                <a:spcPts val="0"/>
              </a:spcAft>
              <a:buNone/>
            </a:pPr>
            <a:r>
              <a:t/>
            </a:r>
            <a:endParaRPr b="0" sz="1500">
              <a:solidFill>
                <a:schemeClr val="lt1"/>
              </a:solidFill>
              <a:latin typeface="Roboto"/>
              <a:ea typeface="Roboto"/>
              <a:cs typeface="Roboto"/>
              <a:sym typeface="Roboto"/>
            </a:endParaRPr>
          </a:p>
        </p:txBody>
      </p:sp>
      <p:pic>
        <p:nvPicPr>
          <p:cNvPr id="558" name="Google Shape;558;g3992a4233df_1_16"/>
          <p:cNvPicPr preferRelativeResize="0"/>
          <p:nvPr/>
        </p:nvPicPr>
        <p:blipFill>
          <a:blip r:embed="rId4">
            <a:alphaModFix/>
          </a:blip>
          <a:stretch>
            <a:fillRect/>
          </a:stretch>
        </p:blipFill>
        <p:spPr>
          <a:xfrm>
            <a:off x="11107875" y="3518000"/>
            <a:ext cx="7810999" cy="7342251"/>
          </a:xfrm>
          <a:prstGeom prst="rect">
            <a:avLst/>
          </a:prstGeom>
          <a:noFill/>
          <a:ln>
            <a:noFill/>
          </a:ln>
        </p:spPr>
      </p:pic>
      <p:pic>
        <p:nvPicPr>
          <p:cNvPr id="559" name="Google Shape;559;g3992a4233df_1_16"/>
          <p:cNvPicPr preferRelativeResize="0"/>
          <p:nvPr/>
        </p:nvPicPr>
        <p:blipFill>
          <a:blip r:embed="rId5">
            <a:alphaModFix/>
          </a:blip>
          <a:stretch>
            <a:fillRect/>
          </a:stretch>
        </p:blipFill>
        <p:spPr>
          <a:xfrm>
            <a:off x="6317375" y="3701713"/>
            <a:ext cx="3158050" cy="6415749"/>
          </a:xfrm>
          <a:prstGeom prst="rect">
            <a:avLst/>
          </a:prstGeom>
          <a:noFill/>
          <a:ln>
            <a:noFill/>
          </a:ln>
        </p:spPr>
      </p:pic>
      <p:pic>
        <p:nvPicPr>
          <p:cNvPr id="560" name="Google Shape;560;g3992a4233df_1_16"/>
          <p:cNvPicPr preferRelativeResize="0"/>
          <p:nvPr/>
        </p:nvPicPr>
        <p:blipFill>
          <a:blip r:embed="rId6">
            <a:alphaModFix/>
          </a:blip>
          <a:stretch>
            <a:fillRect/>
          </a:stretch>
        </p:blipFill>
        <p:spPr>
          <a:xfrm>
            <a:off x="1655875" y="4805350"/>
            <a:ext cx="3546250" cy="3546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descr="image.png" id="566" name="Google Shape;566;g3a5555b7c7b_3_0"/>
          <p:cNvPicPr preferRelativeResize="0"/>
          <p:nvPr/>
        </p:nvPicPr>
        <p:blipFill rotWithShape="1">
          <a:blip r:embed="rId3">
            <a:alphaModFix/>
          </a:blip>
          <a:srcRect b="0" l="0" r="0" t="0"/>
          <a:stretch/>
        </p:blipFill>
        <p:spPr>
          <a:xfrm>
            <a:off x="14056550" y="1936475"/>
            <a:ext cx="5549475" cy="5365575"/>
          </a:xfrm>
          <a:prstGeom prst="rect">
            <a:avLst/>
          </a:prstGeom>
          <a:noFill/>
          <a:ln>
            <a:noFill/>
          </a:ln>
          <a:effectLst>
            <a:outerShdw blurRad="57150" rotWithShape="0" algn="bl" dir="5400000" dist="19050">
              <a:srgbClr val="000000">
                <a:alpha val="50000"/>
              </a:srgbClr>
            </a:outerShdw>
          </a:effectLst>
        </p:spPr>
      </p:pic>
      <p:pic>
        <p:nvPicPr>
          <p:cNvPr descr="image.png" id="567" name="Google Shape;567;g3a5555b7c7b_3_0"/>
          <p:cNvPicPr preferRelativeResize="0"/>
          <p:nvPr/>
        </p:nvPicPr>
        <p:blipFill rotWithShape="1">
          <a:blip r:embed="rId3">
            <a:alphaModFix/>
          </a:blip>
          <a:srcRect b="0" l="0" r="0" t="0"/>
          <a:stretch/>
        </p:blipFill>
        <p:spPr>
          <a:xfrm>
            <a:off x="7774911" y="1936475"/>
            <a:ext cx="5203475" cy="5365575"/>
          </a:xfrm>
          <a:prstGeom prst="rect">
            <a:avLst/>
          </a:prstGeom>
          <a:noFill/>
          <a:ln>
            <a:noFill/>
          </a:ln>
          <a:effectLst>
            <a:outerShdw blurRad="57150" rotWithShape="0" algn="bl" dir="5400000" dist="19050">
              <a:srgbClr val="000000">
                <a:alpha val="50000"/>
              </a:srgbClr>
            </a:outerShdw>
          </a:effectLst>
        </p:spPr>
      </p:pic>
      <p:sp>
        <p:nvSpPr>
          <p:cNvPr id="568" name="Google Shape;568;g3a5555b7c7b_3_0"/>
          <p:cNvSpPr txBox="1"/>
          <p:nvPr>
            <p:ph idx="1" type="body"/>
          </p:nvPr>
        </p:nvSpPr>
        <p:spPr>
          <a:xfrm>
            <a:off x="862476" y="755454"/>
            <a:ext cx="16792500" cy="7389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spAutoFit/>
          </a:bodyPr>
          <a:lstStyle/>
          <a:p>
            <a:pPr indent="0" lvl="0" marL="0" rtl="0" algn="r">
              <a:spcBef>
                <a:spcPts val="0"/>
              </a:spcBef>
              <a:spcAft>
                <a:spcPts val="0"/>
              </a:spcAft>
              <a:buNone/>
            </a:pPr>
            <a:r>
              <a:rPr lang="es-CL"/>
              <a:t>Pruebas de Rendimiento Jmeter</a:t>
            </a:r>
            <a:endParaRPr/>
          </a:p>
        </p:txBody>
      </p:sp>
      <p:pic>
        <p:nvPicPr>
          <p:cNvPr descr="image.png" id="569" name="Google Shape;569;g3a5555b7c7b_3_0"/>
          <p:cNvPicPr preferRelativeResize="0"/>
          <p:nvPr/>
        </p:nvPicPr>
        <p:blipFill rotWithShape="1">
          <a:blip r:embed="rId3">
            <a:alphaModFix/>
          </a:blip>
          <a:srcRect b="0" l="0" r="0" t="0"/>
          <a:stretch/>
        </p:blipFill>
        <p:spPr>
          <a:xfrm>
            <a:off x="1333249" y="1936475"/>
            <a:ext cx="5203475" cy="5365575"/>
          </a:xfrm>
          <a:prstGeom prst="rect">
            <a:avLst/>
          </a:prstGeom>
          <a:noFill/>
          <a:ln>
            <a:noFill/>
          </a:ln>
          <a:effectLst>
            <a:outerShdw blurRad="57150" rotWithShape="0" algn="bl" dir="5400000" dist="19050">
              <a:srgbClr val="000000">
                <a:alpha val="50000"/>
              </a:srgbClr>
            </a:outerShdw>
          </a:effectLst>
        </p:spPr>
      </p:pic>
      <p:pic>
        <p:nvPicPr>
          <p:cNvPr id="570" name="Google Shape;570;g3a5555b7c7b_3_0">
            <a:hlinkClick r:id="rId4"/>
          </p:cNvPr>
          <p:cNvPicPr preferRelativeResize="0"/>
          <p:nvPr/>
        </p:nvPicPr>
        <p:blipFill>
          <a:blip r:embed="rId5">
            <a:alphaModFix/>
          </a:blip>
          <a:stretch>
            <a:fillRect/>
          </a:stretch>
        </p:blipFill>
        <p:spPr>
          <a:xfrm>
            <a:off x="11923781" y="6255775"/>
            <a:ext cx="871931" cy="947200"/>
          </a:xfrm>
          <a:prstGeom prst="rect">
            <a:avLst/>
          </a:prstGeom>
          <a:noFill/>
          <a:ln>
            <a:noFill/>
          </a:ln>
          <a:effectLst>
            <a:outerShdw blurRad="57150" rotWithShape="0" algn="bl" dir="5400000" dist="19050">
              <a:srgbClr val="000000">
                <a:alpha val="50000"/>
              </a:srgbClr>
            </a:outerShdw>
          </a:effectLst>
        </p:spPr>
      </p:pic>
      <p:pic>
        <p:nvPicPr>
          <p:cNvPr descr="image.png" id="571" name="Google Shape;571;g3a5555b7c7b_3_0"/>
          <p:cNvPicPr preferRelativeResize="0"/>
          <p:nvPr/>
        </p:nvPicPr>
        <p:blipFill rotWithShape="1">
          <a:blip r:embed="rId3">
            <a:alphaModFix/>
          </a:blip>
          <a:srcRect b="0" l="0" r="0" t="0"/>
          <a:stretch/>
        </p:blipFill>
        <p:spPr>
          <a:xfrm>
            <a:off x="4330925" y="7744175"/>
            <a:ext cx="12940675" cy="2956750"/>
          </a:xfrm>
          <a:prstGeom prst="rect">
            <a:avLst/>
          </a:prstGeom>
          <a:noFill/>
          <a:ln>
            <a:noFill/>
          </a:ln>
          <a:effectLst>
            <a:outerShdw blurRad="57150" rotWithShape="0" algn="bl" dir="5400000" dist="19050">
              <a:srgbClr val="000000">
                <a:alpha val="50000"/>
              </a:srgbClr>
            </a:outerShdw>
          </a:effectLst>
        </p:spPr>
      </p:pic>
      <p:sp>
        <p:nvSpPr>
          <p:cNvPr id="572" name="Google Shape;572;g3a5555b7c7b_3_0"/>
          <p:cNvSpPr txBox="1"/>
          <p:nvPr/>
        </p:nvSpPr>
        <p:spPr>
          <a:xfrm>
            <a:off x="1655724" y="2867938"/>
            <a:ext cx="4558500" cy="34377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s-CL" sz="1600">
                <a:solidFill>
                  <a:schemeClr val="lt1"/>
                </a:solidFill>
              </a:rPr>
              <a:t>En la primera fase de la prueba, se simuló una carga de </a:t>
            </a:r>
            <a:r>
              <a:rPr b="1" lang="es-CL" sz="1600">
                <a:solidFill>
                  <a:schemeClr val="lt1"/>
                </a:solidFill>
              </a:rPr>
              <a:t>40 usuarios concurrentes</a:t>
            </a:r>
            <a:r>
              <a:rPr lang="es-CL" sz="1600">
                <a:solidFill>
                  <a:schemeClr val="lt1"/>
                </a:solidFill>
              </a:rPr>
              <a:t>. El sistema manejó esta carga inicial de manera exitosa, como se observa en la tabla de resultados (ViewResultinTable40Usuarios.png), donde todas las 40 solicitudes se completaron sin errores (estado "Success"). Los tiempos de respuesta fueron relativamente estables, con un </a:t>
            </a:r>
            <a:r>
              <a:rPr b="1" lang="es-CL" sz="1600">
                <a:solidFill>
                  <a:schemeClr val="lt1"/>
                </a:solidFill>
              </a:rPr>
              <a:t>tiempo promedio de 15,660 ms</a:t>
            </a:r>
            <a:r>
              <a:rPr lang="es-CL" sz="1600">
                <a:solidFill>
                  <a:schemeClr val="lt1"/>
                </a:solidFill>
              </a:rPr>
              <a:t> (aproximadamente 15.7 segundos) y una desviación estándar baja (2,007 ms). Esto indica que el servidor pudo procesar esta carga inicial sin inconvenientes funcionales.</a:t>
            </a:r>
            <a:endParaRPr sz="2300">
              <a:solidFill>
                <a:schemeClr val="lt1"/>
              </a:solidFill>
            </a:endParaRPr>
          </a:p>
        </p:txBody>
      </p:sp>
      <p:sp>
        <p:nvSpPr>
          <p:cNvPr id="573" name="Google Shape;573;g3a5555b7c7b_3_0"/>
          <p:cNvSpPr txBox="1"/>
          <p:nvPr/>
        </p:nvSpPr>
        <p:spPr>
          <a:xfrm>
            <a:off x="5088050" y="8354800"/>
            <a:ext cx="9028800" cy="1960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lt1"/>
                </a:solidFill>
              </a:rPr>
              <a:t>En conclusión, el análisis de las tres fases demuestra que aunque el rendimiento se degrada progresivamente a medida que aumenta la concurrencia, el sistema es capaz de soportar funcionalmente la carga de </a:t>
            </a:r>
            <a:r>
              <a:rPr b="1" lang="es-CL" sz="1800">
                <a:solidFill>
                  <a:schemeClr val="lt1"/>
                </a:solidFill>
              </a:rPr>
              <a:t>hasta 200 usuarios concurrentes</a:t>
            </a:r>
            <a:r>
              <a:rPr lang="es-CL" sz="1800">
                <a:solidFill>
                  <a:schemeClr val="lt1"/>
                </a:solidFill>
              </a:rPr>
              <a:t> sin generar errores en las solicitudes. Sin embargo, a este nivel máximo de carga, los tiempos de respuesta son excesivamente altos e inestables, lo que indica que el sistema está operando por encima de su capacidad óptima.</a:t>
            </a:r>
            <a:endParaRPr sz="2500">
              <a:solidFill>
                <a:schemeClr val="lt1"/>
              </a:solidFill>
              <a:latin typeface="Calibri"/>
              <a:ea typeface="Calibri"/>
              <a:cs typeface="Calibri"/>
              <a:sym typeface="Calibri"/>
            </a:endParaRPr>
          </a:p>
        </p:txBody>
      </p:sp>
      <p:sp>
        <p:nvSpPr>
          <p:cNvPr id="574" name="Google Shape;574;g3a5555b7c7b_3_0"/>
          <p:cNvSpPr txBox="1"/>
          <p:nvPr/>
        </p:nvSpPr>
        <p:spPr>
          <a:xfrm>
            <a:off x="1766136" y="2202775"/>
            <a:ext cx="4337700" cy="489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s-CL" sz="2100">
                <a:solidFill>
                  <a:schemeClr val="lt1"/>
                </a:solidFill>
                <a:latin typeface="Calibri"/>
                <a:ea typeface="Calibri"/>
                <a:cs typeface="Calibri"/>
                <a:sym typeface="Calibri"/>
              </a:rPr>
              <a:t>📈 Fase 1: Prueba de 40 Usuarios</a:t>
            </a:r>
            <a:endParaRPr sz="2100">
              <a:solidFill>
                <a:schemeClr val="lt1"/>
              </a:solidFill>
              <a:latin typeface="Calibri"/>
              <a:ea typeface="Calibri"/>
              <a:cs typeface="Calibri"/>
              <a:sym typeface="Calibri"/>
            </a:endParaRPr>
          </a:p>
        </p:txBody>
      </p:sp>
      <p:sp>
        <p:nvSpPr>
          <p:cNvPr id="575" name="Google Shape;575;g3a5555b7c7b_3_0"/>
          <p:cNvSpPr txBox="1"/>
          <p:nvPr/>
        </p:nvSpPr>
        <p:spPr>
          <a:xfrm>
            <a:off x="8152574" y="2582288"/>
            <a:ext cx="4558500" cy="34377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s-CL" sz="1600">
                <a:solidFill>
                  <a:schemeClr val="lt1"/>
                </a:solidFill>
              </a:rPr>
              <a:t>Para la segunda fase, la carga se incrementó significativamente a </a:t>
            </a:r>
            <a:r>
              <a:rPr b="1" lang="es-CL" sz="1600">
                <a:solidFill>
                  <a:schemeClr val="lt1"/>
                </a:solidFill>
              </a:rPr>
              <a:t>150 usuarios concurrentes</a:t>
            </a:r>
            <a:r>
              <a:rPr lang="es-CL" sz="1600">
                <a:solidFill>
                  <a:schemeClr val="lt1"/>
                </a:solidFill>
              </a:rPr>
              <a:t> (</a:t>
            </a:r>
            <a:r>
              <a:rPr lang="es-CL" sz="1600">
                <a:solidFill>
                  <a:schemeClr val="lt1"/>
                </a:solidFill>
                <a:latin typeface="Roboto Mono"/>
                <a:ea typeface="Roboto Mono"/>
                <a:cs typeface="Roboto Mono"/>
                <a:sym typeface="Roboto Mono"/>
              </a:rPr>
              <a:t>Config150Usuarios.png</a:t>
            </a:r>
            <a:r>
              <a:rPr lang="es-CL" sz="1600">
                <a:solidFill>
                  <a:schemeClr val="lt1"/>
                </a:solidFill>
              </a:rPr>
              <a:t>). Aunque el sistema continuó procesando todas las solicitudes sin errores, se observó una degradación notable en el rendimiento. El </a:t>
            </a:r>
            <a:r>
              <a:rPr b="1" lang="es-CL" sz="1600">
                <a:solidFill>
                  <a:schemeClr val="lt1"/>
                </a:solidFill>
              </a:rPr>
              <a:t>tiempo de respuesta promedio aumentó a 26,898 ms</a:t>
            </a:r>
            <a:r>
              <a:rPr lang="es-CL" sz="1600">
                <a:solidFill>
                  <a:schemeClr val="lt1"/>
                </a:solidFill>
              </a:rPr>
              <a:t> (casi 27 segundos), con una mediana de 27,064 ms, según el gráfico (</a:t>
            </a:r>
            <a:r>
              <a:rPr lang="es-CL" sz="1600">
                <a:solidFill>
                  <a:schemeClr val="lt1"/>
                </a:solidFill>
                <a:latin typeface="Roboto Mono"/>
                <a:ea typeface="Roboto Mono"/>
                <a:cs typeface="Roboto Mono"/>
                <a:sym typeface="Roboto Mono"/>
              </a:rPr>
              <a:t>Grafico150Usuarios.png</a:t>
            </a:r>
            <a:r>
              <a:rPr lang="es-CL" sz="1600">
                <a:solidFill>
                  <a:schemeClr val="lt1"/>
                </a:solidFill>
              </a:rPr>
              <a:t>). Esta gráfica muestra una clara tendencia al alza en los tiempos de respuesta, lo que sugiere que el servidor comenzó a experimentar una tensión considerable para manejar el aumento de solicitudes.</a:t>
            </a:r>
            <a:endParaRPr sz="1600">
              <a:solidFill>
                <a:schemeClr val="lt1"/>
              </a:solidFill>
            </a:endParaRPr>
          </a:p>
        </p:txBody>
      </p:sp>
      <p:sp>
        <p:nvSpPr>
          <p:cNvPr id="576" name="Google Shape;576;g3a5555b7c7b_3_0"/>
          <p:cNvSpPr txBox="1"/>
          <p:nvPr/>
        </p:nvSpPr>
        <p:spPr>
          <a:xfrm>
            <a:off x="8207786" y="2093300"/>
            <a:ext cx="4337700" cy="489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s-CL" sz="2100">
                <a:solidFill>
                  <a:schemeClr val="lt1"/>
                </a:solidFill>
                <a:latin typeface="Calibri"/>
                <a:ea typeface="Calibri"/>
                <a:cs typeface="Calibri"/>
                <a:sym typeface="Calibri"/>
              </a:rPr>
              <a:t>💹 Fase 2: Prueba de 150 Usuarios</a:t>
            </a:r>
            <a:endParaRPr sz="2100">
              <a:solidFill>
                <a:schemeClr val="lt1"/>
              </a:solidFill>
              <a:latin typeface="Calibri"/>
              <a:ea typeface="Calibri"/>
              <a:cs typeface="Calibri"/>
              <a:sym typeface="Calibri"/>
            </a:endParaRPr>
          </a:p>
        </p:txBody>
      </p:sp>
      <p:sp>
        <p:nvSpPr>
          <p:cNvPr id="577" name="Google Shape;577;g3a5555b7c7b_3_0"/>
          <p:cNvSpPr txBox="1"/>
          <p:nvPr/>
        </p:nvSpPr>
        <p:spPr>
          <a:xfrm>
            <a:off x="14295686" y="2631888"/>
            <a:ext cx="4558500" cy="34377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dk1"/>
              </a:buClr>
              <a:buSzPts val="1100"/>
              <a:buFont typeface="Arial"/>
              <a:buNone/>
            </a:pPr>
            <a:r>
              <a:rPr lang="es-CL" sz="1600">
                <a:solidFill>
                  <a:schemeClr val="lt1"/>
                </a:solidFill>
              </a:rPr>
              <a:t>La tercera y última fase llevó la prueba a </a:t>
            </a:r>
            <a:r>
              <a:rPr b="1" lang="es-CL" sz="1600">
                <a:solidFill>
                  <a:schemeClr val="lt1"/>
                </a:solidFill>
              </a:rPr>
              <a:t>200 usuarios concurrentes</a:t>
            </a:r>
            <a:r>
              <a:rPr lang="es-CL" sz="1600">
                <a:solidFill>
                  <a:schemeClr val="lt1"/>
                </a:solidFill>
              </a:rPr>
              <a:t>. En este punto, si bien la aplicación siguió respondiendo a todas las 200 solicitudes sin fallos (como se ve en </a:t>
            </a:r>
            <a:r>
              <a:rPr lang="es-CL" sz="1600">
                <a:solidFill>
                  <a:schemeClr val="lt1"/>
                </a:solidFill>
                <a:latin typeface="Roboto Mono"/>
                <a:ea typeface="Roboto Mono"/>
                <a:cs typeface="Roboto Mono"/>
                <a:sym typeface="Roboto Mono"/>
              </a:rPr>
              <a:t>ViewResulTable200Usuarios.png</a:t>
            </a:r>
            <a:r>
              <a:rPr lang="es-CL" sz="1600">
                <a:solidFill>
                  <a:schemeClr val="lt1"/>
                </a:solidFill>
              </a:rPr>
              <a:t>), el impacto en el rendimiento fue severo. El </a:t>
            </a:r>
            <a:r>
              <a:rPr b="1" lang="es-CL" sz="1600">
                <a:solidFill>
                  <a:schemeClr val="lt1"/>
                </a:solidFill>
              </a:rPr>
              <a:t>tiempo de respuesta promedio se elevó a 37,880 ms</a:t>
            </a:r>
            <a:r>
              <a:rPr lang="es-CL" sz="1600">
                <a:solidFill>
                  <a:schemeClr val="lt1"/>
                </a:solidFill>
              </a:rPr>
              <a:t> (casi 38 segundos), y la mediana alcanzó los 39,121 ms. Los tiempos se volvieron muy erráticos, con un máximo registrado de 52,204 ms (52 segundos) y una desviación estándar que se disparó a 11,629 ms (</a:t>
            </a:r>
            <a:r>
              <a:rPr lang="es-CL" sz="1600">
                <a:solidFill>
                  <a:schemeClr val="lt1"/>
                </a:solidFill>
                <a:latin typeface="Roboto Mono"/>
                <a:ea typeface="Roboto Mono"/>
                <a:cs typeface="Roboto Mono"/>
                <a:sym typeface="Roboto Mono"/>
              </a:rPr>
              <a:t>Grafico200Usuarios.png</a:t>
            </a:r>
            <a:r>
              <a:rPr lang="es-CL" sz="1600">
                <a:solidFill>
                  <a:schemeClr val="lt1"/>
                </a:solidFill>
              </a:rPr>
              <a:t>), lo que demuestra una alta inestabilidad y una experiencia de usuario muy degradada.</a:t>
            </a:r>
            <a:endParaRPr sz="1600">
              <a:solidFill>
                <a:schemeClr val="lt1"/>
              </a:solidFill>
            </a:endParaRPr>
          </a:p>
          <a:p>
            <a:pPr indent="0" lvl="0" marL="0" rtl="0" algn="l">
              <a:spcBef>
                <a:spcPts val="1200"/>
              </a:spcBef>
              <a:spcAft>
                <a:spcPts val="0"/>
              </a:spcAft>
              <a:buNone/>
            </a:pPr>
            <a:r>
              <a:t/>
            </a:r>
            <a:endParaRPr sz="1600">
              <a:solidFill>
                <a:schemeClr val="lt1"/>
              </a:solidFill>
            </a:endParaRPr>
          </a:p>
        </p:txBody>
      </p:sp>
      <p:pic>
        <p:nvPicPr>
          <p:cNvPr id="578" name="Google Shape;578;g3a5555b7c7b_3_0"/>
          <p:cNvPicPr preferRelativeResize="0"/>
          <p:nvPr/>
        </p:nvPicPr>
        <p:blipFill>
          <a:blip r:embed="rId6">
            <a:alphaModFix/>
          </a:blip>
          <a:stretch>
            <a:fillRect/>
          </a:stretch>
        </p:blipFill>
        <p:spPr>
          <a:xfrm>
            <a:off x="14222200" y="8213338"/>
            <a:ext cx="2740602" cy="1690575"/>
          </a:xfrm>
          <a:prstGeom prst="rect">
            <a:avLst/>
          </a:prstGeom>
          <a:noFill/>
          <a:ln>
            <a:noFill/>
          </a:ln>
          <a:effectLst>
            <a:outerShdw blurRad="57150" rotWithShape="0" algn="bl" dir="5400000" dist="19050">
              <a:srgbClr val="000000">
                <a:alpha val="50000"/>
              </a:srgbClr>
            </a:outerShdw>
          </a:effectLst>
        </p:spPr>
      </p:pic>
      <p:sp>
        <p:nvSpPr>
          <p:cNvPr id="579" name="Google Shape;579;g3a5555b7c7b_3_0"/>
          <p:cNvSpPr txBox="1"/>
          <p:nvPr/>
        </p:nvSpPr>
        <p:spPr>
          <a:xfrm>
            <a:off x="14412536" y="2093300"/>
            <a:ext cx="4337700" cy="489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s-CL" sz="1900">
                <a:solidFill>
                  <a:schemeClr val="lt1"/>
                </a:solidFill>
              </a:rPr>
              <a:t>📉 Fase 3: Prueba de 200 Usuarios</a:t>
            </a:r>
            <a:endParaRPr sz="1900">
              <a:solidFill>
                <a:schemeClr val="lt1"/>
              </a:solidFill>
            </a:endParaRPr>
          </a:p>
          <a:p>
            <a:pPr indent="0" lvl="0" marL="0" rtl="0" algn="l">
              <a:spcBef>
                <a:spcPts val="400"/>
              </a:spcBef>
              <a:spcAft>
                <a:spcPts val="0"/>
              </a:spcAft>
              <a:buNone/>
            </a:pPr>
            <a:r>
              <a:t/>
            </a:r>
            <a:endParaRPr sz="2100">
              <a:solidFill>
                <a:schemeClr val="lt1"/>
              </a:solidFill>
              <a:latin typeface="Calibri"/>
              <a:ea typeface="Calibri"/>
              <a:cs typeface="Calibri"/>
              <a:sym typeface="Calibri"/>
            </a:endParaRPr>
          </a:p>
        </p:txBody>
      </p:sp>
      <p:pic>
        <p:nvPicPr>
          <p:cNvPr id="580" name="Google Shape;580;g3a5555b7c7b_3_0">
            <a:hlinkClick r:id="rId7"/>
          </p:cNvPr>
          <p:cNvPicPr preferRelativeResize="0"/>
          <p:nvPr/>
        </p:nvPicPr>
        <p:blipFill>
          <a:blip r:embed="rId5">
            <a:alphaModFix/>
          </a:blip>
          <a:stretch>
            <a:fillRect/>
          </a:stretch>
        </p:blipFill>
        <p:spPr>
          <a:xfrm>
            <a:off x="18614993" y="6069600"/>
            <a:ext cx="871931" cy="947200"/>
          </a:xfrm>
          <a:prstGeom prst="rect">
            <a:avLst/>
          </a:prstGeom>
          <a:noFill/>
          <a:ln>
            <a:noFill/>
          </a:ln>
          <a:effectLst>
            <a:outerShdw blurRad="57150" rotWithShape="0" algn="bl" dir="5400000" dist="19050">
              <a:srgbClr val="000000">
                <a:alpha val="50000"/>
              </a:srgbClr>
            </a:outerShdw>
          </a:effectLst>
        </p:spPr>
      </p:pic>
      <p:pic>
        <p:nvPicPr>
          <p:cNvPr id="581" name="Google Shape;581;g3a5555b7c7b_3_0">
            <a:hlinkClick r:id="rId8"/>
          </p:cNvPr>
          <p:cNvPicPr preferRelativeResize="0"/>
          <p:nvPr/>
        </p:nvPicPr>
        <p:blipFill>
          <a:blip r:embed="rId5">
            <a:alphaModFix/>
          </a:blip>
          <a:stretch>
            <a:fillRect/>
          </a:stretch>
        </p:blipFill>
        <p:spPr>
          <a:xfrm>
            <a:off x="5585668" y="6223300"/>
            <a:ext cx="871931" cy="947200"/>
          </a:xfrm>
          <a:prstGeom prst="rect">
            <a:avLst/>
          </a:prstGeom>
          <a:noFill/>
          <a:ln>
            <a:noFill/>
          </a:ln>
          <a:effectLst>
            <a:outerShdw blurRad="57150" rotWithShape="0" algn="bl" dir="5400000" dist="19050">
              <a:srgbClr val="000000">
                <a:alpha val="50000"/>
              </a:srgbClr>
            </a:outerShdw>
          </a:effectLst>
        </p:spPr>
      </p:pic>
      <p:sp>
        <p:nvSpPr>
          <p:cNvPr id="582" name="Google Shape;582;g3a5555b7c7b_3_0"/>
          <p:cNvSpPr txBox="1"/>
          <p:nvPr/>
        </p:nvSpPr>
        <p:spPr>
          <a:xfrm>
            <a:off x="8399436" y="7865800"/>
            <a:ext cx="4337700" cy="489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s-CL" sz="2100">
                <a:solidFill>
                  <a:schemeClr val="lt1"/>
                </a:solidFill>
                <a:latin typeface="Calibri"/>
                <a:ea typeface="Calibri"/>
                <a:cs typeface="Calibri"/>
                <a:sym typeface="Calibri"/>
              </a:rPr>
              <a:t>🏁 Conclusión Final</a:t>
            </a:r>
            <a:endParaRPr sz="2100">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ae2f605cc2_1_0"/>
          <p:cNvSpPr txBox="1"/>
          <p:nvPr>
            <p:ph idx="1" type="body"/>
          </p:nvPr>
        </p:nvSpPr>
        <p:spPr>
          <a:xfrm>
            <a:off x="727227" y="755454"/>
            <a:ext cx="16792500" cy="7389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992a4233df_1_40"/>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a:t>
            </a:r>
            <a:r>
              <a:rPr b="1" lang="es-CL" sz="9600">
                <a:solidFill>
                  <a:srgbClr val="257CE1"/>
                </a:solidFill>
                <a:latin typeface="Arial Black"/>
                <a:ea typeface="Arial Black"/>
                <a:cs typeface="Arial Black"/>
                <a:sym typeface="Arial Black"/>
              </a:rPr>
              <a:t>8</a:t>
            </a:r>
            <a:endParaRPr b="0" i="0" sz="1400" u="none" cap="none" strike="noStrike">
              <a:solidFill>
                <a:srgbClr val="000000"/>
              </a:solidFill>
              <a:latin typeface="Arial"/>
              <a:ea typeface="Arial"/>
              <a:cs typeface="Arial"/>
              <a:sym typeface="Arial"/>
            </a:endParaRPr>
          </a:p>
        </p:txBody>
      </p:sp>
      <p:sp>
        <p:nvSpPr>
          <p:cNvPr id="594" name="Google Shape;594;g3992a4233df_1_40"/>
          <p:cNvSpPr txBox="1"/>
          <p:nvPr>
            <p:ph type="title"/>
          </p:nvPr>
        </p:nvSpPr>
        <p:spPr>
          <a:xfrm>
            <a:off x="7549150" y="7250550"/>
            <a:ext cx="9020100" cy="5033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rgbClr val="FFFFFF"/>
                </a:solidFill>
              </a:rPr>
              <a:t>RACI</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pic>
        <p:nvPicPr>
          <p:cNvPr descr="image.png" id="600" name="Google Shape;600;g3992a4233df_1_35"/>
          <p:cNvPicPr preferRelativeResize="0"/>
          <p:nvPr/>
        </p:nvPicPr>
        <p:blipFill rotWithShape="1">
          <a:blip r:embed="rId4">
            <a:alphaModFix/>
          </a:blip>
          <a:srcRect b="0" l="0" r="0" t="0"/>
          <a:stretch/>
        </p:blipFill>
        <p:spPr>
          <a:xfrm>
            <a:off x="354775" y="310550"/>
            <a:ext cx="15141525" cy="2995100"/>
          </a:xfrm>
          <a:prstGeom prst="rect">
            <a:avLst/>
          </a:prstGeom>
          <a:noFill/>
          <a:ln>
            <a:noFill/>
          </a:ln>
        </p:spPr>
      </p:pic>
      <p:sp>
        <p:nvSpPr>
          <p:cNvPr id="601" name="Google Shape;601;g3992a4233df_1_35"/>
          <p:cNvSpPr txBox="1"/>
          <p:nvPr>
            <p:ph idx="1" type="body"/>
          </p:nvPr>
        </p:nvSpPr>
        <p:spPr>
          <a:xfrm>
            <a:off x="817900" y="659850"/>
            <a:ext cx="13494300" cy="3305400"/>
          </a:xfrm>
          <a:prstGeom prst="rect">
            <a:avLst/>
          </a:prstGeom>
        </p:spPr>
        <p:txBody>
          <a:bodyPr anchorCtr="0" anchor="t" bIns="0" lIns="0" spcFirstLastPara="1" rIns="0" wrap="square" tIns="0">
            <a:spAutoFit/>
          </a:bodyPr>
          <a:lstStyle/>
          <a:p>
            <a:pPr indent="-412750" lvl="0" marL="457200" rtl="0" algn="l">
              <a:lnSpc>
                <a:spcPct val="115000"/>
              </a:lnSpc>
              <a:spcBef>
                <a:spcPts val="0"/>
              </a:spcBef>
              <a:spcAft>
                <a:spcPts val="0"/>
              </a:spcAft>
              <a:buClr>
                <a:schemeClr val="lt1"/>
              </a:buClr>
              <a:buSzPts val="2900"/>
              <a:buFont typeface="Arial"/>
              <a:buChar char="●"/>
            </a:pPr>
            <a:r>
              <a:rPr b="0" lang="es-CL" sz="2900">
                <a:solidFill>
                  <a:schemeClr val="lt1"/>
                </a:solidFill>
              </a:rPr>
              <a:t>Matriz RACI: PO aprueba, SM coordina, DBA asegura integridad, los devs implementan, QA testea.</a:t>
            </a:r>
            <a:endParaRPr b="0" sz="2900">
              <a:solidFill>
                <a:schemeClr val="lt1"/>
              </a:solidFill>
            </a:endParaRPr>
          </a:p>
          <a:p>
            <a:pPr indent="0" lvl="0" marL="457200" rtl="0" algn="l">
              <a:lnSpc>
                <a:spcPct val="115000"/>
              </a:lnSpc>
              <a:spcBef>
                <a:spcPts val="0"/>
              </a:spcBef>
              <a:spcAft>
                <a:spcPts val="0"/>
              </a:spcAft>
              <a:buNone/>
            </a:pPr>
            <a:r>
              <a:t/>
            </a:r>
            <a:endParaRPr b="0" sz="2900">
              <a:solidFill>
                <a:schemeClr val="lt1"/>
              </a:solidFill>
            </a:endParaRPr>
          </a:p>
          <a:p>
            <a:pPr indent="-412750" lvl="0" marL="457200" rtl="0" algn="l">
              <a:lnSpc>
                <a:spcPct val="115000"/>
              </a:lnSpc>
              <a:spcBef>
                <a:spcPts val="0"/>
              </a:spcBef>
              <a:spcAft>
                <a:spcPts val="0"/>
              </a:spcAft>
              <a:buClr>
                <a:schemeClr val="lt1"/>
              </a:buClr>
              <a:buSzPts val="2900"/>
              <a:buFont typeface="Arial"/>
              <a:buChar char="●"/>
            </a:pPr>
            <a:r>
              <a:rPr b="0" lang="es-CL" sz="2900">
                <a:solidFill>
                  <a:schemeClr val="lt1"/>
                </a:solidFill>
              </a:rPr>
              <a:t>Product backlog: Listado inicial de historias y tareas priorizadas conforme necesidades editoriales, técnicas y legales.</a:t>
            </a:r>
            <a:endParaRPr b="0" sz="2900">
              <a:solidFill>
                <a:schemeClr val="lt1"/>
              </a:solidFill>
            </a:endParaRPr>
          </a:p>
          <a:p>
            <a:pPr indent="0" lvl="0" marL="0" rtl="0" algn="r">
              <a:spcBef>
                <a:spcPts val="0"/>
              </a:spcBef>
              <a:spcAft>
                <a:spcPts val="0"/>
              </a:spcAft>
              <a:buNone/>
            </a:pPr>
            <a:r>
              <a:t/>
            </a:r>
            <a:endParaRPr/>
          </a:p>
        </p:txBody>
      </p:sp>
      <p:pic>
        <p:nvPicPr>
          <p:cNvPr id="602" name="Google Shape;602;g3992a4233df_1_35"/>
          <p:cNvPicPr preferRelativeResize="0"/>
          <p:nvPr/>
        </p:nvPicPr>
        <p:blipFill>
          <a:blip r:embed="rId5">
            <a:alphaModFix/>
          </a:blip>
          <a:stretch>
            <a:fillRect/>
          </a:stretch>
        </p:blipFill>
        <p:spPr>
          <a:xfrm>
            <a:off x="1170950" y="3532150"/>
            <a:ext cx="7687649" cy="6556575"/>
          </a:xfrm>
          <a:prstGeom prst="rect">
            <a:avLst/>
          </a:prstGeom>
          <a:noFill/>
          <a:ln>
            <a:noFill/>
          </a:ln>
        </p:spPr>
      </p:pic>
      <p:pic>
        <p:nvPicPr>
          <p:cNvPr id="603" name="Google Shape;603;g3992a4233df_1_35"/>
          <p:cNvPicPr preferRelativeResize="0"/>
          <p:nvPr/>
        </p:nvPicPr>
        <p:blipFill>
          <a:blip r:embed="rId6">
            <a:alphaModFix/>
          </a:blip>
          <a:stretch>
            <a:fillRect/>
          </a:stretch>
        </p:blipFill>
        <p:spPr>
          <a:xfrm>
            <a:off x="9011200" y="3637525"/>
            <a:ext cx="10940701" cy="29951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g3992a4233df_1_47"/>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a:t>
            </a:r>
            <a:r>
              <a:rPr b="1" lang="es-CL" sz="9600">
                <a:solidFill>
                  <a:srgbClr val="257CE1"/>
                </a:solidFill>
                <a:latin typeface="Arial Black"/>
                <a:ea typeface="Arial Black"/>
                <a:cs typeface="Arial Black"/>
                <a:sym typeface="Arial Black"/>
              </a:rPr>
              <a:t>9</a:t>
            </a:r>
            <a:endParaRPr b="0" i="0" sz="1400" u="none" cap="none" strike="noStrike">
              <a:solidFill>
                <a:srgbClr val="000000"/>
              </a:solidFill>
              <a:latin typeface="Arial"/>
              <a:ea typeface="Arial"/>
              <a:cs typeface="Arial"/>
              <a:sym typeface="Arial"/>
            </a:endParaRPr>
          </a:p>
        </p:txBody>
      </p:sp>
      <p:sp>
        <p:nvSpPr>
          <p:cNvPr id="609" name="Google Shape;609;g3992a4233df_1_47"/>
          <p:cNvSpPr txBox="1"/>
          <p:nvPr>
            <p:ph type="title"/>
          </p:nvPr>
        </p:nvSpPr>
        <p:spPr>
          <a:xfrm>
            <a:off x="7549150" y="7250550"/>
            <a:ext cx="9020100" cy="7601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Evidencias y Resultados</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g3a2ea1eac06_2_13"/>
          <p:cNvSpPr txBox="1"/>
          <p:nvPr>
            <p:ph idx="1" type="body"/>
          </p:nvPr>
        </p:nvSpPr>
        <p:spPr>
          <a:xfrm>
            <a:off x="1693152" y="731179"/>
            <a:ext cx="16792500" cy="14778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s-CL"/>
              <a:t>Demostración</a:t>
            </a:r>
            <a:r>
              <a:rPr lang="es-CL"/>
              <a:t> del Sitio Vista Lector / Periodista</a:t>
            </a:r>
            <a:endParaRPr/>
          </a:p>
          <a:p>
            <a:pPr indent="0" lvl="0" marL="0" rtl="0" algn="r">
              <a:spcBef>
                <a:spcPts val="0"/>
              </a:spcBef>
              <a:spcAft>
                <a:spcPts val="0"/>
              </a:spcAft>
              <a:buNone/>
            </a:pPr>
            <a:r>
              <a:t/>
            </a:r>
            <a:endParaRPr/>
          </a:p>
        </p:txBody>
      </p:sp>
      <p:pic>
        <p:nvPicPr>
          <p:cNvPr descr="image.png" id="616" name="Google Shape;616;g3a2ea1eac06_2_13"/>
          <p:cNvPicPr preferRelativeResize="0"/>
          <p:nvPr/>
        </p:nvPicPr>
        <p:blipFill rotWithShape="1">
          <a:blip r:embed="rId3">
            <a:alphaModFix/>
          </a:blip>
          <a:srcRect b="0" l="0" r="0" t="0"/>
          <a:stretch/>
        </p:blipFill>
        <p:spPr>
          <a:xfrm>
            <a:off x="3638963" y="1760225"/>
            <a:ext cx="12826175" cy="8530550"/>
          </a:xfrm>
          <a:prstGeom prst="rect">
            <a:avLst/>
          </a:prstGeom>
          <a:noFill/>
          <a:ln>
            <a:noFill/>
          </a:ln>
        </p:spPr>
      </p:pic>
      <p:cxnSp>
        <p:nvCxnSpPr>
          <p:cNvPr id="617" name="Google Shape;617;g3a2ea1eac06_2_13"/>
          <p:cNvCxnSpPr/>
          <p:nvPr/>
        </p:nvCxnSpPr>
        <p:spPr>
          <a:xfrm>
            <a:off x="7839500" y="1515500"/>
            <a:ext cx="2486700" cy="15300"/>
          </a:xfrm>
          <a:prstGeom prst="straightConnector1">
            <a:avLst/>
          </a:prstGeom>
          <a:noFill/>
          <a:ln cap="flat" cmpd="sng" w="9525">
            <a:solidFill>
              <a:schemeClr val="accent6"/>
            </a:solidFill>
            <a:prstDash val="solid"/>
            <a:round/>
            <a:headEnd len="med" w="med" type="none"/>
            <a:tailEnd len="med" w="med" type="none"/>
          </a:ln>
        </p:spPr>
      </p:cxnSp>
      <p:pic>
        <p:nvPicPr>
          <p:cNvPr id="618" name="Google Shape;618;g3a2ea1eac06_2_13" title="Tropezon">
            <a:hlinkClick r:id="rId4"/>
          </p:cNvPr>
          <p:cNvPicPr preferRelativeResize="0"/>
          <p:nvPr/>
        </p:nvPicPr>
        <p:blipFill>
          <a:blip r:embed="rId5">
            <a:alphaModFix/>
          </a:blip>
          <a:stretch>
            <a:fillRect/>
          </a:stretch>
        </p:blipFill>
        <p:spPr>
          <a:xfrm>
            <a:off x="4226263" y="2309563"/>
            <a:ext cx="11651575" cy="7431875"/>
          </a:xfrm>
          <a:prstGeom prst="rect">
            <a:avLst/>
          </a:prstGeom>
          <a:noFill/>
          <a:ln>
            <a:noFill/>
          </a:ln>
        </p:spPr>
      </p:pic>
      <p:sp>
        <p:nvSpPr>
          <p:cNvPr id="619" name="Google Shape;619;g3a2ea1eac06_2_13"/>
          <p:cNvSpPr txBox="1"/>
          <p:nvPr/>
        </p:nvSpPr>
        <p:spPr>
          <a:xfrm>
            <a:off x="-65750" y="3912250"/>
            <a:ext cx="1758900" cy="136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latin typeface="Calibri"/>
                <a:ea typeface="Calibri"/>
                <a:cs typeface="Calibri"/>
                <a:sym typeface="Calibri"/>
              </a:rPr>
              <a:t>:v</a:t>
            </a:r>
            <a:endParaRPr sz="1800">
              <a:latin typeface="Calibri"/>
              <a:ea typeface="Calibri"/>
              <a:cs typeface="Calibri"/>
              <a:sym typeface="Calibri"/>
            </a:endParaRPr>
          </a:p>
          <a:p>
            <a:pPr indent="0" lvl="0" marL="0" rtl="0" algn="l">
              <a:spcBef>
                <a:spcPts val="0"/>
              </a:spcBef>
              <a:spcAft>
                <a:spcPts val="0"/>
              </a:spcAft>
              <a:buNone/>
            </a:pPr>
            <a:r>
              <a:t/>
            </a:r>
            <a:endParaRPr sz="18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1000"/>
                                        <p:tgtEl>
                                          <p:spTgt spid="6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e1fe6db28_1_2"/>
          <p:cNvSpPr txBox="1"/>
          <p:nvPr>
            <p:ph idx="1" type="body"/>
          </p:nvPr>
        </p:nvSpPr>
        <p:spPr>
          <a:xfrm>
            <a:off x="1762277" y="670504"/>
            <a:ext cx="16792500" cy="14778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s-CL"/>
              <a:t>Demostración del Sitio Publicidad</a:t>
            </a:r>
            <a:endParaRPr/>
          </a:p>
          <a:p>
            <a:pPr indent="0" lvl="0" marL="0" rtl="0" algn="r">
              <a:spcBef>
                <a:spcPts val="0"/>
              </a:spcBef>
              <a:spcAft>
                <a:spcPts val="0"/>
              </a:spcAft>
              <a:buNone/>
            </a:pPr>
            <a:r>
              <a:t/>
            </a:r>
            <a:endParaRPr/>
          </a:p>
        </p:txBody>
      </p:sp>
      <p:pic>
        <p:nvPicPr>
          <p:cNvPr descr="image.png" id="626" name="Google Shape;626;g3ae1fe6db28_1_2"/>
          <p:cNvPicPr preferRelativeResize="0"/>
          <p:nvPr/>
        </p:nvPicPr>
        <p:blipFill rotWithShape="1">
          <a:blip r:embed="rId3">
            <a:alphaModFix/>
          </a:blip>
          <a:srcRect b="0" l="0" r="0" t="0"/>
          <a:stretch/>
        </p:blipFill>
        <p:spPr>
          <a:xfrm>
            <a:off x="3855875" y="1760225"/>
            <a:ext cx="12715725" cy="8530550"/>
          </a:xfrm>
          <a:prstGeom prst="rect">
            <a:avLst/>
          </a:prstGeom>
          <a:noFill/>
          <a:ln>
            <a:noFill/>
          </a:ln>
        </p:spPr>
      </p:pic>
      <p:cxnSp>
        <p:nvCxnSpPr>
          <p:cNvPr id="627" name="Google Shape;627;g3ae1fe6db28_1_2"/>
          <p:cNvCxnSpPr/>
          <p:nvPr/>
        </p:nvCxnSpPr>
        <p:spPr>
          <a:xfrm>
            <a:off x="8846050" y="1551900"/>
            <a:ext cx="2486700" cy="15300"/>
          </a:xfrm>
          <a:prstGeom prst="straightConnector1">
            <a:avLst/>
          </a:prstGeom>
          <a:noFill/>
          <a:ln cap="flat" cmpd="sng" w="9525">
            <a:solidFill>
              <a:schemeClr val="accent6"/>
            </a:solidFill>
            <a:prstDash val="solid"/>
            <a:round/>
            <a:headEnd len="med" w="med" type="none"/>
            <a:tailEnd len="med" w="med" type="none"/>
          </a:ln>
        </p:spPr>
      </p:cxnSp>
      <p:sp>
        <p:nvSpPr>
          <p:cNvPr id="628" name="Google Shape;628;g3ae1fe6db28_1_2"/>
          <p:cNvSpPr txBox="1"/>
          <p:nvPr/>
        </p:nvSpPr>
        <p:spPr>
          <a:xfrm>
            <a:off x="-65750" y="3912250"/>
            <a:ext cx="1758900" cy="136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latin typeface="Calibri"/>
                <a:ea typeface="Calibri"/>
                <a:cs typeface="Calibri"/>
                <a:sym typeface="Calibri"/>
              </a:rPr>
              <a:t>:v</a:t>
            </a:r>
            <a:endParaRPr sz="1800">
              <a:latin typeface="Calibri"/>
              <a:ea typeface="Calibri"/>
              <a:cs typeface="Calibri"/>
              <a:sym typeface="Calibri"/>
            </a:endParaRPr>
          </a:p>
          <a:p>
            <a:pPr indent="0" lvl="0" marL="0" rtl="0" algn="l">
              <a:spcBef>
                <a:spcPts val="0"/>
              </a:spcBef>
              <a:spcAft>
                <a:spcPts val="0"/>
              </a:spcAft>
              <a:buNone/>
            </a:pPr>
            <a:r>
              <a:t/>
            </a:r>
            <a:endParaRPr sz="1800">
              <a:latin typeface="Calibri"/>
              <a:ea typeface="Calibri"/>
              <a:cs typeface="Calibri"/>
              <a:sym typeface="Calibri"/>
            </a:endParaRPr>
          </a:p>
        </p:txBody>
      </p:sp>
      <p:pic>
        <p:nvPicPr>
          <p:cNvPr id="629" name="Google Shape;629;g3ae1fe6db28_1_2" title="PublicidadTropezon">
            <a:hlinkClick r:id="rId4"/>
          </p:cNvPr>
          <p:cNvPicPr preferRelativeResize="0"/>
          <p:nvPr/>
        </p:nvPicPr>
        <p:blipFill>
          <a:blip r:embed="rId5">
            <a:alphaModFix/>
          </a:blip>
          <a:stretch>
            <a:fillRect/>
          </a:stretch>
        </p:blipFill>
        <p:spPr>
          <a:xfrm>
            <a:off x="4763525" y="2030925"/>
            <a:ext cx="10790000" cy="7989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1000"/>
                                        <p:tgtEl>
                                          <p:spTgt spid="6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a5555b7c7b_2_51"/>
          <p:cNvSpPr txBox="1"/>
          <p:nvPr>
            <p:ph idx="1" type="body"/>
          </p:nvPr>
        </p:nvSpPr>
        <p:spPr>
          <a:xfrm>
            <a:off x="3093375" y="755450"/>
            <a:ext cx="14426400" cy="7389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s-CL"/>
              <a:t>Evolución</a:t>
            </a:r>
            <a:r>
              <a:rPr lang="es-CL"/>
              <a:t> de las </a:t>
            </a:r>
            <a:r>
              <a:rPr lang="es-CL"/>
              <a:t>Métricas</a:t>
            </a:r>
            <a:r>
              <a:rPr lang="es-CL"/>
              <a:t> con la </a:t>
            </a:r>
            <a:r>
              <a:rPr lang="es-CL"/>
              <a:t>implementación</a:t>
            </a:r>
            <a:endParaRPr/>
          </a:p>
        </p:txBody>
      </p:sp>
      <p:pic>
        <p:nvPicPr>
          <p:cNvPr descr="image.png" id="636" name="Google Shape;636;g3a5555b7c7b_2_51"/>
          <p:cNvPicPr preferRelativeResize="0"/>
          <p:nvPr/>
        </p:nvPicPr>
        <p:blipFill rotWithShape="1">
          <a:blip r:embed="rId3">
            <a:alphaModFix/>
          </a:blip>
          <a:srcRect b="0" l="0" r="0" t="0"/>
          <a:stretch/>
        </p:blipFill>
        <p:spPr>
          <a:xfrm>
            <a:off x="1252650" y="2329375"/>
            <a:ext cx="7848750" cy="7712275"/>
          </a:xfrm>
          <a:prstGeom prst="rect">
            <a:avLst/>
          </a:prstGeom>
          <a:noFill/>
          <a:ln>
            <a:noFill/>
          </a:ln>
        </p:spPr>
      </p:pic>
      <p:pic>
        <p:nvPicPr>
          <p:cNvPr descr="image.png" id="637" name="Google Shape;637;g3a5555b7c7b_2_51"/>
          <p:cNvPicPr preferRelativeResize="0"/>
          <p:nvPr/>
        </p:nvPicPr>
        <p:blipFill rotWithShape="1">
          <a:blip r:embed="rId3">
            <a:alphaModFix/>
          </a:blip>
          <a:srcRect b="0" l="0" r="0" t="0"/>
          <a:stretch/>
        </p:blipFill>
        <p:spPr>
          <a:xfrm>
            <a:off x="9859875" y="2329375"/>
            <a:ext cx="8683100" cy="8033250"/>
          </a:xfrm>
          <a:prstGeom prst="rect">
            <a:avLst/>
          </a:prstGeom>
          <a:noFill/>
          <a:ln>
            <a:noFill/>
          </a:ln>
        </p:spPr>
      </p:pic>
      <p:sp>
        <p:nvSpPr>
          <p:cNvPr id="638" name="Google Shape;638;g3a5555b7c7b_2_51"/>
          <p:cNvSpPr txBox="1"/>
          <p:nvPr/>
        </p:nvSpPr>
        <p:spPr>
          <a:xfrm>
            <a:off x="1072425" y="2513300"/>
            <a:ext cx="7491900" cy="15876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b="1" lang="es-CL" sz="2600" u="sng">
                <a:solidFill>
                  <a:schemeClr val="lt1"/>
                </a:solidFill>
              </a:rPr>
              <a:t>Monetario</a:t>
            </a:r>
            <a:br>
              <a:rPr lang="es-CL" sz="2600">
                <a:solidFill>
                  <a:schemeClr val="lt1"/>
                </a:solidFill>
              </a:rPr>
            </a:br>
            <a:r>
              <a:rPr lang="es-CL" sz="2600">
                <a:solidFill>
                  <a:schemeClr val="lt1"/>
                </a:solidFill>
              </a:rPr>
              <a:t>Por noticia Publicada en redes sociales se generaban de </a:t>
            </a:r>
            <a:r>
              <a:rPr b="1" lang="es-CL" sz="2600" u="sng">
                <a:solidFill>
                  <a:schemeClr val="lt1"/>
                </a:solidFill>
              </a:rPr>
              <a:t>2-14</a:t>
            </a:r>
            <a:r>
              <a:rPr lang="es-CL" sz="2600">
                <a:solidFill>
                  <a:schemeClr val="lt1"/>
                </a:solidFill>
              </a:rPr>
              <a:t> pesos </a:t>
            </a:r>
            <a:r>
              <a:rPr lang="es-CL" sz="2600">
                <a:solidFill>
                  <a:schemeClr val="lt1"/>
                </a:solidFill>
              </a:rPr>
              <a:t>según</a:t>
            </a:r>
            <a:r>
              <a:rPr lang="es-CL" sz="2600">
                <a:solidFill>
                  <a:schemeClr val="lt1"/>
                </a:solidFill>
              </a:rPr>
              <a:t> registros de Facebook</a:t>
            </a:r>
            <a:br>
              <a:rPr lang="es-CL" sz="2600">
                <a:solidFill>
                  <a:schemeClr val="lt1"/>
                </a:solidFill>
              </a:rPr>
            </a:br>
            <a:br>
              <a:rPr lang="es-CL" sz="2600">
                <a:solidFill>
                  <a:schemeClr val="lt1"/>
                </a:solidFill>
              </a:rPr>
            </a:br>
            <a:r>
              <a:rPr b="1" lang="es-CL" sz="2600" u="sng">
                <a:solidFill>
                  <a:schemeClr val="lt1"/>
                </a:solidFill>
              </a:rPr>
              <a:t>Visitas</a:t>
            </a:r>
            <a:br>
              <a:rPr lang="es-CL" sz="2600">
                <a:solidFill>
                  <a:schemeClr val="lt1"/>
                </a:solidFill>
              </a:rPr>
            </a:br>
            <a:endParaRPr sz="2600">
              <a:solidFill>
                <a:schemeClr val="lt1"/>
              </a:solidFill>
            </a:endParaRPr>
          </a:p>
        </p:txBody>
      </p:sp>
      <p:sp>
        <p:nvSpPr>
          <p:cNvPr id="639" name="Google Shape;639;g3a5555b7c7b_2_51"/>
          <p:cNvSpPr txBox="1"/>
          <p:nvPr/>
        </p:nvSpPr>
        <p:spPr>
          <a:xfrm>
            <a:off x="10335925" y="2676075"/>
            <a:ext cx="3744000" cy="242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CL" sz="2600" u="sng">
                <a:solidFill>
                  <a:schemeClr val="lt1"/>
                </a:solidFill>
              </a:rPr>
              <a:t>Monetario</a:t>
            </a:r>
            <a:endParaRPr b="1" sz="2600" u="sng">
              <a:solidFill>
                <a:schemeClr val="lt1"/>
              </a:solidFill>
            </a:endParaRPr>
          </a:p>
          <a:p>
            <a:pPr indent="0" lvl="0" marL="0" rtl="0" algn="l">
              <a:lnSpc>
                <a:spcPct val="115000"/>
              </a:lnSpc>
              <a:spcBef>
                <a:spcPts val="0"/>
              </a:spcBef>
              <a:spcAft>
                <a:spcPts val="0"/>
              </a:spcAft>
              <a:buNone/>
            </a:pPr>
            <a:r>
              <a:rPr lang="es-CL" sz="2000">
                <a:solidFill>
                  <a:schemeClr val="lt1"/>
                </a:solidFill>
              </a:rPr>
              <a:t>Implementación</a:t>
            </a:r>
            <a:r>
              <a:rPr lang="es-CL" sz="2000">
                <a:solidFill>
                  <a:schemeClr val="lt1"/>
                </a:solidFill>
              </a:rPr>
              <a:t> de publicidad genera ganancias dependiendo las interacciones y visitas con la </a:t>
            </a:r>
            <a:r>
              <a:rPr lang="es-CL" sz="2000">
                <a:solidFill>
                  <a:schemeClr val="lt1"/>
                </a:solidFill>
              </a:rPr>
              <a:t>página</a:t>
            </a:r>
            <a:r>
              <a:rPr lang="es-CL" sz="2000">
                <a:solidFill>
                  <a:schemeClr val="lt1"/>
                </a:solidFill>
              </a:rPr>
              <a:t>. Generando a dia de hoy actualmente un aumento de </a:t>
            </a:r>
            <a:r>
              <a:rPr lang="es-CL" sz="2000" u="sng">
                <a:solidFill>
                  <a:schemeClr val="lt1"/>
                </a:solidFill>
              </a:rPr>
              <a:t> </a:t>
            </a:r>
            <a:r>
              <a:rPr b="1" lang="es-CL" sz="2000" u="sng">
                <a:solidFill>
                  <a:schemeClr val="lt1"/>
                </a:solidFill>
              </a:rPr>
              <a:t>24.7%</a:t>
            </a:r>
            <a:r>
              <a:rPr b="1" lang="es-CL" sz="2000">
                <a:solidFill>
                  <a:schemeClr val="lt1"/>
                </a:solidFill>
              </a:rPr>
              <a:t> </a:t>
            </a:r>
            <a:r>
              <a:rPr lang="es-CL" sz="2000">
                <a:solidFill>
                  <a:schemeClr val="lt1"/>
                </a:solidFill>
              </a:rPr>
              <a:t>en las ganancias esperadas sin contar pagos por publicidad</a:t>
            </a:r>
            <a:endParaRPr sz="2000">
              <a:solidFill>
                <a:schemeClr val="lt1"/>
              </a:solidFill>
            </a:endParaRPr>
          </a:p>
        </p:txBody>
      </p:sp>
      <p:cxnSp>
        <p:nvCxnSpPr>
          <p:cNvPr id="640" name="Google Shape;640;g3a5555b7c7b_2_51"/>
          <p:cNvCxnSpPr/>
          <p:nvPr/>
        </p:nvCxnSpPr>
        <p:spPr>
          <a:xfrm>
            <a:off x="3284650" y="1518975"/>
            <a:ext cx="14262300" cy="11700"/>
          </a:xfrm>
          <a:prstGeom prst="straightConnector1">
            <a:avLst/>
          </a:prstGeom>
          <a:noFill/>
          <a:ln cap="flat" cmpd="sng" w="9525">
            <a:solidFill>
              <a:schemeClr val="accent6"/>
            </a:solidFill>
            <a:prstDash val="solid"/>
            <a:round/>
            <a:headEnd len="med" w="med" type="none"/>
            <a:tailEnd len="med" w="med" type="none"/>
          </a:ln>
        </p:spPr>
      </p:cxnSp>
      <p:pic>
        <p:nvPicPr>
          <p:cNvPr id="641" name="Google Shape;641;g3a5555b7c7b_2_51"/>
          <p:cNvPicPr preferRelativeResize="0"/>
          <p:nvPr/>
        </p:nvPicPr>
        <p:blipFill>
          <a:blip r:embed="rId4">
            <a:alphaModFix/>
          </a:blip>
          <a:stretch>
            <a:fillRect/>
          </a:stretch>
        </p:blipFill>
        <p:spPr>
          <a:xfrm>
            <a:off x="5021775" y="5034688"/>
            <a:ext cx="3165675" cy="4110475"/>
          </a:xfrm>
          <a:prstGeom prst="rect">
            <a:avLst/>
          </a:prstGeom>
          <a:noFill/>
          <a:ln>
            <a:noFill/>
          </a:ln>
        </p:spPr>
      </p:pic>
      <p:sp>
        <p:nvSpPr>
          <p:cNvPr id="642" name="Google Shape;642;g3a5555b7c7b_2_51"/>
          <p:cNvSpPr txBox="1"/>
          <p:nvPr/>
        </p:nvSpPr>
        <p:spPr>
          <a:xfrm>
            <a:off x="1563150" y="5236975"/>
            <a:ext cx="2770800" cy="37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2000">
                <a:solidFill>
                  <a:schemeClr val="lt1"/>
                </a:solidFill>
              </a:rPr>
              <a:t>Durante el periodo del 2025 se </a:t>
            </a:r>
            <a:r>
              <a:rPr lang="es-CL" sz="2000">
                <a:solidFill>
                  <a:schemeClr val="lt1"/>
                </a:solidFill>
              </a:rPr>
              <a:t>destacó</a:t>
            </a:r>
            <a:r>
              <a:rPr lang="es-CL" sz="2000">
                <a:solidFill>
                  <a:schemeClr val="lt1"/>
                </a:solidFill>
              </a:rPr>
              <a:t> la poca interaccion </a:t>
            </a:r>
            <a:r>
              <a:rPr lang="es-CL" sz="2000">
                <a:solidFill>
                  <a:schemeClr val="lt1"/>
                </a:solidFill>
              </a:rPr>
              <a:t>del</a:t>
            </a:r>
            <a:r>
              <a:rPr lang="es-CL" sz="2000">
                <a:solidFill>
                  <a:schemeClr val="lt1"/>
                </a:solidFill>
              </a:rPr>
              <a:t> publico con el medio llegando a una </a:t>
            </a:r>
            <a:r>
              <a:rPr lang="es-CL" sz="2000">
                <a:solidFill>
                  <a:schemeClr val="lt1"/>
                </a:solidFill>
              </a:rPr>
              <a:t>máxima</a:t>
            </a:r>
            <a:r>
              <a:rPr lang="es-CL" sz="2000">
                <a:solidFill>
                  <a:schemeClr val="lt1"/>
                </a:solidFill>
              </a:rPr>
              <a:t> de </a:t>
            </a:r>
            <a:r>
              <a:rPr b="1" lang="es-CL" sz="2000" u="sng">
                <a:solidFill>
                  <a:schemeClr val="lt1"/>
                </a:solidFill>
              </a:rPr>
              <a:t>180 </a:t>
            </a:r>
            <a:r>
              <a:rPr lang="es-CL" sz="2000">
                <a:solidFill>
                  <a:schemeClr val="lt1"/>
                </a:solidFill>
              </a:rPr>
              <a:t>personas que ingresan a la </a:t>
            </a:r>
            <a:r>
              <a:rPr lang="es-CL" sz="2000">
                <a:solidFill>
                  <a:schemeClr val="lt1"/>
                </a:solidFill>
              </a:rPr>
              <a:t>página</a:t>
            </a:r>
            <a:r>
              <a:rPr lang="es-CL" sz="2000">
                <a:solidFill>
                  <a:schemeClr val="lt1"/>
                </a:solidFill>
              </a:rPr>
              <a:t> </a:t>
            </a:r>
            <a:endParaRPr sz="2000">
              <a:solidFill>
                <a:schemeClr val="lt1"/>
              </a:solidFill>
            </a:endParaRPr>
          </a:p>
        </p:txBody>
      </p:sp>
      <p:sp>
        <p:nvSpPr>
          <p:cNvPr id="643" name="Google Shape;643;g3a5555b7c7b_2_51"/>
          <p:cNvSpPr txBox="1"/>
          <p:nvPr/>
        </p:nvSpPr>
        <p:spPr>
          <a:xfrm>
            <a:off x="4459725" y="1797438"/>
            <a:ext cx="14346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700"/>
              <a:t>Antes</a:t>
            </a:r>
            <a:endParaRPr b="1" sz="2700"/>
          </a:p>
        </p:txBody>
      </p:sp>
      <p:sp>
        <p:nvSpPr>
          <p:cNvPr id="644" name="Google Shape;644;g3a5555b7c7b_2_51"/>
          <p:cNvSpPr txBox="1"/>
          <p:nvPr/>
        </p:nvSpPr>
        <p:spPr>
          <a:xfrm>
            <a:off x="13484125" y="1860650"/>
            <a:ext cx="14346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700"/>
              <a:t>Ahora</a:t>
            </a:r>
            <a:endParaRPr b="1" sz="2700"/>
          </a:p>
        </p:txBody>
      </p:sp>
      <p:pic>
        <p:nvPicPr>
          <p:cNvPr id="645" name="Google Shape;645;g3a5555b7c7b_2_51"/>
          <p:cNvPicPr preferRelativeResize="0"/>
          <p:nvPr/>
        </p:nvPicPr>
        <p:blipFill rotWithShape="1">
          <a:blip r:embed="rId5">
            <a:alphaModFix/>
          </a:blip>
          <a:srcRect b="0" l="-4199" r="0" t="0"/>
          <a:stretch/>
        </p:blipFill>
        <p:spPr>
          <a:xfrm>
            <a:off x="14017800" y="3102300"/>
            <a:ext cx="4514850" cy="2486025"/>
          </a:xfrm>
          <a:prstGeom prst="rect">
            <a:avLst/>
          </a:prstGeom>
          <a:noFill/>
          <a:ln>
            <a:noFill/>
          </a:ln>
        </p:spPr>
      </p:pic>
      <p:sp>
        <p:nvSpPr>
          <p:cNvPr id="646" name="Google Shape;646;g3a5555b7c7b_2_51"/>
          <p:cNvSpPr txBox="1"/>
          <p:nvPr/>
        </p:nvSpPr>
        <p:spPr>
          <a:xfrm>
            <a:off x="9859875" y="6105950"/>
            <a:ext cx="4184400" cy="3935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s-CL" sz="2200" u="sng">
                <a:solidFill>
                  <a:schemeClr val="lt1"/>
                </a:solidFill>
              </a:rPr>
              <a:t>Visitas</a:t>
            </a:r>
            <a:br>
              <a:rPr b="1" lang="es-CL" sz="2200" u="sng">
                <a:solidFill>
                  <a:schemeClr val="lt1"/>
                </a:solidFill>
              </a:rPr>
            </a:br>
            <a:r>
              <a:rPr lang="es-CL" sz="1600">
                <a:solidFill>
                  <a:schemeClr val="lt1"/>
                </a:solidFill>
              </a:rPr>
              <a:t>Con la implementación de la estrategia SEO orgánica y las nuevas interacciones con los usuarios, la plataforma mostró un aumento significativo en su rendimiento. En solo tres meses, la versión actualizada generó el </a:t>
            </a:r>
            <a:r>
              <a:rPr b="1" lang="es-CL" sz="1600" u="sng">
                <a:solidFill>
                  <a:schemeClr val="lt1"/>
                </a:solidFill>
              </a:rPr>
              <a:t>39,7%</a:t>
            </a:r>
            <a:r>
              <a:rPr lang="es-CL" sz="1600">
                <a:solidFill>
                  <a:schemeClr val="lt1"/>
                </a:solidFill>
              </a:rPr>
              <a:t> del total de visitas que la versión anterior obtenía en un año completo, utilizando apenas el </a:t>
            </a:r>
            <a:r>
              <a:rPr b="1" lang="es-CL" sz="1600" u="sng">
                <a:solidFill>
                  <a:schemeClr val="lt1"/>
                </a:solidFill>
              </a:rPr>
              <a:t>27% del tiempo</a:t>
            </a:r>
            <a:r>
              <a:rPr lang="es-CL" sz="1600">
                <a:solidFill>
                  <a:schemeClr val="lt1"/>
                </a:solidFill>
              </a:rPr>
              <a:t>. Esto </a:t>
            </a:r>
            <a:r>
              <a:rPr b="1" lang="es-CL" sz="1600" u="sng">
                <a:solidFill>
                  <a:schemeClr val="lt1"/>
                </a:solidFill>
              </a:rPr>
              <a:t>representa una mejora del 45,7% en la tasa mensual </a:t>
            </a:r>
            <a:r>
              <a:rPr lang="es-CL" sz="1600">
                <a:solidFill>
                  <a:schemeClr val="lt1"/>
                </a:solidFill>
              </a:rPr>
              <a:t>de visitas respecto a la versión inicial.</a:t>
            </a:r>
            <a:endParaRPr b="1" sz="1600" u="sng"/>
          </a:p>
        </p:txBody>
      </p:sp>
      <p:pic>
        <p:nvPicPr>
          <p:cNvPr id="647" name="Google Shape;647;g3a5555b7c7b_2_51"/>
          <p:cNvPicPr preferRelativeResize="0"/>
          <p:nvPr/>
        </p:nvPicPr>
        <p:blipFill>
          <a:blip r:embed="rId6">
            <a:alphaModFix/>
          </a:blip>
          <a:stretch>
            <a:fillRect/>
          </a:stretch>
        </p:blipFill>
        <p:spPr>
          <a:xfrm>
            <a:off x="14522200" y="6380900"/>
            <a:ext cx="3506062" cy="3660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3a27d2987dc_0_0"/>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lang="es-CL" sz="9600">
                <a:solidFill>
                  <a:srgbClr val="257CE1"/>
                </a:solidFill>
                <a:latin typeface="Arial Black"/>
                <a:ea typeface="Arial Black"/>
                <a:cs typeface="Arial Black"/>
                <a:sym typeface="Arial Black"/>
              </a:rPr>
              <a:t>10</a:t>
            </a:r>
            <a:endParaRPr b="0" i="0" sz="1400" u="none" cap="none" strike="noStrike">
              <a:solidFill>
                <a:srgbClr val="000000"/>
              </a:solidFill>
              <a:latin typeface="Arial"/>
              <a:ea typeface="Arial"/>
              <a:cs typeface="Arial"/>
              <a:sym typeface="Arial"/>
            </a:endParaRPr>
          </a:p>
        </p:txBody>
      </p:sp>
      <p:sp>
        <p:nvSpPr>
          <p:cNvPr id="653" name="Google Shape;653;g3a27d2987dc_0_0"/>
          <p:cNvSpPr txBox="1"/>
          <p:nvPr>
            <p:ph type="title"/>
          </p:nvPr>
        </p:nvSpPr>
        <p:spPr>
          <a:xfrm>
            <a:off x="7549150" y="7250550"/>
            <a:ext cx="9020100" cy="7832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Propuesta </a:t>
            </a:r>
            <a:r>
              <a:rPr lang="es-CL" sz="6600">
                <a:solidFill>
                  <a:schemeClr val="lt1"/>
                </a:solidFill>
              </a:rPr>
              <a:t>Técnica</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3a27d2987dc_0_5"/>
          <p:cNvSpPr txBox="1"/>
          <p:nvPr>
            <p:ph idx="1" type="body"/>
          </p:nvPr>
        </p:nvSpPr>
        <p:spPr>
          <a:xfrm>
            <a:off x="949650" y="3274175"/>
            <a:ext cx="4958700" cy="1199100"/>
          </a:xfrm>
          <a:prstGeom prst="rect">
            <a:avLst/>
          </a:prstGeom>
        </p:spPr>
        <p:txBody>
          <a:bodyPr anchorCtr="0" anchor="t" bIns="0" lIns="0" spcFirstLastPara="1" rIns="0" wrap="square" tIns="0">
            <a:spAutoFit/>
          </a:bodyPr>
          <a:lstStyle/>
          <a:p>
            <a:pPr indent="0" lvl="0" marL="457200" rtl="0" algn="l">
              <a:lnSpc>
                <a:spcPct val="115000"/>
              </a:lnSpc>
              <a:spcBef>
                <a:spcPts val="0"/>
              </a:spcBef>
              <a:spcAft>
                <a:spcPts val="0"/>
              </a:spcAft>
              <a:buNone/>
            </a:pPr>
            <a:r>
              <a:t/>
            </a:r>
            <a:endParaRPr b="0" sz="2600">
              <a:solidFill>
                <a:schemeClr val="dk1"/>
              </a:solidFill>
            </a:endParaRPr>
          </a:p>
          <a:p>
            <a:pPr indent="0" lvl="0" marL="0" rtl="0" algn="r">
              <a:spcBef>
                <a:spcPts val="0"/>
              </a:spcBef>
              <a:spcAft>
                <a:spcPts val="0"/>
              </a:spcAft>
              <a:buNone/>
            </a:pPr>
            <a:r>
              <a:t/>
            </a:r>
            <a:endParaRPr/>
          </a:p>
        </p:txBody>
      </p:sp>
      <p:pic>
        <p:nvPicPr>
          <p:cNvPr id="660" name="Google Shape;660;g3a27d2987dc_0_5"/>
          <p:cNvPicPr preferRelativeResize="0"/>
          <p:nvPr/>
        </p:nvPicPr>
        <p:blipFill>
          <a:blip r:embed="rId3">
            <a:alphaModFix/>
          </a:blip>
          <a:stretch>
            <a:fillRect/>
          </a:stretch>
        </p:blipFill>
        <p:spPr>
          <a:xfrm>
            <a:off x="3706675" y="1162300"/>
            <a:ext cx="12880725" cy="8796800"/>
          </a:xfrm>
          <a:prstGeom prst="rect">
            <a:avLst/>
          </a:prstGeom>
          <a:solidFill>
            <a:srgbClr val="FFFFFF"/>
          </a:solidFill>
          <a:ln>
            <a:noFill/>
          </a:ln>
        </p:spPr>
      </p:pic>
      <p:sp>
        <p:nvSpPr>
          <p:cNvPr id="661" name="Google Shape;661;g3a27d2987dc_0_5"/>
          <p:cNvSpPr txBox="1"/>
          <p:nvPr/>
        </p:nvSpPr>
        <p:spPr>
          <a:xfrm>
            <a:off x="1216750" y="470950"/>
            <a:ext cx="7357500" cy="5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3200">
                <a:latin typeface="Calibri"/>
                <a:ea typeface="Calibri"/>
                <a:cs typeface="Calibri"/>
                <a:sym typeface="Calibri"/>
              </a:rPr>
              <a:t>Diagrama de Caso de uso General</a:t>
            </a:r>
            <a:endParaRPr b="1" sz="3200">
              <a:latin typeface="Calibri"/>
              <a:ea typeface="Calibri"/>
              <a:cs typeface="Calibri"/>
              <a:sym typeface="Calibri"/>
            </a:endParaRPr>
          </a:p>
        </p:txBody>
      </p:sp>
      <p:cxnSp>
        <p:nvCxnSpPr>
          <p:cNvPr id="662" name="Google Shape;662;g3a27d2987dc_0_5"/>
          <p:cNvCxnSpPr/>
          <p:nvPr/>
        </p:nvCxnSpPr>
        <p:spPr>
          <a:xfrm flipH="1" rot="10800000">
            <a:off x="1120825" y="1081375"/>
            <a:ext cx="6144900" cy="4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992a4233df_1_107"/>
          <p:cNvSpPr txBox="1"/>
          <p:nvPr/>
        </p:nvSpPr>
        <p:spPr>
          <a:xfrm>
            <a:off x="1216150" y="792525"/>
            <a:ext cx="8386800" cy="10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3400">
                <a:solidFill>
                  <a:schemeClr val="dk1"/>
                </a:solidFill>
                <a:latin typeface="Calibri"/>
                <a:ea typeface="Calibri"/>
                <a:cs typeface="Calibri"/>
                <a:sym typeface="Calibri"/>
              </a:rPr>
              <a:t>Diagrama To-Do</a:t>
            </a:r>
            <a:endParaRPr sz="2400">
              <a:latin typeface="Calibri"/>
              <a:ea typeface="Calibri"/>
              <a:cs typeface="Calibri"/>
              <a:sym typeface="Calibri"/>
            </a:endParaRPr>
          </a:p>
        </p:txBody>
      </p:sp>
      <p:pic>
        <p:nvPicPr>
          <p:cNvPr id="669" name="Google Shape;669;g3992a4233df_1_107"/>
          <p:cNvPicPr preferRelativeResize="0"/>
          <p:nvPr/>
        </p:nvPicPr>
        <p:blipFill>
          <a:blip r:embed="rId3">
            <a:alphaModFix/>
          </a:blip>
          <a:stretch>
            <a:fillRect/>
          </a:stretch>
        </p:blipFill>
        <p:spPr>
          <a:xfrm>
            <a:off x="3896050" y="1541475"/>
            <a:ext cx="15194825" cy="8752825"/>
          </a:xfrm>
          <a:prstGeom prst="rect">
            <a:avLst/>
          </a:prstGeom>
          <a:solidFill>
            <a:srgbClr val="FFFFFF"/>
          </a:solidFill>
          <a:ln>
            <a:noFill/>
          </a:ln>
        </p:spPr>
      </p:pic>
      <p:cxnSp>
        <p:nvCxnSpPr>
          <p:cNvPr id="670" name="Google Shape;670;g3992a4233df_1_107"/>
          <p:cNvCxnSpPr/>
          <p:nvPr/>
        </p:nvCxnSpPr>
        <p:spPr>
          <a:xfrm flipH="1" rot="10800000">
            <a:off x="1216150" y="1399275"/>
            <a:ext cx="2953200" cy="246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g3992a4233df_1_94"/>
          <p:cNvSpPr txBox="1"/>
          <p:nvPr>
            <p:ph idx="1" type="body"/>
          </p:nvPr>
        </p:nvSpPr>
        <p:spPr>
          <a:xfrm>
            <a:off x="820876" y="4410400"/>
            <a:ext cx="11901300" cy="8004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t/>
            </a:r>
            <a:endParaRPr b="0" sz="2600">
              <a:solidFill>
                <a:schemeClr val="dk1"/>
              </a:solidFill>
            </a:endParaRPr>
          </a:p>
          <a:p>
            <a:pPr indent="0" lvl="0" marL="0" rtl="0" algn="r">
              <a:spcBef>
                <a:spcPts val="0"/>
              </a:spcBef>
              <a:spcAft>
                <a:spcPts val="0"/>
              </a:spcAft>
              <a:buNone/>
            </a:pPr>
            <a:r>
              <a:t/>
            </a:r>
            <a:endParaRPr b="0" sz="2600">
              <a:solidFill>
                <a:schemeClr val="dk1"/>
              </a:solidFill>
            </a:endParaRPr>
          </a:p>
        </p:txBody>
      </p:sp>
      <p:pic>
        <p:nvPicPr>
          <p:cNvPr id="677" name="Google Shape;677;g3992a4233df_1_94"/>
          <p:cNvPicPr preferRelativeResize="0"/>
          <p:nvPr/>
        </p:nvPicPr>
        <p:blipFill>
          <a:blip r:embed="rId3">
            <a:alphaModFix/>
          </a:blip>
          <a:stretch>
            <a:fillRect/>
          </a:stretch>
        </p:blipFill>
        <p:spPr>
          <a:xfrm>
            <a:off x="2949450" y="1157300"/>
            <a:ext cx="13573000" cy="9125099"/>
          </a:xfrm>
          <a:prstGeom prst="rect">
            <a:avLst/>
          </a:prstGeom>
          <a:solidFill>
            <a:srgbClr val="FFFFFF"/>
          </a:solidFill>
          <a:ln>
            <a:noFill/>
          </a:ln>
        </p:spPr>
      </p:pic>
      <p:sp>
        <p:nvSpPr>
          <p:cNvPr id="678" name="Google Shape;678;g3992a4233df_1_94"/>
          <p:cNvSpPr txBox="1"/>
          <p:nvPr/>
        </p:nvSpPr>
        <p:spPr>
          <a:xfrm>
            <a:off x="670350" y="407400"/>
            <a:ext cx="6938100" cy="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3300">
                <a:latin typeface="Calibri"/>
                <a:ea typeface="Calibri"/>
                <a:cs typeface="Calibri"/>
                <a:sym typeface="Calibri"/>
              </a:rPr>
              <a:t>Diagrama BPMN Proceso Mejorado</a:t>
            </a:r>
            <a:endParaRPr b="1" sz="3300">
              <a:latin typeface="Calibri"/>
              <a:ea typeface="Calibri"/>
              <a:cs typeface="Calibri"/>
              <a:sym typeface="Calibri"/>
            </a:endParaRPr>
          </a:p>
        </p:txBody>
      </p:sp>
      <p:cxnSp>
        <p:nvCxnSpPr>
          <p:cNvPr id="679" name="Google Shape;679;g3992a4233df_1_94"/>
          <p:cNvCxnSpPr/>
          <p:nvPr/>
        </p:nvCxnSpPr>
        <p:spPr>
          <a:xfrm flipH="1" rot="10800000">
            <a:off x="820875" y="999025"/>
            <a:ext cx="6144900" cy="423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3992a4233df_1_99"/>
          <p:cNvSpPr txBox="1"/>
          <p:nvPr/>
        </p:nvSpPr>
        <p:spPr>
          <a:xfrm>
            <a:off x="1520525" y="590450"/>
            <a:ext cx="8386800" cy="10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800"/>
              <a:buFont typeface="Arial"/>
              <a:buNone/>
            </a:pPr>
            <a:r>
              <a:rPr b="1" lang="es-CL" sz="3400">
                <a:solidFill>
                  <a:schemeClr val="dk1"/>
                </a:solidFill>
                <a:latin typeface="Calibri"/>
                <a:ea typeface="Calibri"/>
                <a:cs typeface="Calibri"/>
                <a:sym typeface="Calibri"/>
              </a:rPr>
              <a:t>Tecnologías y Modelo por Capas o MVC</a:t>
            </a:r>
            <a:endParaRPr b="1" sz="2400">
              <a:latin typeface="Calibri"/>
              <a:ea typeface="Calibri"/>
              <a:cs typeface="Calibri"/>
              <a:sym typeface="Calibri"/>
            </a:endParaRPr>
          </a:p>
        </p:txBody>
      </p:sp>
      <p:pic>
        <p:nvPicPr>
          <p:cNvPr id="686" name="Google Shape;686;g3992a4233df_1_99" title="15513c55-97e4-4d51-a47a-6af4739829c7.PNG"/>
          <p:cNvPicPr preferRelativeResize="0"/>
          <p:nvPr/>
        </p:nvPicPr>
        <p:blipFill rotWithShape="1">
          <a:blip r:embed="rId3">
            <a:alphaModFix/>
          </a:blip>
          <a:srcRect b="26231" l="0" r="0" t="0"/>
          <a:stretch/>
        </p:blipFill>
        <p:spPr>
          <a:xfrm>
            <a:off x="5694575" y="2095825"/>
            <a:ext cx="10200176" cy="7461424"/>
          </a:xfrm>
          <a:prstGeom prst="rect">
            <a:avLst/>
          </a:prstGeom>
          <a:noFill/>
          <a:ln>
            <a:noFill/>
          </a:ln>
        </p:spPr>
      </p:pic>
      <p:cxnSp>
        <p:nvCxnSpPr>
          <p:cNvPr id="687" name="Google Shape;687;g3992a4233df_1_99"/>
          <p:cNvCxnSpPr/>
          <p:nvPr/>
        </p:nvCxnSpPr>
        <p:spPr>
          <a:xfrm flipH="1" rot="10800000">
            <a:off x="1599000" y="1267825"/>
            <a:ext cx="7113300" cy="126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g3992a4233df_1_60"/>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lang="es-CL" sz="9600">
                <a:solidFill>
                  <a:srgbClr val="257CE1"/>
                </a:solidFill>
                <a:latin typeface="Arial Black"/>
                <a:ea typeface="Arial Black"/>
                <a:cs typeface="Arial Black"/>
                <a:sym typeface="Arial Black"/>
              </a:rPr>
              <a:t>11</a:t>
            </a:r>
            <a:endParaRPr b="0" i="0" sz="1400" u="none" cap="none" strike="noStrike">
              <a:solidFill>
                <a:srgbClr val="000000"/>
              </a:solidFill>
              <a:latin typeface="Arial"/>
              <a:ea typeface="Arial"/>
              <a:cs typeface="Arial"/>
              <a:sym typeface="Arial"/>
            </a:endParaRPr>
          </a:p>
        </p:txBody>
      </p:sp>
      <p:sp>
        <p:nvSpPr>
          <p:cNvPr id="693" name="Google Shape;693;g3992a4233df_1_60"/>
          <p:cNvSpPr txBox="1"/>
          <p:nvPr>
            <p:ph type="title"/>
          </p:nvPr>
        </p:nvSpPr>
        <p:spPr>
          <a:xfrm>
            <a:off x="7549150" y="7250550"/>
            <a:ext cx="9020100" cy="9000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Retrospectiva y Proyecciones</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pic>
        <p:nvPicPr>
          <p:cNvPr descr="image.png" id="699" name="Google Shape;699;g390f15d3519_1_6"/>
          <p:cNvPicPr preferRelativeResize="0"/>
          <p:nvPr/>
        </p:nvPicPr>
        <p:blipFill rotWithShape="1">
          <a:blip r:embed="rId3">
            <a:alphaModFix/>
          </a:blip>
          <a:srcRect b="0" l="0" r="0" t="0"/>
          <a:stretch/>
        </p:blipFill>
        <p:spPr>
          <a:xfrm>
            <a:off x="1515250" y="1693125"/>
            <a:ext cx="8247413" cy="8059314"/>
          </a:xfrm>
          <a:prstGeom prst="rect">
            <a:avLst/>
          </a:prstGeom>
          <a:noFill/>
          <a:ln>
            <a:noFill/>
          </a:ln>
        </p:spPr>
      </p:pic>
      <p:pic>
        <p:nvPicPr>
          <p:cNvPr descr="image.png" id="700" name="Google Shape;700;g390f15d3519_1_6"/>
          <p:cNvPicPr preferRelativeResize="0"/>
          <p:nvPr/>
        </p:nvPicPr>
        <p:blipFill rotWithShape="1">
          <a:blip r:embed="rId4">
            <a:alphaModFix/>
          </a:blip>
          <a:srcRect b="0" l="0" r="0" t="0"/>
          <a:stretch/>
        </p:blipFill>
        <p:spPr>
          <a:xfrm>
            <a:off x="10341437" y="1693125"/>
            <a:ext cx="8247413" cy="8059314"/>
          </a:xfrm>
          <a:prstGeom prst="rect">
            <a:avLst/>
          </a:prstGeom>
          <a:noFill/>
          <a:ln>
            <a:noFill/>
          </a:ln>
        </p:spPr>
      </p:pic>
      <p:sp>
        <p:nvSpPr>
          <p:cNvPr id="701" name="Google Shape;701;g390f15d3519_1_6"/>
          <p:cNvSpPr txBox="1"/>
          <p:nvPr/>
        </p:nvSpPr>
        <p:spPr>
          <a:xfrm>
            <a:off x="2557029" y="2054855"/>
            <a:ext cx="7110000" cy="45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2962" u="none" cap="none" strike="noStrike">
                <a:solidFill>
                  <a:srgbClr val="F39C12"/>
                </a:solidFill>
                <a:latin typeface="Roboto Slab"/>
                <a:ea typeface="Roboto Slab"/>
                <a:cs typeface="Roboto Slab"/>
                <a:sym typeface="Roboto Slab"/>
              </a:rPr>
              <a:t>Perfil Profesional y Modalidad</a:t>
            </a:r>
            <a:endParaRPr sz="2126"/>
          </a:p>
        </p:txBody>
      </p:sp>
      <p:sp>
        <p:nvSpPr>
          <p:cNvPr id="702" name="Google Shape;702;g390f15d3519_1_6"/>
          <p:cNvSpPr/>
          <p:nvPr/>
        </p:nvSpPr>
        <p:spPr>
          <a:xfrm>
            <a:off x="1949325" y="2691499"/>
            <a:ext cx="7379400" cy="29100"/>
          </a:xfrm>
          <a:prstGeom prst="rect">
            <a:avLst/>
          </a:prstGeom>
          <a:solidFill>
            <a:srgbClr val="2C3E50"/>
          </a:solidFill>
          <a:ln>
            <a:noFill/>
          </a:ln>
        </p:spPr>
        <p:txBody>
          <a:bodyPr anchorCtr="0" anchor="ctr" bIns="69425" lIns="138875" spcFirstLastPara="1" rIns="138875" wrap="square" tIns="69425">
            <a:noAutofit/>
          </a:bodyPr>
          <a:lstStyle/>
          <a:p>
            <a:pPr indent="0" lvl="0" marL="0" marR="0" rtl="0" algn="ctr">
              <a:spcBef>
                <a:spcPts val="0"/>
              </a:spcBef>
              <a:spcAft>
                <a:spcPts val="0"/>
              </a:spcAft>
              <a:buNone/>
            </a:pPr>
            <a:r>
              <a:t/>
            </a:r>
            <a:endParaRPr b="0" i="0" sz="2734" u="none" cap="none" strike="noStrike">
              <a:solidFill>
                <a:srgbClr val="000000"/>
              </a:solidFill>
              <a:latin typeface="Calibri"/>
              <a:ea typeface="Calibri"/>
              <a:cs typeface="Calibri"/>
              <a:sym typeface="Calibri"/>
            </a:endParaRPr>
          </a:p>
        </p:txBody>
      </p:sp>
      <p:sp>
        <p:nvSpPr>
          <p:cNvPr id="703" name="Google Shape;703;g390f15d3519_1_6"/>
          <p:cNvSpPr txBox="1"/>
          <p:nvPr/>
        </p:nvSpPr>
        <p:spPr>
          <a:xfrm>
            <a:off x="11383216" y="2054855"/>
            <a:ext cx="7110000" cy="45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s-CL" sz="2962" u="none" cap="none" strike="noStrike">
                <a:solidFill>
                  <a:srgbClr val="F39C12"/>
                </a:solidFill>
                <a:latin typeface="Roboto Slab"/>
                <a:ea typeface="Roboto Slab"/>
                <a:cs typeface="Roboto Slab"/>
                <a:sym typeface="Roboto Slab"/>
              </a:rPr>
              <a:t>Dificultades y Soluciones</a:t>
            </a:r>
            <a:endParaRPr sz="2126"/>
          </a:p>
        </p:txBody>
      </p:sp>
      <p:sp>
        <p:nvSpPr>
          <p:cNvPr id="704" name="Google Shape;704;g390f15d3519_1_6"/>
          <p:cNvSpPr/>
          <p:nvPr/>
        </p:nvSpPr>
        <p:spPr>
          <a:xfrm>
            <a:off x="10775512" y="2691499"/>
            <a:ext cx="7379400" cy="29100"/>
          </a:xfrm>
          <a:prstGeom prst="rect">
            <a:avLst/>
          </a:prstGeom>
          <a:solidFill>
            <a:srgbClr val="2C3E50"/>
          </a:solidFill>
          <a:ln>
            <a:noFill/>
          </a:ln>
        </p:spPr>
        <p:txBody>
          <a:bodyPr anchorCtr="0" anchor="ctr" bIns="69425" lIns="138875" spcFirstLastPara="1" rIns="138875" wrap="square" tIns="69425">
            <a:noAutofit/>
          </a:bodyPr>
          <a:lstStyle/>
          <a:p>
            <a:pPr indent="0" lvl="0" marL="0" marR="0" rtl="0" algn="ctr">
              <a:spcBef>
                <a:spcPts val="0"/>
              </a:spcBef>
              <a:spcAft>
                <a:spcPts val="0"/>
              </a:spcAft>
              <a:buNone/>
            </a:pPr>
            <a:r>
              <a:t/>
            </a:r>
            <a:endParaRPr b="0" i="0" sz="2734" u="none" cap="none" strike="noStrike">
              <a:solidFill>
                <a:srgbClr val="000000"/>
              </a:solidFill>
              <a:latin typeface="Calibri"/>
              <a:ea typeface="Calibri"/>
              <a:cs typeface="Calibri"/>
              <a:sym typeface="Calibri"/>
            </a:endParaRPr>
          </a:p>
        </p:txBody>
      </p:sp>
      <p:pic>
        <p:nvPicPr>
          <p:cNvPr descr="image.png" id="705" name="Google Shape;705;g390f15d3519_1_6"/>
          <p:cNvPicPr preferRelativeResize="0"/>
          <p:nvPr/>
        </p:nvPicPr>
        <p:blipFill rotWithShape="1">
          <a:blip r:embed="rId5">
            <a:alphaModFix/>
          </a:blip>
          <a:srcRect b="0" l="0" r="0" t="0"/>
          <a:stretch/>
        </p:blipFill>
        <p:spPr>
          <a:xfrm>
            <a:off x="1949325" y="2127201"/>
            <a:ext cx="434074" cy="347259"/>
          </a:xfrm>
          <a:prstGeom prst="rect">
            <a:avLst/>
          </a:prstGeom>
          <a:noFill/>
          <a:ln>
            <a:noFill/>
          </a:ln>
        </p:spPr>
      </p:pic>
      <p:sp>
        <p:nvSpPr>
          <p:cNvPr id="706" name="Google Shape;706;g390f15d3519_1_6"/>
          <p:cNvSpPr txBox="1"/>
          <p:nvPr/>
        </p:nvSpPr>
        <p:spPr>
          <a:xfrm>
            <a:off x="2383400" y="2937475"/>
            <a:ext cx="6945300" cy="12516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s-CL" sz="1936" u="none" cap="none" strike="noStrike">
                <a:solidFill>
                  <a:srgbClr val="CBD5E1"/>
                </a:solidFill>
                <a:latin typeface="Roboto"/>
                <a:ea typeface="Roboto"/>
                <a:cs typeface="Roboto"/>
                <a:sym typeface="Roboto"/>
              </a:rPr>
              <a:t>La modalidad **Capstone** nos impulsó a aplicar la ingeniería en una **solución real y desacoplada**, en lugar de una solución teórica o un simple plugin.</a:t>
            </a:r>
            <a:endParaRPr sz="2126"/>
          </a:p>
        </p:txBody>
      </p:sp>
      <p:sp>
        <p:nvSpPr>
          <p:cNvPr id="707" name="Google Shape;707;g390f15d3519_1_6"/>
          <p:cNvSpPr txBox="1"/>
          <p:nvPr/>
        </p:nvSpPr>
        <p:spPr>
          <a:xfrm>
            <a:off x="2383400" y="4291246"/>
            <a:ext cx="6945300" cy="12516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s-CL" sz="1936" u="none" cap="none" strike="noStrike">
                <a:solidFill>
                  <a:srgbClr val="CBD5E1"/>
                </a:solidFill>
                <a:latin typeface="Roboto"/>
                <a:ea typeface="Roboto"/>
                <a:cs typeface="Roboto"/>
                <a:sym typeface="Roboto"/>
              </a:rPr>
              <a:t>Nuestro perfil técnico permitió proponer una **Arquitectura Híbrida** (WordPress + PHP Nativo), priorizando la seguridad y el rendimiento.</a:t>
            </a:r>
            <a:endParaRPr sz="2126"/>
          </a:p>
        </p:txBody>
      </p:sp>
      <p:sp>
        <p:nvSpPr>
          <p:cNvPr id="708" name="Google Shape;708;g390f15d3519_1_6"/>
          <p:cNvSpPr txBox="1"/>
          <p:nvPr/>
        </p:nvSpPr>
        <p:spPr>
          <a:xfrm>
            <a:off x="2383400" y="5645019"/>
            <a:ext cx="6945300" cy="7749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s-CL" sz="1936" u="none" cap="none" strike="noStrike">
                <a:solidFill>
                  <a:srgbClr val="CBD5E1"/>
                </a:solidFill>
                <a:latin typeface="Roboto"/>
                <a:ea typeface="Roboto"/>
                <a:cs typeface="Roboto"/>
                <a:sym typeface="Roboto"/>
              </a:rPr>
              <a:t>El objetivo fue crear un **activo de software a medida** (la App de PHP), demostrando competencias en desarrollo full-stack.</a:t>
            </a:r>
            <a:endParaRPr sz="2126"/>
          </a:p>
        </p:txBody>
      </p:sp>
      <p:pic>
        <p:nvPicPr>
          <p:cNvPr descr="image.png" id="709" name="Google Shape;709;g390f15d3519_1_6"/>
          <p:cNvPicPr preferRelativeResize="0"/>
          <p:nvPr/>
        </p:nvPicPr>
        <p:blipFill rotWithShape="1">
          <a:blip r:embed="rId6">
            <a:alphaModFix/>
          </a:blip>
          <a:srcRect b="0" l="0" r="0" t="0"/>
          <a:stretch/>
        </p:blipFill>
        <p:spPr>
          <a:xfrm>
            <a:off x="10775512" y="2127201"/>
            <a:ext cx="434074" cy="347259"/>
          </a:xfrm>
          <a:prstGeom prst="rect">
            <a:avLst/>
          </a:prstGeom>
          <a:noFill/>
          <a:ln>
            <a:noFill/>
          </a:ln>
        </p:spPr>
      </p:pic>
      <p:sp>
        <p:nvSpPr>
          <p:cNvPr id="710" name="Google Shape;710;g390f15d3519_1_6"/>
          <p:cNvSpPr txBox="1"/>
          <p:nvPr/>
        </p:nvSpPr>
        <p:spPr>
          <a:xfrm>
            <a:off x="11209586" y="2937475"/>
            <a:ext cx="6945300" cy="973500"/>
          </a:xfrm>
          <a:prstGeom prst="rect">
            <a:avLst/>
          </a:prstGeom>
          <a:noFill/>
          <a:ln>
            <a:noFill/>
          </a:ln>
        </p:spPr>
        <p:txBody>
          <a:bodyPr anchorCtr="0" anchor="t" bIns="0" lIns="0" spcFirstLastPara="1" rIns="0" wrap="square" tIns="0">
            <a:spAutoFit/>
          </a:bodyPr>
          <a:lstStyle/>
          <a:p>
            <a:pPr indent="0" lvl="0" marL="0" marR="0" rtl="0" algn="l">
              <a:lnSpc>
                <a:spcPct val="113277"/>
              </a:lnSpc>
              <a:spcBef>
                <a:spcPts val="0"/>
              </a:spcBef>
              <a:spcAft>
                <a:spcPts val="0"/>
              </a:spcAft>
              <a:buNone/>
            </a:pPr>
            <a:r>
              <a:rPr b="1" i="0" lang="es-CL" sz="1936" u="none" cap="none" strike="noStrike">
                <a:solidFill>
                  <a:srgbClr val="FFFFFF"/>
                </a:solidFill>
                <a:latin typeface="Roboto"/>
                <a:ea typeface="Roboto"/>
                <a:cs typeface="Roboto"/>
                <a:sym typeface="Roboto"/>
              </a:rPr>
              <a:t>Dificultad:</a:t>
            </a:r>
            <a:r>
              <a:rPr b="0" i="0" lang="es-CL" sz="1936" u="none" cap="none" strike="noStrike">
                <a:solidFill>
                  <a:srgbClr val="CBD5E1"/>
                </a:solidFill>
                <a:latin typeface="Roboto"/>
                <a:ea typeface="Roboto"/>
                <a:cs typeface="Roboto"/>
                <a:sym typeface="Roboto"/>
              </a:rPr>
              <a:t> Validar datos complejos como el RUT. </a:t>
            </a:r>
            <a:br>
              <a:rPr b="0" i="0" lang="es-CL" sz="2734" u="none" cap="none" strike="noStrike">
                <a:solidFill>
                  <a:srgbClr val="000000"/>
                </a:solidFill>
                <a:latin typeface="Calibri"/>
                <a:ea typeface="Calibri"/>
                <a:cs typeface="Calibri"/>
                <a:sym typeface="Calibri"/>
              </a:rPr>
            </a:br>
            <a:r>
              <a:rPr b="1" i="0" lang="es-CL" sz="1936" u="none" cap="none" strike="noStrike">
                <a:solidFill>
                  <a:srgbClr val="FFFFFF"/>
                </a:solidFill>
                <a:latin typeface="Roboto"/>
                <a:ea typeface="Roboto"/>
                <a:cs typeface="Roboto"/>
                <a:sym typeface="Roboto"/>
              </a:rPr>
              <a:t>Solución:</a:t>
            </a:r>
            <a:r>
              <a:rPr b="0" i="0" lang="es-CL" sz="1936" u="none" cap="none" strike="noStrike">
                <a:solidFill>
                  <a:srgbClr val="CBD5E1"/>
                </a:solidFill>
                <a:latin typeface="Roboto"/>
                <a:ea typeface="Roboto"/>
                <a:cs typeface="Roboto"/>
                <a:sym typeface="Roboto"/>
              </a:rPr>
              <a:t> Implementación de **validación dual**: JavaScript (para UX) y PHP (para seguridad).</a:t>
            </a:r>
            <a:endParaRPr sz="2126"/>
          </a:p>
        </p:txBody>
      </p:sp>
      <p:sp>
        <p:nvSpPr>
          <p:cNvPr id="711" name="Google Shape;711;g390f15d3519_1_6"/>
          <p:cNvSpPr txBox="1"/>
          <p:nvPr/>
        </p:nvSpPr>
        <p:spPr>
          <a:xfrm>
            <a:off x="11209586" y="4291246"/>
            <a:ext cx="6945300" cy="973500"/>
          </a:xfrm>
          <a:prstGeom prst="rect">
            <a:avLst/>
          </a:prstGeom>
          <a:noFill/>
          <a:ln>
            <a:noFill/>
          </a:ln>
        </p:spPr>
        <p:txBody>
          <a:bodyPr anchorCtr="0" anchor="t" bIns="0" lIns="0" spcFirstLastPara="1" rIns="0" wrap="square" tIns="0">
            <a:spAutoFit/>
          </a:bodyPr>
          <a:lstStyle/>
          <a:p>
            <a:pPr indent="0" lvl="0" marL="0" marR="0" rtl="0" algn="l">
              <a:lnSpc>
                <a:spcPct val="113277"/>
              </a:lnSpc>
              <a:spcBef>
                <a:spcPts val="0"/>
              </a:spcBef>
              <a:spcAft>
                <a:spcPts val="0"/>
              </a:spcAft>
              <a:buNone/>
            </a:pPr>
            <a:r>
              <a:rPr b="1" i="0" lang="es-CL" sz="1936" u="none" cap="none" strike="noStrike">
                <a:solidFill>
                  <a:srgbClr val="FFFFFF"/>
                </a:solidFill>
                <a:latin typeface="Roboto"/>
                <a:ea typeface="Roboto"/>
                <a:cs typeface="Roboto"/>
                <a:sym typeface="Roboto"/>
              </a:rPr>
              <a:t>Dificultad:</a:t>
            </a:r>
            <a:r>
              <a:rPr b="0" i="0" lang="es-CL" sz="1936" u="none" cap="none" strike="noStrike">
                <a:solidFill>
                  <a:srgbClr val="CBD5E1"/>
                </a:solidFill>
                <a:latin typeface="Roboto"/>
                <a:ea typeface="Roboto"/>
                <a:cs typeface="Roboto"/>
                <a:sym typeface="Roboto"/>
              </a:rPr>
              <a:t> Proteger la base de datos de ataques. </a:t>
            </a:r>
            <a:br>
              <a:rPr b="0" i="0" lang="es-CL" sz="2734" u="none" cap="none" strike="noStrike">
                <a:solidFill>
                  <a:srgbClr val="000000"/>
                </a:solidFill>
                <a:latin typeface="Calibri"/>
                <a:ea typeface="Calibri"/>
                <a:cs typeface="Calibri"/>
                <a:sym typeface="Calibri"/>
              </a:rPr>
            </a:br>
            <a:r>
              <a:rPr b="1" i="0" lang="es-CL" sz="1936" u="none" cap="none" strike="noStrike">
                <a:solidFill>
                  <a:srgbClr val="FFFFFF"/>
                </a:solidFill>
                <a:latin typeface="Roboto"/>
                <a:ea typeface="Roboto"/>
                <a:cs typeface="Roboto"/>
                <a:sym typeface="Roboto"/>
              </a:rPr>
              <a:t>Solución:</a:t>
            </a:r>
            <a:r>
              <a:rPr b="0" i="0" lang="es-CL" sz="1936" u="none" cap="none" strike="noStrike">
                <a:solidFill>
                  <a:srgbClr val="CBD5E1"/>
                </a:solidFill>
                <a:latin typeface="Roboto"/>
                <a:ea typeface="Roboto"/>
                <a:cs typeface="Roboto"/>
                <a:sym typeface="Roboto"/>
              </a:rPr>
              <a:t> Uso de **Sentencias Preparadas** para prevenir Inyección SQL en todos los formularios.</a:t>
            </a:r>
            <a:endParaRPr sz="2126"/>
          </a:p>
        </p:txBody>
      </p:sp>
      <p:sp>
        <p:nvSpPr>
          <p:cNvPr id="712" name="Google Shape;712;g390f15d3519_1_6"/>
          <p:cNvSpPr txBox="1"/>
          <p:nvPr/>
        </p:nvSpPr>
        <p:spPr>
          <a:xfrm>
            <a:off x="11209586" y="5645019"/>
            <a:ext cx="6945300" cy="1311300"/>
          </a:xfrm>
          <a:prstGeom prst="rect">
            <a:avLst/>
          </a:prstGeom>
          <a:noFill/>
          <a:ln>
            <a:noFill/>
          </a:ln>
        </p:spPr>
        <p:txBody>
          <a:bodyPr anchorCtr="0" anchor="t" bIns="0" lIns="0" spcFirstLastPara="1" rIns="0" wrap="square" tIns="0">
            <a:spAutoFit/>
          </a:bodyPr>
          <a:lstStyle/>
          <a:p>
            <a:pPr indent="0" lvl="0" marL="0" marR="0" rtl="0" algn="l">
              <a:lnSpc>
                <a:spcPct val="113277"/>
              </a:lnSpc>
              <a:spcBef>
                <a:spcPts val="0"/>
              </a:spcBef>
              <a:spcAft>
                <a:spcPts val="0"/>
              </a:spcAft>
              <a:buNone/>
            </a:pPr>
            <a:r>
              <a:rPr b="1" i="0" lang="es-CL" sz="1936" u="none" cap="none" strike="noStrike">
                <a:solidFill>
                  <a:srgbClr val="FFFFFF"/>
                </a:solidFill>
                <a:latin typeface="Roboto"/>
                <a:ea typeface="Roboto"/>
                <a:cs typeface="Roboto"/>
                <a:sym typeface="Roboto"/>
              </a:rPr>
              <a:t>Dificultad:</a:t>
            </a:r>
            <a:r>
              <a:rPr b="0" i="0" lang="es-CL" sz="1936" u="none" cap="none" strike="noStrike">
                <a:solidFill>
                  <a:srgbClr val="CBD5E1"/>
                </a:solidFill>
                <a:latin typeface="Roboto"/>
                <a:ea typeface="Roboto"/>
                <a:cs typeface="Roboto"/>
                <a:sym typeface="Roboto"/>
              </a:rPr>
              <a:t> Integrar dos sistemas (WordPress y PHP) de forma fluida. </a:t>
            </a:r>
            <a:br>
              <a:rPr b="0" i="0" lang="es-CL" sz="2734" u="none" cap="none" strike="noStrike">
                <a:solidFill>
                  <a:srgbClr val="000000"/>
                </a:solidFill>
                <a:latin typeface="Calibri"/>
                <a:ea typeface="Calibri"/>
                <a:cs typeface="Calibri"/>
                <a:sym typeface="Calibri"/>
              </a:rPr>
            </a:br>
            <a:r>
              <a:rPr b="1" i="0" lang="es-CL" sz="1936" u="none" cap="none" strike="noStrike">
                <a:solidFill>
                  <a:srgbClr val="FFFFFF"/>
                </a:solidFill>
                <a:latin typeface="Roboto"/>
                <a:ea typeface="Roboto"/>
                <a:cs typeface="Roboto"/>
                <a:sym typeface="Roboto"/>
              </a:rPr>
              <a:t>Solución:</a:t>
            </a:r>
            <a:r>
              <a:rPr b="0" i="0" lang="es-CL" sz="1936" u="none" cap="none" strike="noStrike">
                <a:solidFill>
                  <a:srgbClr val="CBD5E1"/>
                </a:solidFill>
                <a:latin typeface="Roboto"/>
                <a:ea typeface="Roboto"/>
                <a:cs typeface="Roboto"/>
                <a:sym typeface="Roboto"/>
              </a:rPr>
              <a:t> Creación de un **Panel de Admin unificado** con un sistema de **Sesiones (Login)**.</a:t>
            </a:r>
            <a:endParaRPr sz="2126"/>
          </a:p>
        </p:txBody>
      </p:sp>
      <p:pic>
        <p:nvPicPr>
          <p:cNvPr descr="image.png" id="713" name="Google Shape;713;g390f15d3519_1_6"/>
          <p:cNvPicPr preferRelativeResize="0"/>
          <p:nvPr/>
        </p:nvPicPr>
        <p:blipFill rotWithShape="1">
          <a:blip r:embed="rId7">
            <a:alphaModFix/>
          </a:blip>
          <a:srcRect b="0" l="0" r="0" t="0"/>
          <a:stretch/>
        </p:blipFill>
        <p:spPr>
          <a:xfrm>
            <a:off x="1949325" y="3009821"/>
            <a:ext cx="173630" cy="202568"/>
          </a:xfrm>
          <a:prstGeom prst="rect">
            <a:avLst/>
          </a:prstGeom>
          <a:noFill/>
          <a:ln>
            <a:noFill/>
          </a:ln>
        </p:spPr>
      </p:pic>
      <p:pic>
        <p:nvPicPr>
          <p:cNvPr descr="image.png" id="714" name="Google Shape;714;g390f15d3519_1_6"/>
          <p:cNvPicPr preferRelativeResize="0"/>
          <p:nvPr/>
        </p:nvPicPr>
        <p:blipFill rotWithShape="1">
          <a:blip r:embed="rId8">
            <a:alphaModFix/>
          </a:blip>
          <a:srcRect b="0" l="0" r="0" t="0"/>
          <a:stretch/>
        </p:blipFill>
        <p:spPr>
          <a:xfrm>
            <a:off x="1949325" y="4363592"/>
            <a:ext cx="173630" cy="202569"/>
          </a:xfrm>
          <a:prstGeom prst="rect">
            <a:avLst/>
          </a:prstGeom>
          <a:noFill/>
          <a:ln>
            <a:noFill/>
          </a:ln>
        </p:spPr>
      </p:pic>
      <p:pic>
        <p:nvPicPr>
          <p:cNvPr descr="image.png" id="715" name="Google Shape;715;g390f15d3519_1_6"/>
          <p:cNvPicPr preferRelativeResize="0"/>
          <p:nvPr/>
        </p:nvPicPr>
        <p:blipFill rotWithShape="1">
          <a:blip r:embed="rId9">
            <a:alphaModFix/>
          </a:blip>
          <a:srcRect b="0" l="0" r="0" t="0"/>
          <a:stretch/>
        </p:blipFill>
        <p:spPr>
          <a:xfrm>
            <a:off x="1949325" y="5717365"/>
            <a:ext cx="173630" cy="202569"/>
          </a:xfrm>
          <a:prstGeom prst="rect">
            <a:avLst/>
          </a:prstGeom>
          <a:noFill/>
          <a:ln>
            <a:noFill/>
          </a:ln>
        </p:spPr>
      </p:pic>
      <p:pic>
        <p:nvPicPr>
          <p:cNvPr descr="image.png" id="716" name="Google Shape;716;g390f15d3519_1_6"/>
          <p:cNvPicPr preferRelativeResize="0"/>
          <p:nvPr/>
        </p:nvPicPr>
        <p:blipFill rotWithShape="1">
          <a:blip r:embed="rId7">
            <a:alphaModFix/>
          </a:blip>
          <a:srcRect b="0" l="0" r="0" t="0"/>
          <a:stretch/>
        </p:blipFill>
        <p:spPr>
          <a:xfrm>
            <a:off x="10775512" y="3009821"/>
            <a:ext cx="173630" cy="202568"/>
          </a:xfrm>
          <a:prstGeom prst="rect">
            <a:avLst/>
          </a:prstGeom>
          <a:noFill/>
          <a:ln>
            <a:noFill/>
          </a:ln>
        </p:spPr>
      </p:pic>
      <p:pic>
        <p:nvPicPr>
          <p:cNvPr descr="image.png" id="717" name="Google Shape;717;g390f15d3519_1_6"/>
          <p:cNvPicPr preferRelativeResize="0"/>
          <p:nvPr/>
        </p:nvPicPr>
        <p:blipFill rotWithShape="1">
          <a:blip r:embed="rId8">
            <a:alphaModFix/>
          </a:blip>
          <a:srcRect b="0" l="0" r="0" t="0"/>
          <a:stretch/>
        </p:blipFill>
        <p:spPr>
          <a:xfrm>
            <a:off x="10775512" y="4363592"/>
            <a:ext cx="173630" cy="202569"/>
          </a:xfrm>
          <a:prstGeom prst="rect">
            <a:avLst/>
          </a:prstGeom>
          <a:noFill/>
          <a:ln>
            <a:noFill/>
          </a:ln>
        </p:spPr>
      </p:pic>
      <p:pic>
        <p:nvPicPr>
          <p:cNvPr descr="image.png" id="718" name="Google Shape;718;g390f15d3519_1_6"/>
          <p:cNvPicPr preferRelativeResize="0"/>
          <p:nvPr/>
        </p:nvPicPr>
        <p:blipFill rotWithShape="1">
          <a:blip r:embed="rId9">
            <a:alphaModFix/>
          </a:blip>
          <a:srcRect b="0" l="0" r="0" t="0"/>
          <a:stretch/>
        </p:blipFill>
        <p:spPr>
          <a:xfrm>
            <a:off x="10775512" y="5717365"/>
            <a:ext cx="173630" cy="20256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2ea1eac06_3_9"/>
          <p:cNvSpPr txBox="1"/>
          <p:nvPr>
            <p:ph type="title"/>
          </p:nvPr>
        </p:nvSpPr>
        <p:spPr>
          <a:xfrm>
            <a:off x="7549150" y="7250550"/>
            <a:ext cx="9020100" cy="9231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Cierre</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2022-07-20T19:15:37Z</dcterms:created>
  <dc:creator>Daniela Taito 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0x010100018D87CEFA56DA42BF8E9E6D1D515907</vt:lpwstr>
  </property>
</Properties>
</file>